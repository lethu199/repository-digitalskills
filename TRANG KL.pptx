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comments/comment1.xml" ContentType="application/vnd.openxmlformats-officedocument.presentationml.comment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notesSlides/notesSlide3.xml" ContentType="application/vnd.openxmlformats-officedocument.presentationml.notesSlide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26"/>
  </p:notesMasterIdLst>
  <p:sldIdLst>
    <p:sldId id="340" r:id="rId3"/>
    <p:sldId id="395" r:id="rId4"/>
    <p:sldId id="256" r:id="rId5"/>
    <p:sldId id="268" r:id="rId6"/>
    <p:sldId id="373" r:id="rId7"/>
    <p:sldId id="431" r:id="rId8"/>
    <p:sldId id="385" r:id="rId9"/>
    <p:sldId id="306" r:id="rId10"/>
    <p:sldId id="446" r:id="rId11"/>
    <p:sldId id="448" r:id="rId12"/>
    <p:sldId id="437" r:id="rId13"/>
    <p:sldId id="423" r:id="rId14"/>
    <p:sldId id="434" r:id="rId15"/>
    <p:sldId id="438" r:id="rId16"/>
    <p:sldId id="318" r:id="rId17"/>
    <p:sldId id="432" r:id="rId18"/>
    <p:sldId id="413" r:id="rId19"/>
    <p:sldId id="441" r:id="rId20"/>
    <p:sldId id="406" r:id="rId21"/>
    <p:sldId id="435" r:id="rId22"/>
    <p:sldId id="442" r:id="rId23"/>
    <p:sldId id="364" r:id="rId24"/>
    <p:sldId id="369" r:id="rId25"/>
  </p:sldIdLst>
  <p:sldSz cx="18288000" cy="10287000"/>
  <p:notesSz cx="6858000" cy="9144000"/>
  <p:embeddedFontLst>
    <p:embeddedFont>
      <p:font typeface="Nirmala UI" panose="020B0502040204020203" pitchFamily="34" charset="0"/>
      <p:regular r:id="rId27"/>
      <p:bold r:id="rId28"/>
    </p:embeddedFont>
    <p:embeddedFont>
      <p:font typeface="Nunito Sans" pitchFamily="2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3" userDrawn="1">
          <p15:clr>
            <a:srgbClr val="A4A3A4"/>
          </p15:clr>
        </p15:guide>
        <p15:guide id="2" pos="294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HP" initials="H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5" d="100"/>
          <a:sy n="45" d="100"/>
        </p:scale>
        <p:origin x="772" y="60"/>
      </p:cViewPr>
      <p:guideLst>
        <p:guide orient="horz" pos="2403"/>
        <p:guide pos="29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0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4-06-11T20:46:12.113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649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1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1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1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38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82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2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2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3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3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23" lvl="0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45" lvl="1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69" lvl="2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92" lvl="3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114" lvl="4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337" lvl="5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561" lvl="6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83" lvl="7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5006" lvl="8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83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3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3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78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4"/>
          <p:cNvSpPr txBox="1"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1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4"/>
          <p:cNvSpPr txBox="1"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23" lvl="0" indent="-228612" algn="l">
              <a:spcBef>
                <a:spcPts val="401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45" lvl="1" indent="-228612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69" lvl="2" indent="-228612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1">
                <a:solidFill>
                  <a:srgbClr val="888888"/>
                </a:solidFill>
              </a:defRPr>
            </a:lvl3pPr>
            <a:lvl4pPr marL="1828892" lvl="3" indent="-228612" algn="l"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114" lvl="4" indent="-228612" algn="l"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337" lvl="5" indent="-228612" algn="l"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561" lvl="6" indent="-228612" algn="l"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783" lvl="7" indent="-228612" algn="l"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5006" lvl="8" indent="-228612" algn="l"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84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4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4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2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5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4038600" cy="4525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23" lvl="0" indent="-406421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1"/>
            </a:lvl1pPr>
            <a:lvl2pPr marL="914445" lvl="1" indent="-3810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69" lvl="2" indent="-355619" algn="l"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92" lvl="3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114" lvl="4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337" lvl="5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561" lvl="6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783" lvl="7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5006" lvl="8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85"/>
          <p:cNvSpPr txBox="1">
            <a:spLocks noGrp="1"/>
          </p:cNvSpPr>
          <p:nvPr>
            <p:ph type="body" idx="2"/>
          </p:nvPr>
        </p:nvSpPr>
        <p:spPr>
          <a:xfrm>
            <a:off x="4648200" y="1600201"/>
            <a:ext cx="4038600" cy="4525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23" lvl="0" indent="-406421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1"/>
            </a:lvl1pPr>
            <a:lvl2pPr marL="914445" lvl="1" indent="-3810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69" lvl="2" indent="-355619" algn="l"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92" lvl="3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114" lvl="4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337" lvl="5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561" lvl="6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783" lvl="7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5006" lvl="8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85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5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5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61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6"/>
          <p:cNvSpPr txBox="1">
            <a:spLocks noGrp="1"/>
          </p:cNvSpPr>
          <p:nvPr>
            <p:ph type="body" idx="1"/>
          </p:nvPr>
        </p:nvSpPr>
        <p:spPr>
          <a:xfrm>
            <a:off x="457201" y="1535114"/>
            <a:ext cx="4040189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23" lvl="0" indent="-22861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45" lvl="1" indent="-228612" algn="l"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69" lvl="2" indent="-22861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92" lvl="3" indent="-22861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1" b="1"/>
            </a:lvl4pPr>
            <a:lvl5pPr marL="2286114" lvl="4" indent="-22861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1" b="1"/>
            </a:lvl5pPr>
            <a:lvl6pPr marL="2743337" lvl="5" indent="-22861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1" b="1"/>
            </a:lvl6pPr>
            <a:lvl7pPr marL="3200561" lvl="6" indent="-22861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1" b="1"/>
            </a:lvl7pPr>
            <a:lvl8pPr marL="3657783" lvl="7" indent="-22861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1" b="1"/>
            </a:lvl8pPr>
            <a:lvl9pPr marL="4115006" lvl="8" indent="-22861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1" b="1"/>
            </a:lvl9pPr>
          </a:lstStyle>
          <a:p>
            <a:endParaRPr/>
          </a:p>
        </p:txBody>
      </p:sp>
      <p:sp>
        <p:nvSpPr>
          <p:cNvPr id="47" name="Google Shape;47;p86"/>
          <p:cNvSpPr txBox="1">
            <a:spLocks noGrp="1"/>
          </p:cNvSpPr>
          <p:nvPr>
            <p:ph type="body" idx="2"/>
          </p:nvPr>
        </p:nvSpPr>
        <p:spPr>
          <a:xfrm>
            <a:off x="457201" y="2174876"/>
            <a:ext cx="4040189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23" lvl="0" indent="-3810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45" lvl="1" indent="-355619" algn="l"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69" lvl="2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92" lvl="3" indent="-33021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1"/>
            </a:lvl4pPr>
            <a:lvl5pPr marL="2286114" lvl="4" indent="-33021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1"/>
            </a:lvl5pPr>
            <a:lvl6pPr marL="2743337" lvl="5" indent="-33021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1"/>
            </a:lvl6pPr>
            <a:lvl7pPr marL="3200561" lvl="6" indent="-33021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1"/>
            </a:lvl7pPr>
            <a:lvl8pPr marL="3657783" lvl="7" indent="-33021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1"/>
            </a:lvl8pPr>
            <a:lvl9pPr marL="4115006" lvl="8" indent="-33021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1"/>
            </a:lvl9pPr>
          </a:lstStyle>
          <a:p>
            <a:endParaRPr/>
          </a:p>
        </p:txBody>
      </p:sp>
      <p:sp>
        <p:nvSpPr>
          <p:cNvPr id="48" name="Google Shape;48;p86"/>
          <p:cNvSpPr txBox="1">
            <a:spLocks noGrp="1"/>
          </p:cNvSpPr>
          <p:nvPr>
            <p:ph type="body" idx="3"/>
          </p:nvPr>
        </p:nvSpPr>
        <p:spPr>
          <a:xfrm>
            <a:off x="4645027" y="1535114"/>
            <a:ext cx="4041776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23" lvl="0" indent="-22861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45" lvl="1" indent="-228612" algn="l"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69" lvl="2" indent="-22861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92" lvl="3" indent="-22861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1" b="1"/>
            </a:lvl4pPr>
            <a:lvl5pPr marL="2286114" lvl="4" indent="-22861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1" b="1"/>
            </a:lvl5pPr>
            <a:lvl6pPr marL="2743337" lvl="5" indent="-22861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1" b="1"/>
            </a:lvl6pPr>
            <a:lvl7pPr marL="3200561" lvl="6" indent="-22861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1" b="1"/>
            </a:lvl7pPr>
            <a:lvl8pPr marL="3657783" lvl="7" indent="-22861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1" b="1"/>
            </a:lvl8pPr>
            <a:lvl9pPr marL="4115006" lvl="8" indent="-22861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1" b="1"/>
            </a:lvl9pPr>
          </a:lstStyle>
          <a:p>
            <a:endParaRPr/>
          </a:p>
        </p:txBody>
      </p:sp>
      <p:sp>
        <p:nvSpPr>
          <p:cNvPr id="49" name="Google Shape;49;p86"/>
          <p:cNvSpPr txBox="1">
            <a:spLocks noGrp="1"/>
          </p:cNvSpPr>
          <p:nvPr>
            <p:ph type="body" idx="4"/>
          </p:nvPr>
        </p:nvSpPr>
        <p:spPr>
          <a:xfrm>
            <a:off x="4645027" y="2174876"/>
            <a:ext cx="4041776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23" lvl="0" indent="-3810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45" lvl="1" indent="-355619" algn="l"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69" lvl="2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92" lvl="3" indent="-33021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1"/>
            </a:lvl4pPr>
            <a:lvl5pPr marL="2286114" lvl="4" indent="-33021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1"/>
            </a:lvl5pPr>
            <a:lvl6pPr marL="2743337" lvl="5" indent="-33021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1"/>
            </a:lvl6pPr>
            <a:lvl7pPr marL="3200561" lvl="6" indent="-33021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1"/>
            </a:lvl7pPr>
            <a:lvl8pPr marL="3657783" lvl="7" indent="-33021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1"/>
            </a:lvl8pPr>
            <a:lvl9pPr marL="4115006" lvl="8" indent="-33021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1"/>
            </a:lvl9pPr>
          </a:lstStyle>
          <a:p>
            <a:endParaRPr/>
          </a:p>
        </p:txBody>
      </p:sp>
      <p:sp>
        <p:nvSpPr>
          <p:cNvPr id="50" name="Google Shape;50;p86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6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6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312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7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7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7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088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8"/>
          <p:cNvSpPr txBox="1">
            <a:spLocks noGrp="1"/>
          </p:cNvSpPr>
          <p:nvPr>
            <p:ph type="body" idx="1"/>
          </p:nvPr>
        </p:nvSpPr>
        <p:spPr>
          <a:xfrm>
            <a:off x="3575051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23" lvl="0" indent="-431822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45" lvl="1" indent="-406421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1"/>
            </a:lvl2pPr>
            <a:lvl3pPr marL="1371669" lvl="2" indent="-3810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92" lvl="3" indent="-355619" algn="l"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114" lvl="4" indent="-355619" algn="l"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337" lvl="5" indent="-355619" algn="l"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561" lvl="6" indent="-355619" algn="l"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783" lvl="7" indent="-355619" algn="l"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5006" lvl="8" indent="-355619" algn="l">
              <a:spcBef>
                <a:spcPts val="401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88"/>
          <p:cNvSpPr txBox="1">
            <a:spLocks noGrp="1"/>
          </p:cNvSpPr>
          <p:nvPr>
            <p:ph type="body" idx="2"/>
          </p:nvPr>
        </p:nvSpPr>
        <p:spPr>
          <a:xfrm>
            <a:off x="457200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23" lvl="0" indent="-228612" algn="l"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45" lvl="1" indent="-22861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69" lvl="2" indent="-228612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1"/>
            </a:lvl3pPr>
            <a:lvl4pPr marL="1828892" lvl="3" indent="-22861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114" lvl="4" indent="-22861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337" lvl="5" indent="-22861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561" lvl="6" indent="-22861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783" lvl="7" indent="-22861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5006" lvl="8" indent="-22861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88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8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8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850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9"/>
          <p:cNvSpPr txBox="1">
            <a:spLocks noGrp="1"/>
          </p:cNvSpPr>
          <p:nvPr>
            <p:ph type="title"/>
          </p:nvPr>
        </p:nvSpPr>
        <p:spPr>
          <a:xfrm>
            <a:off x="1792289" y="4800601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9"/>
          <p:cNvSpPr>
            <a:spLocks noGrp="1"/>
          </p:cNvSpPr>
          <p:nvPr>
            <p:ph type="pic" idx="2"/>
          </p:nvPr>
        </p:nvSpPr>
        <p:spPr>
          <a:xfrm>
            <a:off x="1792289" y="612776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89"/>
          <p:cNvSpPr txBox="1">
            <a:spLocks noGrp="1"/>
          </p:cNvSpPr>
          <p:nvPr>
            <p:ph type="body" idx="1"/>
          </p:nvPr>
        </p:nvSpPr>
        <p:spPr>
          <a:xfrm>
            <a:off x="1792289" y="5367338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23" lvl="0" indent="-228612" algn="l"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45" lvl="1" indent="-228612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69" lvl="2" indent="-228612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1"/>
            </a:lvl3pPr>
            <a:lvl4pPr marL="1828892" lvl="3" indent="-22861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114" lvl="4" indent="-22861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337" lvl="5" indent="-22861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561" lvl="6" indent="-22861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783" lvl="7" indent="-22861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5006" lvl="8" indent="-228612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89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9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9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4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0"/>
          <p:cNvSpPr txBox="1">
            <a:spLocks noGrp="1"/>
          </p:cNvSpPr>
          <p:nvPr>
            <p:ph type="body" idx="1"/>
          </p:nvPr>
        </p:nvSpPr>
        <p:spPr>
          <a:xfrm rot="5400000">
            <a:off x="2309020" y="-251618"/>
            <a:ext cx="4525964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23" lvl="0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45" lvl="1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69" lvl="2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92" lvl="3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114" lvl="4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337" lvl="5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561" lvl="6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83" lvl="7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5006" lvl="8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0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0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0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540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1"/>
          <p:cNvSpPr txBox="1">
            <a:spLocks noGrp="1"/>
          </p:cNvSpPr>
          <p:nvPr>
            <p:ph type="title"/>
          </p:nvPr>
        </p:nvSpPr>
        <p:spPr>
          <a:xfrm rot="5400000">
            <a:off x="4732339" y="2171702"/>
            <a:ext cx="5851526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1"/>
          <p:cNvSpPr txBox="1">
            <a:spLocks noGrp="1"/>
          </p:cNvSpPr>
          <p:nvPr>
            <p:ph type="body" idx="1"/>
          </p:nvPr>
        </p:nvSpPr>
        <p:spPr>
          <a:xfrm rot="5400000">
            <a:off x="541339" y="190500"/>
            <a:ext cx="5851526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23" lvl="0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45" lvl="1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69" lvl="2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92" lvl="3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114" lvl="4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337" lvl="5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561" lvl="6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83" lvl="7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5006" lvl="8" indent="-34291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91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1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1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48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0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0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0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0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4074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g"/><Relationship Id="rId5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microsoft.com/office/2007/relationships/hdphoto" Target="../media/hdphoto1.wd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12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11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7.sv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7.xml"/><Relationship Id="rId30" Type="http://schemas.openxmlformats.org/officeDocument/2006/relationships/image" Target="../media/image9.png"/><Relationship Id="rId8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39.xml"/><Relationship Id="rId18" Type="http://schemas.openxmlformats.org/officeDocument/2006/relationships/tags" Target="../tags/tag44.xml"/><Relationship Id="rId26" Type="http://schemas.openxmlformats.org/officeDocument/2006/relationships/tags" Target="../tags/tag52.xml"/><Relationship Id="rId39" Type="http://schemas.openxmlformats.org/officeDocument/2006/relationships/tags" Target="../tags/tag65.xml"/><Relationship Id="rId21" Type="http://schemas.openxmlformats.org/officeDocument/2006/relationships/tags" Target="../tags/tag47.xml"/><Relationship Id="rId34" Type="http://schemas.openxmlformats.org/officeDocument/2006/relationships/tags" Target="../tags/tag60.xml"/><Relationship Id="rId42" Type="http://schemas.openxmlformats.org/officeDocument/2006/relationships/tags" Target="../tags/tag68.xml"/><Relationship Id="rId47" Type="http://schemas.openxmlformats.org/officeDocument/2006/relationships/image" Target="../media/image15.svg"/><Relationship Id="rId50" Type="http://schemas.openxmlformats.org/officeDocument/2006/relationships/image" Target="../media/image18.svg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29" Type="http://schemas.openxmlformats.org/officeDocument/2006/relationships/tags" Target="../tags/tag55.xml"/><Relationship Id="rId11" Type="http://schemas.openxmlformats.org/officeDocument/2006/relationships/tags" Target="../tags/tag37.xml"/><Relationship Id="rId24" Type="http://schemas.openxmlformats.org/officeDocument/2006/relationships/tags" Target="../tags/tag50.xml"/><Relationship Id="rId32" Type="http://schemas.openxmlformats.org/officeDocument/2006/relationships/tags" Target="../tags/tag58.xml"/><Relationship Id="rId37" Type="http://schemas.openxmlformats.org/officeDocument/2006/relationships/tags" Target="../tags/tag63.xml"/><Relationship Id="rId40" Type="http://schemas.openxmlformats.org/officeDocument/2006/relationships/tags" Target="../tags/tag66.xml"/><Relationship Id="rId45" Type="http://schemas.microsoft.com/office/2007/relationships/hdphoto" Target="../media/hdphoto2.wdp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23" Type="http://schemas.openxmlformats.org/officeDocument/2006/relationships/tags" Target="../tags/tag49.xml"/><Relationship Id="rId28" Type="http://schemas.openxmlformats.org/officeDocument/2006/relationships/tags" Target="../tags/tag54.xml"/><Relationship Id="rId36" Type="http://schemas.openxmlformats.org/officeDocument/2006/relationships/tags" Target="../tags/tag62.xml"/><Relationship Id="rId49" Type="http://schemas.openxmlformats.org/officeDocument/2006/relationships/image" Target="../media/image17.svg"/><Relationship Id="rId10" Type="http://schemas.openxmlformats.org/officeDocument/2006/relationships/tags" Target="../tags/tag36.xml"/><Relationship Id="rId19" Type="http://schemas.openxmlformats.org/officeDocument/2006/relationships/tags" Target="../tags/tag45.xml"/><Relationship Id="rId31" Type="http://schemas.openxmlformats.org/officeDocument/2006/relationships/tags" Target="../tags/tag57.xml"/><Relationship Id="rId44" Type="http://schemas.openxmlformats.org/officeDocument/2006/relationships/image" Target="../media/image13.png"/><Relationship Id="rId52" Type="http://schemas.openxmlformats.org/officeDocument/2006/relationships/image" Target="../media/image20.svg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Relationship Id="rId22" Type="http://schemas.openxmlformats.org/officeDocument/2006/relationships/tags" Target="../tags/tag48.xml"/><Relationship Id="rId27" Type="http://schemas.openxmlformats.org/officeDocument/2006/relationships/tags" Target="../tags/tag53.xml"/><Relationship Id="rId30" Type="http://schemas.openxmlformats.org/officeDocument/2006/relationships/tags" Target="../tags/tag56.xml"/><Relationship Id="rId35" Type="http://schemas.openxmlformats.org/officeDocument/2006/relationships/tags" Target="../tags/tag61.xml"/><Relationship Id="rId43" Type="http://schemas.openxmlformats.org/officeDocument/2006/relationships/slideLayout" Target="../slideLayouts/slideLayout7.xml"/><Relationship Id="rId48" Type="http://schemas.openxmlformats.org/officeDocument/2006/relationships/image" Target="../media/image16.svg"/><Relationship Id="rId8" Type="http://schemas.openxmlformats.org/officeDocument/2006/relationships/tags" Target="../tags/tag34.xml"/><Relationship Id="rId51" Type="http://schemas.openxmlformats.org/officeDocument/2006/relationships/image" Target="../media/image19.png"/><Relationship Id="rId3" Type="http://schemas.openxmlformats.org/officeDocument/2006/relationships/tags" Target="../tags/tag29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5" Type="http://schemas.openxmlformats.org/officeDocument/2006/relationships/tags" Target="../tags/tag51.xml"/><Relationship Id="rId33" Type="http://schemas.openxmlformats.org/officeDocument/2006/relationships/tags" Target="../tags/tag59.xml"/><Relationship Id="rId38" Type="http://schemas.openxmlformats.org/officeDocument/2006/relationships/tags" Target="../tags/tag64.xml"/><Relationship Id="rId46" Type="http://schemas.openxmlformats.org/officeDocument/2006/relationships/image" Target="../media/image14.svg"/><Relationship Id="rId20" Type="http://schemas.openxmlformats.org/officeDocument/2006/relationships/tags" Target="../tags/tag46.xml"/><Relationship Id="rId41" Type="http://schemas.openxmlformats.org/officeDocument/2006/relationships/tags" Target="../tags/tag67.xml"/><Relationship Id="rId1" Type="http://schemas.openxmlformats.org/officeDocument/2006/relationships/tags" Target="../tags/tag27.xml"/><Relationship Id="rId6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tags" Target="../tags/tag86.xml"/><Relationship Id="rId26" Type="http://schemas.openxmlformats.org/officeDocument/2006/relationships/image" Target="../media/image13.png"/><Relationship Id="rId3" Type="http://schemas.openxmlformats.org/officeDocument/2006/relationships/tags" Target="../tags/tag71.xml"/><Relationship Id="rId21" Type="http://schemas.openxmlformats.org/officeDocument/2006/relationships/tags" Target="../tags/tag89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tags" Target="../tags/tag88.xml"/><Relationship Id="rId29" Type="http://schemas.openxmlformats.org/officeDocument/2006/relationships/image" Target="../media/image22.svg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24" Type="http://schemas.openxmlformats.org/officeDocument/2006/relationships/tags" Target="../tags/tag92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23" Type="http://schemas.openxmlformats.org/officeDocument/2006/relationships/tags" Target="../tags/tag91.xml"/><Relationship Id="rId28" Type="http://schemas.openxmlformats.org/officeDocument/2006/relationships/image" Target="../media/image21.svg"/><Relationship Id="rId10" Type="http://schemas.openxmlformats.org/officeDocument/2006/relationships/tags" Target="../tags/tag78.xml"/><Relationship Id="rId19" Type="http://schemas.openxmlformats.org/officeDocument/2006/relationships/tags" Target="../tags/tag87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Relationship Id="rId22" Type="http://schemas.openxmlformats.org/officeDocument/2006/relationships/tags" Target="../tags/tag90.xml"/><Relationship Id="rId27" Type="http://schemas.microsoft.com/office/2007/relationships/hdphoto" Target="../media/hdphoto2.wdp"/><Relationship Id="rId30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17" Type="http://schemas.openxmlformats.org/officeDocument/2006/relationships/tags" Target="../tags/tag109.xml"/><Relationship Id="rId2" Type="http://schemas.openxmlformats.org/officeDocument/2006/relationships/tags" Target="../tags/tag94.xml"/><Relationship Id="rId16" Type="http://schemas.openxmlformats.org/officeDocument/2006/relationships/tags" Target="../tags/tag108.xml"/><Relationship Id="rId20" Type="http://schemas.microsoft.com/office/2007/relationships/hdphoto" Target="../media/hdphoto2.wdp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5" Type="http://schemas.openxmlformats.org/officeDocument/2006/relationships/tags" Target="../tags/tag97.xml"/><Relationship Id="rId15" Type="http://schemas.openxmlformats.org/officeDocument/2006/relationships/tags" Target="../tags/tag107.xml"/><Relationship Id="rId10" Type="http://schemas.openxmlformats.org/officeDocument/2006/relationships/tags" Target="../tags/tag102.xml"/><Relationship Id="rId19" Type="http://schemas.openxmlformats.org/officeDocument/2006/relationships/image" Target="../media/image13.png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tags" Target="../tags/tag10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13" Type="http://schemas.openxmlformats.org/officeDocument/2006/relationships/tags" Target="../tags/tag122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12" Type="http://schemas.openxmlformats.org/officeDocument/2006/relationships/tags" Target="../tags/tag121.xml"/><Relationship Id="rId17" Type="http://schemas.openxmlformats.org/officeDocument/2006/relationships/tags" Target="../tags/tag126.xml"/><Relationship Id="rId2" Type="http://schemas.openxmlformats.org/officeDocument/2006/relationships/tags" Target="../tags/tag111.xml"/><Relationship Id="rId16" Type="http://schemas.openxmlformats.org/officeDocument/2006/relationships/tags" Target="../tags/tag125.xml"/><Relationship Id="rId20" Type="http://schemas.microsoft.com/office/2007/relationships/hdphoto" Target="../media/hdphoto2.wdp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5" Type="http://schemas.openxmlformats.org/officeDocument/2006/relationships/tags" Target="../tags/tag114.xml"/><Relationship Id="rId15" Type="http://schemas.openxmlformats.org/officeDocument/2006/relationships/tags" Target="../tags/tag124.xml"/><Relationship Id="rId10" Type="http://schemas.openxmlformats.org/officeDocument/2006/relationships/tags" Target="../tags/tag119.xml"/><Relationship Id="rId19" Type="http://schemas.openxmlformats.org/officeDocument/2006/relationships/image" Target="../media/image13.png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tags" Target="../tags/tag1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tags" Target="../tags/tag129.xml"/><Relationship Id="rId7" Type="http://schemas.openxmlformats.org/officeDocument/2006/relationships/image" Target="../media/image24.svg"/><Relationship Id="rId12" Type="http://schemas.openxmlformats.org/officeDocument/2006/relationships/image" Target="../media/image29.svg"/><Relationship Id="rId2" Type="http://schemas.openxmlformats.org/officeDocument/2006/relationships/tags" Target="../tags/tag128.xml"/><Relationship Id="rId16" Type="http://schemas.microsoft.com/office/2007/relationships/hdphoto" Target="../media/hdphoto4.wdp"/><Relationship Id="rId1" Type="http://schemas.openxmlformats.org/officeDocument/2006/relationships/tags" Target="../tags/tag127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28.svg"/><Relationship Id="rId5" Type="http://schemas.openxmlformats.org/officeDocument/2006/relationships/tags" Target="../tags/tag131.xml"/><Relationship Id="rId15" Type="http://schemas.openxmlformats.org/officeDocument/2006/relationships/image" Target="../media/image31.png"/><Relationship Id="rId10" Type="http://schemas.openxmlformats.org/officeDocument/2006/relationships/image" Target="../media/image27.svg"/><Relationship Id="rId4" Type="http://schemas.openxmlformats.org/officeDocument/2006/relationships/tags" Target="../tags/tag130.xml"/><Relationship Id="rId9" Type="http://schemas.openxmlformats.org/officeDocument/2006/relationships/image" Target="../media/image26.svg"/><Relationship Id="rId1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13" Type="http://schemas.openxmlformats.org/officeDocument/2006/relationships/tags" Target="../tags/tag144.xml"/><Relationship Id="rId18" Type="http://schemas.openxmlformats.org/officeDocument/2006/relationships/tags" Target="../tags/tag149.xml"/><Relationship Id="rId3" Type="http://schemas.openxmlformats.org/officeDocument/2006/relationships/tags" Target="../tags/tag134.xml"/><Relationship Id="rId21" Type="http://schemas.openxmlformats.org/officeDocument/2006/relationships/image" Target="../media/image13.png"/><Relationship Id="rId7" Type="http://schemas.openxmlformats.org/officeDocument/2006/relationships/tags" Target="../tags/tag138.xml"/><Relationship Id="rId12" Type="http://schemas.openxmlformats.org/officeDocument/2006/relationships/tags" Target="../tags/tag143.xml"/><Relationship Id="rId17" Type="http://schemas.openxmlformats.org/officeDocument/2006/relationships/tags" Target="../tags/tag148.xml"/><Relationship Id="rId2" Type="http://schemas.openxmlformats.org/officeDocument/2006/relationships/tags" Target="../tags/tag133.xml"/><Relationship Id="rId16" Type="http://schemas.openxmlformats.org/officeDocument/2006/relationships/tags" Target="../tags/tag147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tags" Target="../tags/tag142.xml"/><Relationship Id="rId5" Type="http://schemas.openxmlformats.org/officeDocument/2006/relationships/tags" Target="../tags/tag136.xml"/><Relationship Id="rId15" Type="http://schemas.openxmlformats.org/officeDocument/2006/relationships/tags" Target="../tags/tag146.xml"/><Relationship Id="rId23" Type="http://schemas.openxmlformats.org/officeDocument/2006/relationships/image" Target="../media/image32.png"/><Relationship Id="rId10" Type="http://schemas.openxmlformats.org/officeDocument/2006/relationships/tags" Target="../tags/tag141.xml"/><Relationship Id="rId19" Type="http://schemas.openxmlformats.org/officeDocument/2006/relationships/tags" Target="../tags/tag150.xml"/><Relationship Id="rId4" Type="http://schemas.openxmlformats.org/officeDocument/2006/relationships/tags" Target="../tags/tag135.xml"/><Relationship Id="rId9" Type="http://schemas.openxmlformats.org/officeDocument/2006/relationships/tags" Target="../tags/tag140.xml"/><Relationship Id="rId14" Type="http://schemas.openxmlformats.org/officeDocument/2006/relationships/tags" Target="../tags/tag145.xml"/><Relationship Id="rId22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13" Type="http://schemas.openxmlformats.org/officeDocument/2006/relationships/tags" Target="../tags/tag163.xml"/><Relationship Id="rId18" Type="http://schemas.openxmlformats.org/officeDocument/2006/relationships/tags" Target="../tags/tag168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153.xml"/><Relationship Id="rId21" Type="http://schemas.openxmlformats.org/officeDocument/2006/relationships/tags" Target="../tags/tag171.xml"/><Relationship Id="rId7" Type="http://schemas.openxmlformats.org/officeDocument/2006/relationships/tags" Target="../tags/tag157.xml"/><Relationship Id="rId12" Type="http://schemas.openxmlformats.org/officeDocument/2006/relationships/tags" Target="../tags/tag162.xml"/><Relationship Id="rId17" Type="http://schemas.openxmlformats.org/officeDocument/2006/relationships/tags" Target="../tags/tag167.xml"/><Relationship Id="rId25" Type="http://schemas.openxmlformats.org/officeDocument/2006/relationships/tags" Target="../tags/tag175.xml"/><Relationship Id="rId2" Type="http://schemas.openxmlformats.org/officeDocument/2006/relationships/tags" Target="../tags/tag152.xml"/><Relationship Id="rId16" Type="http://schemas.openxmlformats.org/officeDocument/2006/relationships/tags" Target="../tags/tag166.xml"/><Relationship Id="rId20" Type="http://schemas.openxmlformats.org/officeDocument/2006/relationships/tags" Target="../tags/tag170.xml"/><Relationship Id="rId29" Type="http://schemas.openxmlformats.org/officeDocument/2006/relationships/image" Target="../media/image32.png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tags" Target="../tags/tag161.xml"/><Relationship Id="rId24" Type="http://schemas.openxmlformats.org/officeDocument/2006/relationships/tags" Target="../tags/tag174.xml"/><Relationship Id="rId5" Type="http://schemas.openxmlformats.org/officeDocument/2006/relationships/tags" Target="../tags/tag155.xml"/><Relationship Id="rId15" Type="http://schemas.openxmlformats.org/officeDocument/2006/relationships/tags" Target="../tags/tag165.xml"/><Relationship Id="rId23" Type="http://schemas.openxmlformats.org/officeDocument/2006/relationships/tags" Target="../tags/tag173.xml"/><Relationship Id="rId28" Type="http://schemas.microsoft.com/office/2007/relationships/hdphoto" Target="../media/hdphoto2.wdp"/><Relationship Id="rId10" Type="http://schemas.openxmlformats.org/officeDocument/2006/relationships/tags" Target="../tags/tag160.xml"/><Relationship Id="rId19" Type="http://schemas.openxmlformats.org/officeDocument/2006/relationships/tags" Target="../tags/tag169.xml"/><Relationship Id="rId4" Type="http://schemas.openxmlformats.org/officeDocument/2006/relationships/tags" Target="../tags/tag154.xml"/><Relationship Id="rId9" Type="http://schemas.openxmlformats.org/officeDocument/2006/relationships/tags" Target="../tags/tag159.xml"/><Relationship Id="rId14" Type="http://schemas.openxmlformats.org/officeDocument/2006/relationships/tags" Target="../tags/tag164.xml"/><Relationship Id="rId22" Type="http://schemas.openxmlformats.org/officeDocument/2006/relationships/tags" Target="../tags/tag172.xml"/><Relationship Id="rId27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13" Type="http://schemas.openxmlformats.org/officeDocument/2006/relationships/tags" Target="../tags/tag188.xml"/><Relationship Id="rId18" Type="http://schemas.openxmlformats.org/officeDocument/2006/relationships/tags" Target="../tags/tag193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178.xml"/><Relationship Id="rId21" Type="http://schemas.openxmlformats.org/officeDocument/2006/relationships/tags" Target="../tags/tag196.xml"/><Relationship Id="rId7" Type="http://schemas.openxmlformats.org/officeDocument/2006/relationships/tags" Target="../tags/tag182.xml"/><Relationship Id="rId12" Type="http://schemas.openxmlformats.org/officeDocument/2006/relationships/tags" Target="../tags/tag187.xml"/><Relationship Id="rId17" Type="http://schemas.openxmlformats.org/officeDocument/2006/relationships/tags" Target="../tags/tag192.xml"/><Relationship Id="rId25" Type="http://schemas.openxmlformats.org/officeDocument/2006/relationships/tags" Target="../tags/tag200.xml"/><Relationship Id="rId2" Type="http://schemas.openxmlformats.org/officeDocument/2006/relationships/tags" Target="../tags/tag177.xml"/><Relationship Id="rId16" Type="http://schemas.openxmlformats.org/officeDocument/2006/relationships/tags" Target="../tags/tag191.xml"/><Relationship Id="rId20" Type="http://schemas.openxmlformats.org/officeDocument/2006/relationships/tags" Target="../tags/tag195.xml"/><Relationship Id="rId29" Type="http://schemas.openxmlformats.org/officeDocument/2006/relationships/image" Target="../media/image32.png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tags" Target="../tags/tag186.xml"/><Relationship Id="rId24" Type="http://schemas.openxmlformats.org/officeDocument/2006/relationships/tags" Target="../tags/tag199.xml"/><Relationship Id="rId5" Type="http://schemas.openxmlformats.org/officeDocument/2006/relationships/tags" Target="../tags/tag180.xml"/><Relationship Id="rId15" Type="http://schemas.openxmlformats.org/officeDocument/2006/relationships/tags" Target="../tags/tag190.xml"/><Relationship Id="rId23" Type="http://schemas.openxmlformats.org/officeDocument/2006/relationships/tags" Target="../tags/tag198.xml"/><Relationship Id="rId28" Type="http://schemas.microsoft.com/office/2007/relationships/hdphoto" Target="../media/hdphoto2.wdp"/><Relationship Id="rId10" Type="http://schemas.openxmlformats.org/officeDocument/2006/relationships/tags" Target="../tags/tag185.xml"/><Relationship Id="rId19" Type="http://schemas.openxmlformats.org/officeDocument/2006/relationships/tags" Target="../tags/tag194.xml"/><Relationship Id="rId4" Type="http://schemas.openxmlformats.org/officeDocument/2006/relationships/tags" Target="../tags/tag179.xml"/><Relationship Id="rId9" Type="http://schemas.openxmlformats.org/officeDocument/2006/relationships/tags" Target="../tags/tag184.xml"/><Relationship Id="rId14" Type="http://schemas.openxmlformats.org/officeDocument/2006/relationships/tags" Target="../tags/tag189.xml"/><Relationship Id="rId22" Type="http://schemas.openxmlformats.org/officeDocument/2006/relationships/tags" Target="../tags/tag197.xml"/><Relationship Id="rId27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13" Type="http://schemas.openxmlformats.org/officeDocument/2006/relationships/image" Target="../media/image34.png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12" Type="http://schemas.microsoft.com/office/2007/relationships/hdphoto" Target="../media/hdphoto2.wdp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image" Target="../media/image13.png"/><Relationship Id="rId5" Type="http://schemas.openxmlformats.org/officeDocument/2006/relationships/tags" Target="../tags/tag205.xml"/><Relationship Id="rId10" Type="http://schemas.openxmlformats.org/officeDocument/2006/relationships/image" Target="../media/image33.jpeg"/><Relationship Id="rId4" Type="http://schemas.openxmlformats.org/officeDocument/2006/relationships/tags" Target="../tags/tag204.xml"/><Relationship Id="rId9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13" Type="http://schemas.openxmlformats.org/officeDocument/2006/relationships/tags" Target="../tags/tag221.xml"/><Relationship Id="rId18" Type="http://schemas.microsoft.com/office/2007/relationships/hdphoto" Target="../media/hdphoto2.wdp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12" Type="http://schemas.openxmlformats.org/officeDocument/2006/relationships/tags" Target="../tags/tag220.xml"/><Relationship Id="rId17" Type="http://schemas.openxmlformats.org/officeDocument/2006/relationships/image" Target="../media/image13.png"/><Relationship Id="rId2" Type="http://schemas.openxmlformats.org/officeDocument/2006/relationships/tags" Target="../tags/tag210.xml"/><Relationship Id="rId16" Type="http://schemas.openxmlformats.org/officeDocument/2006/relationships/image" Target="../media/image33.jpeg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tags" Target="../tags/tag219.xml"/><Relationship Id="rId5" Type="http://schemas.openxmlformats.org/officeDocument/2006/relationships/tags" Target="../tags/tag213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218.xml"/><Relationship Id="rId19" Type="http://schemas.openxmlformats.org/officeDocument/2006/relationships/image" Target="../media/image35.svg"/><Relationship Id="rId4" Type="http://schemas.openxmlformats.org/officeDocument/2006/relationships/tags" Target="../tags/tag212.xml"/><Relationship Id="rId9" Type="http://schemas.openxmlformats.org/officeDocument/2006/relationships/tags" Target="../tags/tag217.xml"/><Relationship Id="rId14" Type="http://schemas.openxmlformats.org/officeDocument/2006/relationships/tags" Target="../tags/tag22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30.xml"/><Relationship Id="rId13" Type="http://schemas.openxmlformats.org/officeDocument/2006/relationships/tags" Target="../tags/tag235.xml"/><Relationship Id="rId18" Type="http://schemas.microsoft.com/office/2007/relationships/hdphoto" Target="../media/hdphoto2.wdp"/><Relationship Id="rId3" Type="http://schemas.openxmlformats.org/officeDocument/2006/relationships/tags" Target="../tags/tag225.xml"/><Relationship Id="rId7" Type="http://schemas.openxmlformats.org/officeDocument/2006/relationships/tags" Target="../tags/tag229.xml"/><Relationship Id="rId12" Type="http://schemas.openxmlformats.org/officeDocument/2006/relationships/tags" Target="../tags/tag234.xml"/><Relationship Id="rId17" Type="http://schemas.openxmlformats.org/officeDocument/2006/relationships/image" Target="../media/image13.png"/><Relationship Id="rId2" Type="http://schemas.openxmlformats.org/officeDocument/2006/relationships/tags" Target="../tags/tag224.xml"/><Relationship Id="rId16" Type="http://schemas.openxmlformats.org/officeDocument/2006/relationships/image" Target="../media/image33.jpeg"/><Relationship Id="rId1" Type="http://schemas.openxmlformats.org/officeDocument/2006/relationships/tags" Target="../tags/tag223.xml"/><Relationship Id="rId6" Type="http://schemas.openxmlformats.org/officeDocument/2006/relationships/tags" Target="../tags/tag228.xml"/><Relationship Id="rId11" Type="http://schemas.openxmlformats.org/officeDocument/2006/relationships/tags" Target="../tags/tag233.xml"/><Relationship Id="rId5" Type="http://schemas.openxmlformats.org/officeDocument/2006/relationships/tags" Target="../tags/tag227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232.xml"/><Relationship Id="rId19" Type="http://schemas.openxmlformats.org/officeDocument/2006/relationships/image" Target="../media/image35.svg"/><Relationship Id="rId4" Type="http://schemas.openxmlformats.org/officeDocument/2006/relationships/tags" Target="../tags/tag226.xml"/><Relationship Id="rId9" Type="http://schemas.openxmlformats.org/officeDocument/2006/relationships/tags" Target="../tags/tag231.xml"/><Relationship Id="rId14" Type="http://schemas.openxmlformats.org/officeDocument/2006/relationships/tags" Target="../tags/tag23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tags" Target="../tags/tag239.xml"/><Relationship Id="rId7" Type="http://schemas.openxmlformats.org/officeDocument/2006/relationships/image" Target="../media/image24.svg"/><Relationship Id="rId12" Type="http://schemas.openxmlformats.org/officeDocument/2006/relationships/image" Target="../media/image29.svg"/><Relationship Id="rId2" Type="http://schemas.openxmlformats.org/officeDocument/2006/relationships/tags" Target="../tags/tag238.xml"/><Relationship Id="rId16" Type="http://schemas.microsoft.com/office/2007/relationships/hdphoto" Target="../media/hdphoto4.wdp"/><Relationship Id="rId1" Type="http://schemas.openxmlformats.org/officeDocument/2006/relationships/tags" Target="../tags/tag237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28.svg"/><Relationship Id="rId5" Type="http://schemas.openxmlformats.org/officeDocument/2006/relationships/tags" Target="../tags/tag241.xml"/><Relationship Id="rId15" Type="http://schemas.openxmlformats.org/officeDocument/2006/relationships/image" Target="../media/image31.png"/><Relationship Id="rId10" Type="http://schemas.openxmlformats.org/officeDocument/2006/relationships/image" Target="../media/image27.svg"/><Relationship Id="rId4" Type="http://schemas.openxmlformats.org/officeDocument/2006/relationships/tags" Target="../tags/tag240.xml"/><Relationship Id="rId9" Type="http://schemas.openxmlformats.org/officeDocument/2006/relationships/image" Target="../media/image26.svg"/><Relationship Id="rId14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254.xml"/><Relationship Id="rId18" Type="http://schemas.openxmlformats.org/officeDocument/2006/relationships/tags" Target="../tags/tag259.xml"/><Relationship Id="rId26" Type="http://schemas.openxmlformats.org/officeDocument/2006/relationships/tags" Target="../tags/tag267.xml"/><Relationship Id="rId39" Type="http://schemas.openxmlformats.org/officeDocument/2006/relationships/tags" Target="../tags/tag280.xml"/><Relationship Id="rId21" Type="http://schemas.openxmlformats.org/officeDocument/2006/relationships/tags" Target="../tags/tag262.xml"/><Relationship Id="rId34" Type="http://schemas.openxmlformats.org/officeDocument/2006/relationships/tags" Target="../tags/tag275.xml"/><Relationship Id="rId42" Type="http://schemas.openxmlformats.org/officeDocument/2006/relationships/image" Target="../media/image36.svg"/><Relationship Id="rId47" Type="http://schemas.openxmlformats.org/officeDocument/2006/relationships/image" Target="../media/image39.svg"/><Relationship Id="rId50" Type="http://schemas.openxmlformats.org/officeDocument/2006/relationships/image" Target="../media/image42.svg"/><Relationship Id="rId7" Type="http://schemas.openxmlformats.org/officeDocument/2006/relationships/tags" Target="../tags/tag24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29" Type="http://schemas.openxmlformats.org/officeDocument/2006/relationships/tags" Target="../tags/tag270.xml"/><Relationship Id="rId11" Type="http://schemas.openxmlformats.org/officeDocument/2006/relationships/tags" Target="../tags/tag252.xml"/><Relationship Id="rId24" Type="http://schemas.openxmlformats.org/officeDocument/2006/relationships/tags" Target="../tags/tag265.xml"/><Relationship Id="rId32" Type="http://schemas.openxmlformats.org/officeDocument/2006/relationships/tags" Target="../tags/tag273.xml"/><Relationship Id="rId37" Type="http://schemas.openxmlformats.org/officeDocument/2006/relationships/tags" Target="../tags/tag278.xml"/><Relationship Id="rId40" Type="http://schemas.openxmlformats.org/officeDocument/2006/relationships/tags" Target="../tags/tag281.xml"/><Relationship Id="rId45" Type="http://schemas.microsoft.com/office/2007/relationships/hdphoto" Target="../media/hdphoto2.wdp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23" Type="http://schemas.openxmlformats.org/officeDocument/2006/relationships/tags" Target="../tags/tag264.xml"/><Relationship Id="rId28" Type="http://schemas.openxmlformats.org/officeDocument/2006/relationships/tags" Target="../tags/tag269.xml"/><Relationship Id="rId36" Type="http://schemas.openxmlformats.org/officeDocument/2006/relationships/tags" Target="../tags/tag277.xml"/><Relationship Id="rId49" Type="http://schemas.openxmlformats.org/officeDocument/2006/relationships/image" Target="../media/image41.svg"/><Relationship Id="rId10" Type="http://schemas.openxmlformats.org/officeDocument/2006/relationships/tags" Target="../tags/tag251.xml"/><Relationship Id="rId19" Type="http://schemas.openxmlformats.org/officeDocument/2006/relationships/tags" Target="../tags/tag260.xml"/><Relationship Id="rId31" Type="http://schemas.openxmlformats.org/officeDocument/2006/relationships/tags" Target="../tags/tag272.xml"/><Relationship Id="rId44" Type="http://schemas.openxmlformats.org/officeDocument/2006/relationships/image" Target="../media/image13.png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Relationship Id="rId22" Type="http://schemas.openxmlformats.org/officeDocument/2006/relationships/tags" Target="../tags/tag263.xml"/><Relationship Id="rId27" Type="http://schemas.openxmlformats.org/officeDocument/2006/relationships/tags" Target="../tags/tag268.xml"/><Relationship Id="rId30" Type="http://schemas.openxmlformats.org/officeDocument/2006/relationships/tags" Target="../tags/tag271.xml"/><Relationship Id="rId35" Type="http://schemas.openxmlformats.org/officeDocument/2006/relationships/tags" Target="../tags/tag276.xml"/><Relationship Id="rId43" Type="http://schemas.openxmlformats.org/officeDocument/2006/relationships/image" Target="../media/image37.svg"/><Relationship Id="rId48" Type="http://schemas.openxmlformats.org/officeDocument/2006/relationships/image" Target="../media/image40.svg"/><Relationship Id="rId8" Type="http://schemas.openxmlformats.org/officeDocument/2006/relationships/tags" Target="../tags/tag249.xml"/><Relationship Id="rId3" Type="http://schemas.openxmlformats.org/officeDocument/2006/relationships/tags" Target="../tags/tag244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5" Type="http://schemas.openxmlformats.org/officeDocument/2006/relationships/tags" Target="../tags/tag266.xml"/><Relationship Id="rId33" Type="http://schemas.openxmlformats.org/officeDocument/2006/relationships/tags" Target="../tags/tag274.xml"/><Relationship Id="rId38" Type="http://schemas.openxmlformats.org/officeDocument/2006/relationships/tags" Target="../tags/tag279.xml"/><Relationship Id="rId46" Type="http://schemas.openxmlformats.org/officeDocument/2006/relationships/image" Target="../media/image38.svg"/><Relationship Id="rId20" Type="http://schemas.openxmlformats.org/officeDocument/2006/relationships/tags" Target="../tags/tag261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242.xml"/><Relationship Id="rId6" Type="http://schemas.openxmlformats.org/officeDocument/2006/relationships/tags" Target="../tags/tag24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89.xml"/><Relationship Id="rId13" Type="http://schemas.openxmlformats.org/officeDocument/2006/relationships/tags" Target="../tags/tag294.xml"/><Relationship Id="rId18" Type="http://schemas.openxmlformats.org/officeDocument/2006/relationships/tags" Target="../tags/tag299.xml"/><Relationship Id="rId26" Type="http://schemas.openxmlformats.org/officeDocument/2006/relationships/image" Target="../media/image43.png"/><Relationship Id="rId3" Type="http://schemas.openxmlformats.org/officeDocument/2006/relationships/tags" Target="../tags/tag284.xml"/><Relationship Id="rId21" Type="http://schemas.openxmlformats.org/officeDocument/2006/relationships/tags" Target="../tags/tag302.xml"/><Relationship Id="rId7" Type="http://schemas.openxmlformats.org/officeDocument/2006/relationships/tags" Target="../tags/tag288.xml"/><Relationship Id="rId12" Type="http://schemas.openxmlformats.org/officeDocument/2006/relationships/tags" Target="../tags/tag293.xml"/><Relationship Id="rId17" Type="http://schemas.openxmlformats.org/officeDocument/2006/relationships/tags" Target="../tags/tag298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283.xml"/><Relationship Id="rId16" Type="http://schemas.openxmlformats.org/officeDocument/2006/relationships/tags" Target="../tags/tag297.xml"/><Relationship Id="rId20" Type="http://schemas.openxmlformats.org/officeDocument/2006/relationships/tags" Target="../tags/tag301.xml"/><Relationship Id="rId29" Type="http://schemas.microsoft.com/office/2007/relationships/hdphoto" Target="../media/hdphoto2.wdp"/><Relationship Id="rId1" Type="http://schemas.openxmlformats.org/officeDocument/2006/relationships/tags" Target="../tags/tag282.xml"/><Relationship Id="rId6" Type="http://schemas.openxmlformats.org/officeDocument/2006/relationships/tags" Target="../tags/tag287.xml"/><Relationship Id="rId11" Type="http://schemas.openxmlformats.org/officeDocument/2006/relationships/tags" Target="../tags/tag292.xml"/><Relationship Id="rId24" Type="http://schemas.openxmlformats.org/officeDocument/2006/relationships/tags" Target="../tags/tag305.xml"/><Relationship Id="rId5" Type="http://schemas.openxmlformats.org/officeDocument/2006/relationships/tags" Target="../tags/tag286.xml"/><Relationship Id="rId15" Type="http://schemas.openxmlformats.org/officeDocument/2006/relationships/tags" Target="../tags/tag296.xml"/><Relationship Id="rId23" Type="http://schemas.openxmlformats.org/officeDocument/2006/relationships/tags" Target="../tags/tag304.xml"/><Relationship Id="rId28" Type="http://schemas.openxmlformats.org/officeDocument/2006/relationships/image" Target="../media/image13.png"/><Relationship Id="rId10" Type="http://schemas.openxmlformats.org/officeDocument/2006/relationships/tags" Target="../tags/tag291.xml"/><Relationship Id="rId19" Type="http://schemas.openxmlformats.org/officeDocument/2006/relationships/tags" Target="../tags/tag300.xml"/><Relationship Id="rId4" Type="http://schemas.openxmlformats.org/officeDocument/2006/relationships/tags" Target="../tags/tag285.xml"/><Relationship Id="rId9" Type="http://schemas.openxmlformats.org/officeDocument/2006/relationships/tags" Target="../tags/tag290.xml"/><Relationship Id="rId14" Type="http://schemas.openxmlformats.org/officeDocument/2006/relationships/tags" Target="../tags/tag295.xml"/><Relationship Id="rId22" Type="http://schemas.openxmlformats.org/officeDocument/2006/relationships/tags" Target="../tags/tag303.xml"/><Relationship Id="rId27" Type="http://schemas.openxmlformats.org/officeDocument/2006/relationships/image" Target="../media/image38.svg"/><Relationship Id="rId30" Type="http://schemas.openxmlformats.org/officeDocument/2006/relationships/comments" Target="../comments/commen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13.xml"/><Relationship Id="rId13" Type="http://schemas.openxmlformats.org/officeDocument/2006/relationships/image" Target="../media/image44.png"/><Relationship Id="rId3" Type="http://schemas.openxmlformats.org/officeDocument/2006/relationships/tags" Target="../tags/tag308.xml"/><Relationship Id="rId7" Type="http://schemas.openxmlformats.org/officeDocument/2006/relationships/tags" Target="../tags/tag312.xml"/><Relationship Id="rId12" Type="http://schemas.microsoft.com/office/2007/relationships/hdphoto" Target="../media/hdphoto2.wdp"/><Relationship Id="rId2" Type="http://schemas.openxmlformats.org/officeDocument/2006/relationships/tags" Target="../tags/tag307.xml"/><Relationship Id="rId1" Type="http://schemas.openxmlformats.org/officeDocument/2006/relationships/tags" Target="../tags/tag306.xml"/><Relationship Id="rId6" Type="http://schemas.openxmlformats.org/officeDocument/2006/relationships/tags" Target="../tags/tag311.xml"/><Relationship Id="rId11" Type="http://schemas.openxmlformats.org/officeDocument/2006/relationships/image" Target="../media/image13.png"/><Relationship Id="rId5" Type="http://schemas.openxmlformats.org/officeDocument/2006/relationships/tags" Target="../tags/tag310.xml"/><Relationship Id="rId10" Type="http://schemas.openxmlformats.org/officeDocument/2006/relationships/image" Target="../media/image33.jpeg"/><Relationship Id="rId4" Type="http://schemas.openxmlformats.org/officeDocument/2006/relationships/tags" Target="../tags/tag309.xml"/><Relationship Id="rId9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21.xml"/><Relationship Id="rId13" Type="http://schemas.openxmlformats.org/officeDocument/2006/relationships/image" Target="../media/image45.jpeg"/><Relationship Id="rId3" Type="http://schemas.openxmlformats.org/officeDocument/2006/relationships/tags" Target="../tags/tag316.xml"/><Relationship Id="rId7" Type="http://schemas.openxmlformats.org/officeDocument/2006/relationships/tags" Target="../tags/tag320.xml"/><Relationship Id="rId12" Type="http://schemas.microsoft.com/office/2007/relationships/hdphoto" Target="../media/hdphoto2.wdp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6" Type="http://schemas.openxmlformats.org/officeDocument/2006/relationships/tags" Target="../tags/tag319.xml"/><Relationship Id="rId11" Type="http://schemas.openxmlformats.org/officeDocument/2006/relationships/image" Target="../media/image13.png"/><Relationship Id="rId5" Type="http://schemas.openxmlformats.org/officeDocument/2006/relationships/tags" Target="../tags/tag318.xml"/><Relationship Id="rId10" Type="http://schemas.openxmlformats.org/officeDocument/2006/relationships/image" Target="../media/image33.jpeg"/><Relationship Id="rId4" Type="http://schemas.openxmlformats.org/officeDocument/2006/relationships/tags" Target="../tags/tag317.xml"/><Relationship Id="rId9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329.xml"/><Relationship Id="rId13" Type="http://schemas.openxmlformats.org/officeDocument/2006/relationships/image" Target="../media/image46.png"/><Relationship Id="rId3" Type="http://schemas.openxmlformats.org/officeDocument/2006/relationships/tags" Target="../tags/tag324.xml"/><Relationship Id="rId7" Type="http://schemas.openxmlformats.org/officeDocument/2006/relationships/tags" Target="../tags/tag328.xml"/><Relationship Id="rId12" Type="http://schemas.microsoft.com/office/2007/relationships/hdphoto" Target="../media/hdphoto2.wdp"/><Relationship Id="rId2" Type="http://schemas.openxmlformats.org/officeDocument/2006/relationships/tags" Target="../tags/tag323.xml"/><Relationship Id="rId1" Type="http://schemas.openxmlformats.org/officeDocument/2006/relationships/tags" Target="../tags/tag322.xml"/><Relationship Id="rId6" Type="http://schemas.openxmlformats.org/officeDocument/2006/relationships/tags" Target="../tags/tag327.xml"/><Relationship Id="rId11" Type="http://schemas.openxmlformats.org/officeDocument/2006/relationships/image" Target="../media/image13.png"/><Relationship Id="rId5" Type="http://schemas.openxmlformats.org/officeDocument/2006/relationships/tags" Target="../tags/tag326.xml"/><Relationship Id="rId10" Type="http://schemas.openxmlformats.org/officeDocument/2006/relationships/image" Target="../media/image33.jpeg"/><Relationship Id="rId4" Type="http://schemas.openxmlformats.org/officeDocument/2006/relationships/tags" Target="../tags/tag325.xml"/><Relationship Id="rId9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37.xml"/><Relationship Id="rId13" Type="http://schemas.openxmlformats.org/officeDocument/2006/relationships/image" Target="../media/image47.jpeg"/><Relationship Id="rId3" Type="http://schemas.openxmlformats.org/officeDocument/2006/relationships/tags" Target="../tags/tag332.xml"/><Relationship Id="rId7" Type="http://schemas.openxmlformats.org/officeDocument/2006/relationships/tags" Target="../tags/tag336.xml"/><Relationship Id="rId12" Type="http://schemas.microsoft.com/office/2007/relationships/hdphoto" Target="../media/hdphoto2.wdp"/><Relationship Id="rId2" Type="http://schemas.openxmlformats.org/officeDocument/2006/relationships/tags" Target="../tags/tag331.xml"/><Relationship Id="rId1" Type="http://schemas.openxmlformats.org/officeDocument/2006/relationships/tags" Target="../tags/tag330.xml"/><Relationship Id="rId6" Type="http://schemas.openxmlformats.org/officeDocument/2006/relationships/tags" Target="../tags/tag335.xml"/><Relationship Id="rId11" Type="http://schemas.openxmlformats.org/officeDocument/2006/relationships/image" Target="../media/image13.png"/><Relationship Id="rId5" Type="http://schemas.openxmlformats.org/officeDocument/2006/relationships/tags" Target="../tags/tag334.xml"/><Relationship Id="rId10" Type="http://schemas.openxmlformats.org/officeDocument/2006/relationships/image" Target="../media/image33.jpeg"/><Relationship Id="rId4" Type="http://schemas.openxmlformats.org/officeDocument/2006/relationships/tags" Target="../tags/tag333.xml"/><Relationship Id="rId9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345.xml"/><Relationship Id="rId3" Type="http://schemas.openxmlformats.org/officeDocument/2006/relationships/tags" Target="../tags/tag340.xml"/><Relationship Id="rId7" Type="http://schemas.openxmlformats.org/officeDocument/2006/relationships/tags" Target="../tags/tag344.xml"/><Relationship Id="rId12" Type="http://schemas.openxmlformats.org/officeDocument/2006/relationships/image" Target="../media/image48.svg"/><Relationship Id="rId2" Type="http://schemas.openxmlformats.org/officeDocument/2006/relationships/tags" Target="../tags/tag339.xml"/><Relationship Id="rId1" Type="http://schemas.openxmlformats.org/officeDocument/2006/relationships/tags" Target="../tags/tag338.xml"/><Relationship Id="rId6" Type="http://schemas.openxmlformats.org/officeDocument/2006/relationships/tags" Target="../tags/tag343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342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41.xml"/><Relationship Id="rId9" Type="http://schemas.openxmlformats.org/officeDocument/2006/relationships/tags" Target="../tags/tag34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49.xml"/><Relationship Id="rId7" Type="http://schemas.openxmlformats.org/officeDocument/2006/relationships/tags" Target="../tags/tag353.xml"/><Relationship Id="rId2" Type="http://schemas.openxmlformats.org/officeDocument/2006/relationships/tags" Target="../tags/tag348.xml"/><Relationship Id="rId1" Type="http://schemas.openxmlformats.org/officeDocument/2006/relationships/tags" Target="../tags/tag347.xml"/><Relationship Id="rId6" Type="http://schemas.openxmlformats.org/officeDocument/2006/relationships/tags" Target="../tags/tag352.xml"/><Relationship Id="rId5" Type="http://schemas.openxmlformats.org/officeDocument/2006/relationships/tags" Target="../tags/tag351.xml"/><Relationship Id="rId10" Type="http://schemas.openxmlformats.org/officeDocument/2006/relationships/image" Target="../media/image50.png"/><Relationship Id="rId4" Type="http://schemas.openxmlformats.org/officeDocument/2006/relationships/tags" Target="../tags/tag350.xml"/><Relationship Id="rId9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3427637" y="7502667"/>
            <a:ext cx="11512835" cy="1163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914445">
              <a:lnSpc>
                <a:spcPct val="189062"/>
              </a:lnSpc>
              <a:buClr>
                <a:srgbClr val="000000"/>
              </a:buClr>
            </a:pPr>
            <a:r>
              <a:rPr lang="vi-VN" sz="4001" i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Gia Lai</a:t>
            </a:r>
            <a:r>
              <a:rPr lang="en-US" sz="4001" i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, </a:t>
            </a:r>
            <a:r>
              <a:rPr lang="en-US" sz="4001" i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ngày</a:t>
            </a:r>
            <a:r>
              <a:rPr lang="en-US" sz="4001" i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vi-VN" sz="4001" i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08</a:t>
            </a:r>
            <a:r>
              <a:rPr lang="en-US" sz="4001" i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001" i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tháng</a:t>
            </a:r>
            <a:r>
              <a:rPr lang="en-US" sz="4001" i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06 </a:t>
            </a:r>
            <a:r>
              <a:rPr lang="en-US" sz="4001" i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năm</a:t>
            </a:r>
            <a:r>
              <a:rPr lang="en-US" sz="4001" i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vi-VN" sz="4001" i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2026</a:t>
            </a:r>
            <a:endParaRPr sz="4001" i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133218" y="89207"/>
            <a:ext cx="1863453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914445">
              <a:buClr>
                <a:srgbClr val="000000"/>
              </a:buClr>
            </a:pPr>
            <a:r>
              <a:rPr lang="en-US" sz="36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TRƯỜNG ĐẠI HỌC QUY NHƠN</a:t>
            </a:r>
            <a:endParaRPr sz="36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914445">
              <a:buClr>
                <a:srgbClr val="000000"/>
              </a:buClr>
            </a:pPr>
            <a:r>
              <a:rPr lang="en-US" sz="36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KHOA GIÁO DỤC TIỂU HỌC VÀ MẦM NON</a:t>
            </a:r>
            <a:endParaRPr sz="36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269" y="102134"/>
            <a:ext cx="1355121" cy="13490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855" y="2"/>
            <a:ext cx="1506746" cy="15000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7173" y="2496539"/>
            <a:ext cx="16793757" cy="21633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5">
              <a:buClr>
                <a:srgbClr val="000000"/>
              </a:buClr>
            </a:pPr>
            <a:r>
              <a:rPr lang="en-US" sz="60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BẢO VỆ KHÓA LUẬN TỐT NGHIỆP ĐẠI HỌC</a:t>
            </a:r>
          </a:p>
          <a:p>
            <a:pPr algn="ctr" defTabSz="914445">
              <a:buClr>
                <a:srgbClr val="000000"/>
              </a:buClr>
            </a:pPr>
            <a:r>
              <a:rPr lang="en-US" sz="60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HỆ ĐẠI HỌC CHÍNH QUY, KHÓA </a:t>
            </a:r>
            <a:r>
              <a:rPr lang="vi-VN" sz="60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45</a:t>
            </a:r>
            <a:endParaRPr lang="en-US" sz="4400" b="1" kern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61350" y="7040744"/>
            <a:ext cx="6445406" cy="6021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5">
              <a:buClr>
                <a:srgbClr val="000000"/>
              </a:buClr>
            </a:pPr>
            <a:r>
              <a:rPr lang="en-US" sz="4001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Niên khóa: </a:t>
            </a:r>
            <a:r>
              <a:rPr lang="vi-VN" sz="4001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2022</a:t>
            </a:r>
            <a:r>
              <a:rPr lang="en-US" sz="4001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- </a:t>
            </a:r>
            <a:r>
              <a:rPr lang="vi-VN" sz="4001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2026</a:t>
            </a:r>
            <a:endParaRPr lang="en-US" sz="400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9129BE-B2D3-4BD3-AFDA-DB4F53E38DA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3194"/>
          <a:stretch/>
        </p:blipFill>
        <p:spPr>
          <a:xfrm>
            <a:off x="-1" y="8494295"/>
            <a:ext cx="18501320" cy="179270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205E0F-6071-40B1-826F-EF7A7276E195}"/>
              </a:ext>
            </a:extLst>
          </p:cNvPr>
          <p:cNvCxnSpPr>
            <a:cxnSpLocks/>
          </p:cNvCxnSpPr>
          <p:nvPr/>
        </p:nvCxnSpPr>
        <p:spPr>
          <a:xfrm>
            <a:off x="6385283" y="1288146"/>
            <a:ext cx="5546198" cy="0"/>
          </a:xfrm>
          <a:prstGeom prst="line">
            <a:avLst/>
          </a:prstGeom>
          <a:effectLst>
            <a:outerShdw blurRad="40000" dist="23000" dir="5400000" rotWithShape="0">
              <a:srgbClr val="000000"/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Untitled-1">
            <a:extLst>
              <a:ext uri="{FF2B5EF4-FFF2-40B4-BE49-F238E27FC236}">
                <a16:creationId xmlns:a16="http://schemas.microsoft.com/office/drawing/2014/main" id="{0446723A-6EC8-4D36-8C03-45A125EECC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013" y="1177881"/>
            <a:ext cx="15948299" cy="770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4450" y="0"/>
            <a:ext cx="1824355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Google Shape;102;p2"/>
          <p:cNvSpPr txBox="1"/>
          <p:nvPr/>
        </p:nvSpPr>
        <p:spPr>
          <a:xfrm>
            <a:off x="-1826844" y="4158281"/>
            <a:ext cx="2194168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00">
              <a:buClr>
                <a:srgbClr val="000000"/>
              </a:buClr>
            </a:pPr>
            <a:r>
              <a:rPr lang="vi-VN" sz="6600" b="1" kern="0" dirty="0">
                <a:solidFill>
                  <a:srgbClr val="31356E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DẠY HỌC HÌNH HỌC LỚP 3 THEO </a:t>
            </a:r>
          </a:p>
          <a:p>
            <a:pPr algn="ctr" defTabSz="609600">
              <a:buClr>
                <a:srgbClr val="000000"/>
              </a:buClr>
            </a:pPr>
            <a:r>
              <a:rPr lang="vi-VN" sz="6600" b="1" kern="0" dirty="0">
                <a:solidFill>
                  <a:srgbClr val="31356E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HƯỚNG GIÁO DỤC STEM</a:t>
            </a:r>
            <a:endParaRPr lang="en-US" sz="6600" b="1" kern="0" dirty="0">
              <a:solidFill>
                <a:srgbClr val="31356E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4587" y="158222"/>
            <a:ext cx="18634535" cy="123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00">
              <a:buClr>
                <a:srgbClr val="000000"/>
              </a:buClr>
            </a:pPr>
            <a:r>
              <a:rPr lang="en-US" sz="4000" b="1" kern="0" dirty="0">
                <a:solidFill>
                  <a:srgbClr val="3B6492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TRƯỜNG ĐẠI HỌC QUY NHƠN</a:t>
            </a:r>
            <a:endParaRPr sz="4000" b="1" kern="0" dirty="0">
              <a:solidFill>
                <a:srgbClr val="3B6492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algn="ctr" defTabSz="609600">
              <a:buClr>
                <a:srgbClr val="000000"/>
              </a:buClr>
            </a:pPr>
            <a:r>
              <a:rPr lang="en-US" sz="4000" b="1" kern="0" dirty="0">
                <a:solidFill>
                  <a:srgbClr val="3B6492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KHOA GIÁO DỤC TIỂU HỌC VÀ MẦM NON</a:t>
            </a:r>
            <a:endParaRPr sz="4000" b="1" kern="0" dirty="0">
              <a:solidFill>
                <a:srgbClr val="3B6492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06" name="Google Shape;106;p2"/>
          <p:cNvSpPr/>
          <p:nvPr/>
        </p:nvSpPr>
        <p:spPr>
          <a:xfrm rot="-1922778">
            <a:off x="14124161" y="7395545"/>
            <a:ext cx="4857209" cy="2442630"/>
          </a:xfrm>
          <a:custGeom>
            <a:avLst/>
            <a:gdLst/>
            <a:ahLst/>
            <a:cxnLst/>
            <a:rect l="l" t="t" r="r" b="b"/>
            <a:pathLst>
              <a:path w="5863057" h="4114800" extrusionOk="0">
                <a:moveTo>
                  <a:pt x="586305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63057" y="0"/>
                </a:lnTo>
                <a:lnTo>
                  <a:pt x="5863057" y="411480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Google Shape;107;p2"/>
          <p:cNvSpPr/>
          <p:nvPr/>
        </p:nvSpPr>
        <p:spPr>
          <a:xfrm rot="8979505">
            <a:off x="8854682" y="8720085"/>
            <a:ext cx="5204132" cy="2377448"/>
          </a:xfrm>
          <a:custGeom>
            <a:avLst/>
            <a:gdLst/>
            <a:ahLst/>
            <a:cxnLst/>
            <a:rect l="l" t="t" r="r" b="b"/>
            <a:pathLst>
              <a:path w="5863057" h="4114800" extrusionOk="0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6" y="41912"/>
            <a:ext cx="1160189" cy="11550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3" y="41790"/>
            <a:ext cx="1316549" cy="1310696"/>
          </a:xfrm>
          <a:prstGeom prst="rect">
            <a:avLst/>
          </a:prstGeom>
        </p:spPr>
      </p:pic>
      <p:sp>
        <p:nvSpPr>
          <p:cNvPr id="12" name="Subtitle 2"/>
          <p:cNvSpPr txBox="1"/>
          <p:nvPr/>
        </p:nvSpPr>
        <p:spPr>
          <a:xfrm>
            <a:off x="1534401" y="2265920"/>
            <a:ext cx="15219195" cy="13899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 defTabSz="609600">
              <a:spcBef>
                <a:spcPct val="20000"/>
              </a:spcBef>
              <a:defRPr/>
            </a:pPr>
            <a:r>
              <a:rPr lang="en-US" sz="6600" b="1" dirty="0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BÁO CÁO KHÓA LUẬN TỐT NGHIỆP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2808" y="6691869"/>
            <a:ext cx="12243581" cy="44037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609600">
              <a:lnSpc>
                <a:spcPct val="150000"/>
              </a:lnSpc>
              <a:buClr>
                <a:srgbClr val="000000"/>
              </a:buClr>
            </a:pPr>
            <a:r>
              <a:rPr lang="en-US" sz="4000" b="1" kern="0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Giảng</a:t>
            </a:r>
            <a:r>
              <a:rPr lang="en-US" sz="4000" b="1" kern="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viên </a:t>
            </a:r>
            <a:r>
              <a:rPr lang="en-US" sz="4000" b="1" kern="0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hướng</a:t>
            </a:r>
            <a:r>
              <a:rPr lang="en-US" sz="4000" b="1" kern="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4000" b="1" kern="0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dẫn</a:t>
            </a:r>
            <a:r>
              <a:rPr lang="en-US" sz="4000" b="1" kern="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: TS. Đào Ngọc Hân</a:t>
            </a:r>
          </a:p>
          <a:p>
            <a:pPr algn="ctr" defTabSz="609600">
              <a:lnSpc>
                <a:spcPct val="150000"/>
              </a:lnSpc>
              <a:buClr>
                <a:srgbClr val="000000"/>
              </a:buClr>
            </a:pPr>
            <a:r>
              <a:rPr lang="en-US" sz="4000" b="1" kern="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Sinh viên </a:t>
            </a:r>
            <a:r>
              <a:rPr lang="en-US" sz="4000" b="1" kern="0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thực</a:t>
            </a:r>
            <a:r>
              <a:rPr lang="en-US" sz="4000" b="1" kern="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4000" b="1" kern="0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hiện</a:t>
            </a:r>
            <a:r>
              <a:rPr lang="en-US" sz="4000" b="1" kern="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: </a:t>
            </a:r>
            <a:r>
              <a:rPr lang="vi-VN" sz="4000" b="1" kern="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Nguyễn Thị Hoài Trang</a:t>
            </a:r>
            <a:r>
              <a:rPr lang="en-US" sz="4000" b="1" kern="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sz="4000" b="1" kern="0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algn="ctr" defTabSz="609600">
              <a:lnSpc>
                <a:spcPct val="250000"/>
              </a:lnSpc>
              <a:buClr>
                <a:srgbClr val="000000"/>
              </a:buClr>
            </a:pPr>
            <a:r>
              <a:rPr lang="vi-VN" sz="4000" b="1" i="1" kern="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Gia Lai</a:t>
            </a:r>
            <a:r>
              <a:rPr lang="en-US" sz="4000" b="1" i="1" kern="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– </a:t>
            </a:r>
            <a:r>
              <a:rPr lang="vi-VN" sz="4000" b="1" i="1" kern="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2026</a:t>
            </a:r>
            <a:endParaRPr lang="en-US" sz="4000" b="1" i="1" kern="0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algn="ctr" defTabSz="609600">
              <a:buClr>
                <a:srgbClr val="000000"/>
              </a:buClr>
            </a:pPr>
            <a:endParaRPr lang="en-US" sz="2005" kern="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algn="ctr" defTabSz="609600">
              <a:buClr>
                <a:srgbClr val="000000"/>
              </a:buClr>
            </a:pPr>
            <a:endParaRPr lang="en-US" sz="2005" kern="0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Arial" panose="020B0604020202020204"/>
            </a:endParaRPr>
          </a:p>
          <a:p>
            <a:pPr algn="ctr" defTabSz="609600">
              <a:buClr>
                <a:srgbClr val="000000"/>
              </a:buClr>
            </a:pPr>
            <a:r>
              <a:rPr lang="en-US" sz="2005" kern="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Arial" panose="020B0604020202020204"/>
              </a:rPr>
              <a:t>              </a:t>
            </a:r>
            <a:r>
              <a:rPr lang="en-US" sz="2005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/>
              </a:rP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40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2649674" y="0"/>
            <a:ext cx="15638326" cy="10287000"/>
            <a:chOff x="0" y="0"/>
            <a:chExt cx="1078230" cy="7092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1954" cy="709267"/>
            </a:xfrm>
            <a:custGeom>
              <a:avLst/>
              <a:gdLst/>
              <a:ahLst/>
              <a:cxnLst/>
              <a:rect l="l" t="t" r="r" b="b"/>
              <a:pathLst>
                <a:path w="1071954" h="709267">
                  <a:moveTo>
                    <a:pt x="841861" y="0"/>
                  </a:moveTo>
                  <a:lnTo>
                    <a:pt x="33169" y="0"/>
                  </a:lnTo>
                  <a:cubicBezTo>
                    <a:pt x="14850" y="0"/>
                    <a:pt x="0" y="14850"/>
                    <a:pt x="0" y="33169"/>
                  </a:cubicBezTo>
                  <a:lnTo>
                    <a:pt x="0" y="676098"/>
                  </a:lnTo>
                  <a:cubicBezTo>
                    <a:pt x="0" y="684895"/>
                    <a:pt x="3495" y="693332"/>
                    <a:pt x="9715" y="699552"/>
                  </a:cubicBezTo>
                  <a:cubicBezTo>
                    <a:pt x="15935" y="705773"/>
                    <a:pt x="24372" y="709267"/>
                    <a:pt x="33169" y="709267"/>
                  </a:cubicBezTo>
                  <a:lnTo>
                    <a:pt x="841861" y="709267"/>
                  </a:lnTo>
                  <a:cubicBezTo>
                    <a:pt x="862376" y="709267"/>
                    <a:pt x="881321" y="698288"/>
                    <a:pt x="891520" y="680488"/>
                  </a:cubicBezTo>
                  <a:lnTo>
                    <a:pt x="1061740" y="383413"/>
                  </a:lnTo>
                  <a:cubicBezTo>
                    <a:pt x="1071954" y="365586"/>
                    <a:pt x="1071954" y="343681"/>
                    <a:pt x="1061740" y="325854"/>
                  </a:cubicBezTo>
                  <a:lnTo>
                    <a:pt x="891520" y="28779"/>
                  </a:lnTo>
                  <a:cubicBezTo>
                    <a:pt x="881321" y="10980"/>
                    <a:pt x="862376" y="0"/>
                    <a:pt x="84186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63930" cy="747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3549747" y="0"/>
            <a:ext cx="14930817" cy="10287000"/>
            <a:chOff x="0" y="0"/>
            <a:chExt cx="1029449" cy="709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2876" cy="709267"/>
            </a:xfrm>
            <a:custGeom>
              <a:avLst/>
              <a:gdLst/>
              <a:ahLst/>
              <a:cxnLst/>
              <a:rect l="l" t="t" r="r" b="b"/>
              <a:pathLst>
                <a:path w="1022876" h="709267">
                  <a:moveTo>
                    <a:pt x="791508" y="0"/>
                  </a:moveTo>
                  <a:lnTo>
                    <a:pt x="34741" y="0"/>
                  </a:lnTo>
                  <a:cubicBezTo>
                    <a:pt x="25527" y="0"/>
                    <a:pt x="16691" y="3660"/>
                    <a:pt x="10175" y="10175"/>
                  </a:cubicBezTo>
                  <a:cubicBezTo>
                    <a:pt x="3660" y="16691"/>
                    <a:pt x="0" y="25527"/>
                    <a:pt x="0" y="34741"/>
                  </a:cubicBezTo>
                  <a:lnTo>
                    <a:pt x="0" y="674526"/>
                  </a:lnTo>
                  <a:cubicBezTo>
                    <a:pt x="0" y="683740"/>
                    <a:pt x="3660" y="692577"/>
                    <a:pt x="10175" y="699092"/>
                  </a:cubicBezTo>
                  <a:cubicBezTo>
                    <a:pt x="16691" y="705607"/>
                    <a:pt x="25527" y="709267"/>
                    <a:pt x="34741" y="709267"/>
                  </a:cubicBezTo>
                  <a:lnTo>
                    <a:pt x="791508" y="709267"/>
                  </a:lnTo>
                  <a:cubicBezTo>
                    <a:pt x="812995" y="709267"/>
                    <a:pt x="832838" y="697767"/>
                    <a:pt x="843520" y="679124"/>
                  </a:cubicBezTo>
                  <a:lnTo>
                    <a:pt x="1012177" y="384777"/>
                  </a:lnTo>
                  <a:cubicBezTo>
                    <a:pt x="1022876" y="366105"/>
                    <a:pt x="1022876" y="343162"/>
                    <a:pt x="1012177" y="324490"/>
                  </a:cubicBezTo>
                  <a:lnTo>
                    <a:pt x="843520" y="30143"/>
                  </a:lnTo>
                  <a:cubicBezTo>
                    <a:pt x="832838" y="11500"/>
                    <a:pt x="812995" y="0"/>
                    <a:pt x="79150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15149" cy="747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76516">
            <a:off x="1919605" y="3169285"/>
            <a:ext cx="4907280" cy="3141980"/>
            <a:chOff x="0" y="0"/>
            <a:chExt cx="1027168" cy="711200"/>
          </a:xfrm>
        </p:grpSpPr>
        <p:sp>
          <p:nvSpPr>
            <p:cNvPr id="9" name="Freeform 9"/>
            <p:cNvSpPr/>
            <p:nvPr/>
          </p:nvSpPr>
          <p:spPr>
            <a:xfrm>
              <a:off x="58418" y="65323"/>
              <a:ext cx="910332" cy="645877"/>
            </a:xfrm>
            <a:custGeom>
              <a:avLst/>
              <a:gdLst/>
              <a:ahLst/>
              <a:cxnLst/>
              <a:rect l="l" t="t" r="r" b="b"/>
              <a:pathLst>
                <a:path w="910332" h="645877">
                  <a:moveTo>
                    <a:pt x="529954" y="38242"/>
                  </a:moveTo>
                  <a:lnTo>
                    <a:pt x="893962" y="542312"/>
                  </a:lnTo>
                  <a:cubicBezTo>
                    <a:pt x="908323" y="562198"/>
                    <a:pt x="910332" y="588454"/>
                    <a:pt x="899164" y="610294"/>
                  </a:cubicBezTo>
                  <a:cubicBezTo>
                    <a:pt x="887996" y="632134"/>
                    <a:pt x="865534" y="645877"/>
                    <a:pt x="841004" y="645877"/>
                  </a:cubicBezTo>
                  <a:lnTo>
                    <a:pt x="69328" y="645877"/>
                  </a:lnTo>
                  <a:cubicBezTo>
                    <a:pt x="44798" y="645877"/>
                    <a:pt x="22336" y="632134"/>
                    <a:pt x="11168" y="610294"/>
                  </a:cubicBezTo>
                  <a:cubicBezTo>
                    <a:pt x="0" y="588454"/>
                    <a:pt x="2009" y="562198"/>
                    <a:pt x="16370" y="542312"/>
                  </a:cubicBezTo>
                  <a:lnTo>
                    <a:pt x="380378" y="38242"/>
                  </a:lnTo>
                  <a:cubicBezTo>
                    <a:pt x="397721" y="14226"/>
                    <a:pt x="425542" y="0"/>
                    <a:pt x="455166" y="0"/>
                  </a:cubicBezTo>
                  <a:cubicBezTo>
                    <a:pt x="484790" y="0"/>
                    <a:pt x="512611" y="14226"/>
                    <a:pt x="529954" y="38242"/>
                  </a:cubicBezTo>
                  <a:close/>
                </a:path>
              </a:pathLst>
            </a:custGeom>
            <a:solidFill>
              <a:srgbClr val="0071C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0495" y="292100"/>
              <a:ext cx="706178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5" name="Google Shape;121;p3"/>
          <p:cNvSpPr txBox="1"/>
          <p:nvPr>
            <p:custDataLst>
              <p:tags r:id="rId1"/>
            </p:custDataLst>
          </p:nvPr>
        </p:nvSpPr>
        <p:spPr>
          <a:xfrm>
            <a:off x="457200" y="1714500"/>
            <a:ext cx="2322830" cy="620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 fontAlgn="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rgbClr val="FFFFFF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KẾT CẤU ĐỀ TÀI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029200" y="599440"/>
            <a:ext cx="10134600" cy="3381375"/>
            <a:chOff x="7920" y="944"/>
            <a:chExt cx="15960" cy="5325"/>
          </a:xfrm>
        </p:grpSpPr>
        <p:grpSp>
          <p:nvGrpSpPr>
            <p:cNvPr id="136" name="Group 135"/>
            <p:cNvGrpSpPr/>
            <p:nvPr/>
          </p:nvGrpSpPr>
          <p:grpSpPr>
            <a:xfrm rot="10800000">
              <a:off x="7920" y="2579"/>
              <a:ext cx="4801" cy="3691"/>
              <a:chOff x="10547" y="7573"/>
              <a:chExt cx="3321" cy="1437"/>
            </a:xfrm>
          </p:grpSpPr>
          <p:cxnSp>
            <p:nvCxnSpPr>
              <p:cNvPr id="137" name="Straight Connector 136"/>
              <p:cNvCxnSpPr/>
              <p:nvPr>
                <p:custDataLst>
                  <p:tags r:id="rId25"/>
                </p:custDataLst>
              </p:nvPr>
            </p:nvCxnSpPr>
            <p:spPr>
              <a:xfrm flipH="1">
                <a:off x="10547" y="8986"/>
                <a:ext cx="1698" cy="24"/>
              </a:xfrm>
              <a:prstGeom prst="line">
                <a:avLst/>
              </a:prstGeom>
              <a:ln w="5715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</a:gra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Arrow Connector 137"/>
              <p:cNvCxnSpPr/>
              <p:nvPr>
                <p:custDataLst>
                  <p:tags r:id="rId26"/>
                </p:custDataLst>
              </p:nvPr>
            </p:nvCxnSpPr>
            <p:spPr>
              <a:xfrm flipV="1">
                <a:off x="12245" y="7573"/>
                <a:ext cx="1623" cy="1433"/>
              </a:xfrm>
              <a:prstGeom prst="straightConnector1">
                <a:avLst/>
              </a:prstGeom>
              <a:ln w="5715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</a:gra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2" name="Group 151"/>
            <p:cNvGrpSpPr/>
            <p:nvPr/>
          </p:nvGrpSpPr>
          <p:grpSpPr>
            <a:xfrm>
              <a:off x="12776" y="944"/>
              <a:ext cx="11104" cy="2991"/>
              <a:chOff x="8108" y="2301"/>
              <a:chExt cx="6047" cy="1492"/>
            </a:xfrm>
          </p:grpSpPr>
          <p:sp>
            <p:nvSpPr>
              <p:cNvPr id="148" name="Rectangle: Rounded Corners 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8854" y="2459"/>
                <a:ext cx="5301" cy="1195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/>
              <p:cNvSpPr/>
              <p:nvPr>
                <p:custDataLst>
                  <p:tags r:id="rId22"/>
                </p:custDataLst>
              </p:nvPr>
            </p:nvSpPr>
            <p:spPr>
              <a:xfrm>
                <a:off x="8108" y="2301"/>
                <a:ext cx="1492" cy="1492"/>
              </a:xfrm>
              <a:prstGeom prst="ellipse">
                <a:avLst/>
              </a:prstGeom>
              <a:solidFill>
                <a:schemeClr val="bg1"/>
              </a:solidFill>
              <a:ln w="381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/>
              <p:cNvSpPr/>
              <p:nvPr>
                <p:custDataLst>
                  <p:tags r:id="rId23"/>
                </p:custDataLst>
              </p:nvPr>
            </p:nvSpPr>
            <p:spPr>
              <a:xfrm>
                <a:off x="8257" y="2450"/>
                <a:ext cx="1195" cy="1195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TextBox 56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0310" y="2677"/>
                <a:ext cx="2950" cy="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MỞ ĐẦU</a:t>
                </a: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5651500" y="3775075"/>
            <a:ext cx="9761220" cy="1898650"/>
            <a:chOff x="9260" y="5945"/>
            <a:chExt cx="15372" cy="2990"/>
          </a:xfrm>
        </p:grpSpPr>
        <p:cxnSp>
          <p:nvCxnSpPr>
            <p:cNvPr id="141" name="Straight Arrow Connector 140"/>
            <p:cNvCxnSpPr/>
            <p:nvPr>
              <p:custDataLst>
                <p:tags r:id="rId16"/>
              </p:custDataLst>
            </p:nvPr>
          </p:nvCxnSpPr>
          <p:spPr>
            <a:xfrm flipH="1" flipV="1">
              <a:off x="9260" y="7562"/>
              <a:ext cx="4900" cy="58"/>
            </a:xfrm>
            <a:prstGeom prst="straightConnector1">
              <a:avLst/>
            </a:prstGeom>
            <a:ln w="5715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</a:gra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8" name="Group 167"/>
            <p:cNvGrpSpPr/>
            <p:nvPr/>
          </p:nvGrpSpPr>
          <p:grpSpPr>
            <a:xfrm>
              <a:off x="13528" y="5945"/>
              <a:ext cx="11104" cy="2991"/>
              <a:chOff x="8108" y="2301"/>
              <a:chExt cx="6047" cy="1492"/>
            </a:xfrm>
          </p:grpSpPr>
          <p:sp>
            <p:nvSpPr>
              <p:cNvPr id="169" name="Rectangle: Rounded Corners 38"/>
              <p:cNvSpPr/>
              <p:nvPr>
                <p:custDataLst>
                  <p:tags r:id="rId17"/>
                </p:custDataLst>
              </p:nvPr>
            </p:nvSpPr>
            <p:spPr>
              <a:xfrm>
                <a:off x="8854" y="2459"/>
                <a:ext cx="5301" cy="1195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/>
              <p:cNvSpPr/>
              <p:nvPr>
                <p:custDataLst>
                  <p:tags r:id="rId18"/>
                </p:custDataLst>
              </p:nvPr>
            </p:nvSpPr>
            <p:spPr>
              <a:xfrm>
                <a:off x="8108" y="2301"/>
                <a:ext cx="1492" cy="1492"/>
              </a:xfrm>
              <a:prstGeom prst="ellipse">
                <a:avLst/>
              </a:prstGeom>
              <a:solidFill>
                <a:schemeClr val="bg1"/>
              </a:solidFill>
              <a:ln w="381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/>
              <p:cNvSpPr/>
              <p:nvPr>
                <p:custDataLst>
                  <p:tags r:id="rId19"/>
                </p:custDataLst>
              </p:nvPr>
            </p:nvSpPr>
            <p:spPr>
              <a:xfrm>
                <a:off x="8257" y="2450"/>
                <a:ext cx="1195" cy="1195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TextBox 56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930" y="2677"/>
                <a:ext cx="3766" cy="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0" b="1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NỘI DUNG </a:t>
                </a:r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4731385" y="5703570"/>
            <a:ext cx="9887582" cy="3591725"/>
            <a:chOff x="7691" y="9102"/>
            <a:chExt cx="15571" cy="5656"/>
          </a:xfrm>
        </p:grpSpPr>
        <p:grpSp>
          <p:nvGrpSpPr>
            <p:cNvPr id="11" name="Group 11"/>
            <p:cNvGrpSpPr/>
            <p:nvPr/>
          </p:nvGrpSpPr>
          <p:grpSpPr>
            <a:xfrm>
              <a:off x="13053" y="14297"/>
              <a:ext cx="461" cy="46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8290" y="14297"/>
              <a:ext cx="461" cy="461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78" name="Group 177"/>
            <p:cNvGrpSpPr/>
            <p:nvPr/>
          </p:nvGrpSpPr>
          <p:grpSpPr>
            <a:xfrm>
              <a:off x="7691" y="9102"/>
              <a:ext cx="15571" cy="5272"/>
              <a:chOff x="8171" y="9102"/>
              <a:chExt cx="15571" cy="5272"/>
            </a:xfrm>
          </p:grpSpPr>
          <p:grpSp>
            <p:nvGrpSpPr>
              <p:cNvPr id="159" name="Group 158"/>
              <p:cNvGrpSpPr/>
              <p:nvPr/>
            </p:nvGrpSpPr>
            <p:grpSpPr>
              <a:xfrm rot="10800000" flipV="1">
                <a:off x="8171" y="9102"/>
                <a:ext cx="4887" cy="3696"/>
                <a:chOff x="10245" y="7344"/>
                <a:chExt cx="3210" cy="950"/>
              </a:xfrm>
            </p:grpSpPr>
            <p:cxnSp>
              <p:nvCxnSpPr>
                <p:cNvPr id="160" name="Straight Connector 159"/>
                <p:cNvCxnSpPr/>
                <p:nvPr>
                  <p:custDataLst>
                    <p:tags r:id="rId14"/>
                  </p:custDataLst>
                </p:nvPr>
              </p:nvCxnSpPr>
              <p:spPr>
                <a:xfrm flipH="1">
                  <a:off x="10245" y="8294"/>
                  <a:ext cx="1678" cy="0"/>
                </a:xfrm>
                <a:prstGeom prst="line">
                  <a:avLst/>
                </a:prstGeom>
                <a:ln w="57150"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</a:gra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Arrow Connector 160"/>
                <p:cNvCxnSpPr/>
                <p:nvPr>
                  <p:custDataLst>
                    <p:tags r:id="rId15"/>
                  </p:custDataLst>
                </p:nvPr>
              </p:nvCxnSpPr>
              <p:spPr>
                <a:xfrm flipV="1">
                  <a:off x="11972" y="7344"/>
                  <a:ext cx="1483" cy="932"/>
                </a:xfrm>
                <a:prstGeom prst="straightConnector1">
                  <a:avLst/>
                </a:prstGeom>
                <a:ln w="57150"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</a:gra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Group 172"/>
              <p:cNvGrpSpPr/>
              <p:nvPr/>
            </p:nvGrpSpPr>
            <p:grpSpPr>
              <a:xfrm>
                <a:off x="12638" y="11383"/>
                <a:ext cx="11104" cy="2991"/>
                <a:chOff x="8108" y="2301"/>
                <a:chExt cx="6047" cy="1492"/>
              </a:xfrm>
            </p:grpSpPr>
            <p:sp>
              <p:nvSpPr>
                <p:cNvPr id="174" name="Rectangle: Rounded Corners 38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8854" y="2459"/>
                  <a:ext cx="5301" cy="1195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ang="27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Oval 174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8108" y="2301"/>
                  <a:ext cx="1492" cy="1492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Oval 175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8257" y="2450"/>
                  <a:ext cx="1195" cy="1195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" name="TextBox 56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9903" y="2677"/>
                  <a:ext cx="4221" cy="7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b="1" dirty="0">
                      <a:solidFill>
                        <a:schemeClr val="bg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KẾT LUẬN </a:t>
                  </a:r>
                </a:p>
              </p:txBody>
            </p:sp>
          </p:grpSp>
        </p:grpSp>
      </p:grpSp>
      <p:sp>
        <p:nvSpPr>
          <p:cNvPr id="22" name="Freeform 2"/>
          <p:cNvSpPr/>
          <p:nvPr>
            <p:custDataLst>
              <p:tags r:id="rId2"/>
            </p:custDataLst>
          </p:nvPr>
        </p:nvSpPr>
        <p:spPr>
          <a:xfrm>
            <a:off x="-7543800" y="0"/>
            <a:ext cx="6284747" cy="6284747"/>
          </a:xfrm>
          <a:custGeom>
            <a:avLst/>
            <a:gdLst/>
            <a:ahLst/>
            <a:cxnLst/>
            <a:rect l="l" t="t" r="r" b="b"/>
            <a:pathLst>
              <a:path w="6284747" h="6284747">
                <a:moveTo>
                  <a:pt x="0" y="0"/>
                </a:moveTo>
                <a:lnTo>
                  <a:pt x="6284747" y="0"/>
                </a:lnTo>
                <a:lnTo>
                  <a:pt x="6284747" y="6284747"/>
                </a:lnTo>
                <a:lnTo>
                  <a:pt x="0" y="6284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3"/>
          <p:cNvSpPr/>
          <p:nvPr>
            <p:custDataLst>
              <p:tags r:id="rId3"/>
            </p:custDataLst>
          </p:nvPr>
        </p:nvSpPr>
        <p:spPr>
          <a:xfrm flipH="1" flipV="1">
            <a:off x="21452053" y="4002253"/>
            <a:ext cx="6284747" cy="6284747"/>
          </a:xfrm>
          <a:custGeom>
            <a:avLst/>
            <a:gdLst/>
            <a:ahLst/>
            <a:cxnLst/>
            <a:rect l="l" t="t" r="r" b="b"/>
            <a:pathLst>
              <a:path w="6284747" h="6284747">
                <a:moveTo>
                  <a:pt x="6284747" y="6284747"/>
                </a:moveTo>
                <a:lnTo>
                  <a:pt x="0" y="6284747"/>
                </a:lnTo>
                <a:lnTo>
                  <a:pt x="0" y="0"/>
                </a:lnTo>
                <a:lnTo>
                  <a:pt x="6284747" y="0"/>
                </a:lnTo>
                <a:lnTo>
                  <a:pt x="6284747" y="62847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4"/>
          <p:cNvGrpSpPr/>
          <p:nvPr/>
        </p:nvGrpSpPr>
        <p:grpSpPr>
          <a:xfrm>
            <a:off x="20171120" y="693178"/>
            <a:ext cx="4636156" cy="4636156"/>
            <a:chOff x="0" y="0"/>
            <a:chExt cx="812800" cy="812800"/>
          </a:xfrm>
        </p:grpSpPr>
        <p:sp>
          <p:nvSpPr>
            <p:cNvPr id="26" name="Freeform 5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29"/>
              <a:stretch>
                <a:fillRect l="-21776" r="-28223"/>
              </a:stretch>
            </a:blipFill>
            <a:ln w="1143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6"/>
          <p:cNvGrpSpPr/>
          <p:nvPr/>
        </p:nvGrpSpPr>
        <p:grpSpPr>
          <a:xfrm>
            <a:off x="22702260" y="3169445"/>
            <a:ext cx="4636156" cy="4636156"/>
            <a:chOff x="0" y="0"/>
            <a:chExt cx="812800" cy="812800"/>
          </a:xfrm>
        </p:grpSpPr>
        <p:sp>
          <p:nvSpPr>
            <p:cNvPr id="28" name="Freeform 7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30"/>
              <a:stretch>
                <a:fillRect l="-45093" r="-4860"/>
              </a:stretch>
            </a:blipFill>
            <a:ln w="114300" cap="sq">
              <a:solidFill>
                <a:srgbClr val="AFCDD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8"/>
          <p:cNvGrpSpPr/>
          <p:nvPr/>
        </p:nvGrpSpPr>
        <p:grpSpPr>
          <a:xfrm>
            <a:off x="20171120" y="5631424"/>
            <a:ext cx="4636156" cy="4636156"/>
            <a:chOff x="0" y="0"/>
            <a:chExt cx="812800" cy="812800"/>
          </a:xfrm>
        </p:grpSpPr>
        <p:sp>
          <p:nvSpPr>
            <p:cNvPr id="30" name="Freeform 9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31"/>
              <a:stretch>
                <a:fillRect l="-19106" r="-15347"/>
              </a:stretch>
            </a:blipFill>
            <a:ln w="114300" cap="sq">
              <a:solidFill>
                <a:srgbClr val="0071C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10"/>
          <p:cNvGrpSpPr/>
          <p:nvPr/>
        </p:nvGrpSpPr>
        <p:grpSpPr>
          <a:xfrm>
            <a:off x="22702260" y="-1710625"/>
            <a:ext cx="4636156" cy="4636156"/>
            <a:chOff x="0" y="0"/>
            <a:chExt cx="812800" cy="812800"/>
          </a:xfrm>
        </p:grpSpPr>
        <p:sp>
          <p:nvSpPr>
            <p:cNvPr id="32" name="Freeform 11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32"/>
              <a:stretch>
                <a:fillRect l="-38874" r="-38874"/>
              </a:stretch>
            </a:blipFill>
            <a:ln w="114300" cap="sq">
              <a:solidFill>
                <a:srgbClr val="56AE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6" name="Picture 3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3" cstate="print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90500"/>
            <a:ext cx="891540" cy="890905"/>
          </a:xfrm>
          <a:prstGeom prst="rect">
            <a:avLst/>
          </a:prstGeom>
        </p:spPr>
      </p:pic>
      <p:sp>
        <p:nvSpPr>
          <p:cNvPr id="33" name="TextBox 28"/>
          <p:cNvSpPr txBox="1"/>
          <p:nvPr>
            <p:custDataLst>
              <p:tags r:id="rId5"/>
            </p:custDataLst>
          </p:nvPr>
        </p:nvSpPr>
        <p:spPr>
          <a:xfrm>
            <a:off x="1571625" y="462915"/>
            <a:ext cx="3244850" cy="4394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ĐẠI HỌC QUY NHƠN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Block Arc 52"/>
          <p:cNvSpPr/>
          <p:nvPr>
            <p:custDataLst>
              <p:tags r:id="rId1"/>
            </p:custDataLst>
          </p:nvPr>
        </p:nvSpPr>
        <p:spPr>
          <a:xfrm>
            <a:off x="-6629400" y="723900"/>
            <a:ext cx="10408285" cy="9978390"/>
          </a:xfrm>
          <a:prstGeom prst="blockArc">
            <a:avLst>
              <a:gd name="adj1" fmla="val 18559781"/>
              <a:gd name="adj2" fmla="val 3427843"/>
              <a:gd name="adj3" fmla="val 0"/>
            </a:avLst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9" name="Google Shape;121;p3"/>
          <p:cNvSpPr txBox="1"/>
          <p:nvPr>
            <p:custDataLst>
              <p:tags r:id="rId2"/>
            </p:custDataLst>
          </p:nvPr>
        </p:nvSpPr>
        <p:spPr>
          <a:xfrm>
            <a:off x="-152400" y="4229100"/>
            <a:ext cx="3764915" cy="3054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 fontAlgn="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NỘI DUNG </a:t>
            </a:r>
          </a:p>
        </p:txBody>
      </p:sp>
      <p:grpSp>
        <p:nvGrpSpPr>
          <p:cNvPr id="122" name="Group 121"/>
          <p:cNvGrpSpPr/>
          <p:nvPr/>
        </p:nvGrpSpPr>
        <p:grpSpPr>
          <a:xfrm>
            <a:off x="-76200" y="-419100"/>
            <a:ext cx="13487400" cy="1838325"/>
            <a:chOff x="-120" y="-660"/>
            <a:chExt cx="21240" cy="2895"/>
          </a:xfrm>
        </p:grpSpPr>
        <p:cxnSp>
          <p:nvCxnSpPr>
            <p:cNvPr id="117" name="Google Shape;117;p3"/>
            <p:cNvCxnSpPr/>
            <p:nvPr>
              <p:custDataLst>
                <p:tags r:id="rId40"/>
              </p:custDataLst>
            </p:nvPr>
          </p:nvCxnSpPr>
          <p:spPr>
            <a:xfrm>
              <a:off x="-120" y="210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6" name="Text Box 65"/>
            <p:cNvSpPr txBox="1"/>
            <p:nvPr>
              <p:custDataLst>
                <p:tags r:id="rId41"/>
              </p:custDataLst>
            </p:nvPr>
          </p:nvSpPr>
          <p:spPr>
            <a:xfrm>
              <a:off x="6926" y="300"/>
              <a:ext cx="7143" cy="1496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sz="7200" b="1">
                  <a:ln w="15875"/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/>
                  <a:latin typeface="Times New Roman" panose="02020603050405020304" charset="0"/>
                  <a:cs typeface="Times New Roman" panose="02020603050405020304" charset="0"/>
                </a:rPr>
                <a:t>MỞ ĐẦU</a:t>
              </a:r>
            </a:p>
          </p:txBody>
        </p:sp>
        <p:cxnSp>
          <p:nvCxnSpPr>
            <p:cNvPr id="101" name="Google Shape;117;p3"/>
            <p:cNvCxnSpPr/>
            <p:nvPr>
              <p:custDataLst>
                <p:tags r:id="rId42"/>
              </p:custDataLst>
            </p:nvPr>
          </p:nvCxnSpPr>
          <p:spPr>
            <a:xfrm flipV="1">
              <a:off x="2004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" name="Group 120"/>
          <p:cNvGrpSpPr/>
          <p:nvPr/>
        </p:nvGrpSpPr>
        <p:grpSpPr>
          <a:xfrm>
            <a:off x="13106400" y="114300"/>
            <a:ext cx="4928235" cy="1217930"/>
            <a:chOff x="20640" y="180"/>
            <a:chExt cx="7761" cy="1918"/>
          </a:xfrm>
        </p:grpSpPr>
        <p:sp>
          <p:nvSpPr>
            <p:cNvPr id="103" name="Freeform 61"/>
            <p:cNvSpPr/>
            <p:nvPr>
              <p:custDataLst>
                <p:tags r:id="rId38"/>
              </p:custDataLst>
            </p:nvPr>
          </p:nvSpPr>
          <p:spPr>
            <a:xfrm>
              <a:off x="20640" y="180"/>
              <a:ext cx="7761" cy="1918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 Box 1"/>
            <p:cNvSpPr txBox="1"/>
            <p:nvPr>
              <p:custDataLst>
                <p:tags r:id="rId39"/>
              </p:custDataLst>
            </p:nvPr>
          </p:nvSpPr>
          <p:spPr>
            <a:xfrm>
              <a:off x="21120" y="31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36" name="Picture 3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4" cstate="print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1560" y="114300"/>
            <a:ext cx="1133475" cy="1133475"/>
          </a:xfrm>
          <a:prstGeom prst="rect">
            <a:avLst/>
          </a:prstGeom>
        </p:spPr>
      </p:pic>
      <p:grpSp>
        <p:nvGrpSpPr>
          <p:cNvPr id="115" name="Group 114"/>
          <p:cNvGrpSpPr/>
          <p:nvPr/>
        </p:nvGrpSpPr>
        <p:grpSpPr>
          <a:xfrm>
            <a:off x="3203575" y="4521200"/>
            <a:ext cx="12113260" cy="1046480"/>
            <a:chOff x="5243" y="5358"/>
            <a:chExt cx="19016" cy="1648"/>
          </a:xfrm>
        </p:grpSpPr>
        <p:grpSp>
          <p:nvGrpSpPr>
            <p:cNvPr id="96" name="Group 95"/>
            <p:cNvGrpSpPr/>
            <p:nvPr/>
          </p:nvGrpSpPr>
          <p:grpSpPr>
            <a:xfrm>
              <a:off x="5243" y="5358"/>
              <a:ext cx="19016" cy="1648"/>
              <a:chOff x="4883" y="5118"/>
              <a:chExt cx="19016" cy="1648"/>
            </a:xfrm>
          </p:grpSpPr>
          <p:grpSp>
            <p:nvGrpSpPr>
              <p:cNvPr id="74" name="Group 73"/>
              <p:cNvGrpSpPr/>
              <p:nvPr/>
            </p:nvGrpSpPr>
            <p:grpSpPr>
              <a:xfrm>
                <a:off x="4883" y="5118"/>
                <a:ext cx="19017" cy="1648"/>
                <a:chOff x="4203" y="3478"/>
                <a:chExt cx="19017" cy="1648"/>
              </a:xfrm>
            </p:grpSpPr>
            <p:sp>
              <p:nvSpPr>
                <p:cNvPr id="75" name="Rounded Rectangle 74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4920" y="3540"/>
                  <a:ext cx="18300" cy="1586"/>
                </a:xfrm>
                <a:prstGeom prst="roundRect">
                  <a:avLst/>
                </a:prstGeom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452816" tIns="73660" rIns="73660" bIns="73660" numCol="1" spcCol="1270" anchor="ctr" anchorCtr="0">
                  <a:noAutofit/>
                </a:bodyPr>
                <a:lstStyle/>
                <a:p>
                  <a:pPr lvl="0" algn="l" defTabSz="12890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2900" kern="1200"/>
                </a:p>
              </p:txBody>
            </p:sp>
            <p:sp>
              <p:nvSpPr>
                <p:cNvPr id="76" name="Oval 75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4203" y="3478"/>
                  <a:ext cx="1679" cy="1624"/>
                </a:xfrm>
                <a:prstGeom prst="ellipse">
                  <a:avLst/>
                </a:prstGeom>
                <a:ln w="508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0" name="TextBox 56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6699" y="5258"/>
                <a:ext cx="11997" cy="14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4400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Mục tiêu của đề tài</a:t>
                </a:r>
              </a:p>
            </p:txBody>
          </p:sp>
        </p:grpSp>
        <p:sp>
          <p:nvSpPr>
            <p:cNvPr id="109" name="Freeform 50"/>
            <p:cNvSpPr/>
            <p:nvPr>
              <p:custDataLst>
                <p:tags r:id="rId34"/>
              </p:custDataLst>
            </p:nvPr>
          </p:nvSpPr>
          <p:spPr>
            <a:xfrm>
              <a:off x="5520" y="5592"/>
              <a:ext cx="1180" cy="1164"/>
            </a:xfrm>
            <a:custGeom>
              <a:avLst/>
              <a:gdLst/>
              <a:ahLst/>
              <a:cxnLst/>
              <a:rect l="l" t="t" r="r" b="b"/>
              <a:pathLst>
                <a:path w="902910" h="902910">
                  <a:moveTo>
                    <a:pt x="0" y="0"/>
                  </a:moveTo>
                  <a:lnTo>
                    <a:pt x="902911" y="0"/>
                  </a:lnTo>
                  <a:lnTo>
                    <a:pt x="902911" y="902910"/>
                  </a:lnTo>
                  <a:lnTo>
                    <a:pt x="0" y="902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2666365" y="7418070"/>
            <a:ext cx="12655550" cy="1046480"/>
            <a:chOff x="5843" y="9198"/>
            <a:chExt cx="18929" cy="1648"/>
          </a:xfrm>
        </p:grpSpPr>
        <p:grpSp>
          <p:nvGrpSpPr>
            <p:cNvPr id="98" name="Group 97"/>
            <p:cNvGrpSpPr/>
            <p:nvPr/>
          </p:nvGrpSpPr>
          <p:grpSpPr>
            <a:xfrm>
              <a:off x="5843" y="9198"/>
              <a:ext cx="18929" cy="1648"/>
              <a:chOff x="5483" y="8958"/>
              <a:chExt cx="18929" cy="1648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5483" y="8958"/>
                <a:ext cx="18929" cy="1648"/>
                <a:chOff x="4203" y="3478"/>
                <a:chExt cx="18929" cy="1648"/>
              </a:xfrm>
            </p:grpSpPr>
            <p:sp>
              <p:nvSpPr>
                <p:cNvPr id="81" name="Rounded Rectangle 80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4920" y="3540"/>
                  <a:ext cx="18212" cy="1586"/>
                </a:xfrm>
                <a:prstGeom prst="roundRect">
                  <a:avLst/>
                </a:prstGeom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452816" tIns="73660" rIns="73660" bIns="73660" numCol="1" spcCol="1270" anchor="ctr" anchorCtr="0">
                  <a:noAutofit/>
                </a:bodyPr>
                <a:lstStyle/>
                <a:p>
                  <a:pPr lvl="0" algn="l" defTabSz="12890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2900" kern="1200"/>
                </a:p>
              </p:txBody>
            </p:sp>
            <p:sp>
              <p:nvSpPr>
                <p:cNvPr id="82" name="Oval 81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4203" y="3478"/>
                  <a:ext cx="1679" cy="1624"/>
                </a:xfrm>
                <a:prstGeom prst="ellipse">
                  <a:avLst/>
                </a:prstGeom>
                <a:ln w="508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2" name="TextBox 56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7299" y="9098"/>
                <a:ext cx="11997" cy="14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4400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Phương pháp nghiên cứu</a:t>
                </a:r>
              </a:p>
            </p:txBody>
          </p:sp>
        </p:grpSp>
        <p:sp>
          <p:nvSpPr>
            <p:cNvPr id="110" name="Freeform 31"/>
            <p:cNvSpPr/>
            <p:nvPr>
              <p:custDataLst>
                <p:tags r:id="rId30"/>
              </p:custDataLst>
            </p:nvPr>
          </p:nvSpPr>
          <p:spPr>
            <a:xfrm>
              <a:off x="6223" y="9485"/>
              <a:ext cx="1010" cy="1004"/>
            </a:xfrm>
            <a:custGeom>
              <a:avLst/>
              <a:gdLst/>
              <a:ahLst/>
              <a:cxnLst/>
              <a:rect l="l" t="t" r="r" b="b"/>
              <a:pathLst>
                <a:path w="810032" h="779103">
                  <a:moveTo>
                    <a:pt x="0" y="0"/>
                  </a:moveTo>
                  <a:lnTo>
                    <a:pt x="810032" y="0"/>
                  </a:lnTo>
                  <a:lnTo>
                    <a:pt x="810032" y="779103"/>
                  </a:lnTo>
                  <a:lnTo>
                    <a:pt x="0" y="779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1910080" y="1645285"/>
            <a:ext cx="13411835" cy="1046480"/>
            <a:chOff x="4443" y="3478"/>
            <a:chExt cx="19800" cy="1648"/>
          </a:xfrm>
        </p:grpSpPr>
        <p:grpSp>
          <p:nvGrpSpPr>
            <p:cNvPr id="95" name="Group 94"/>
            <p:cNvGrpSpPr/>
            <p:nvPr/>
          </p:nvGrpSpPr>
          <p:grpSpPr>
            <a:xfrm>
              <a:off x="4443" y="3478"/>
              <a:ext cx="19800" cy="1648"/>
              <a:chOff x="4083" y="3238"/>
              <a:chExt cx="19800" cy="1648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4083" y="3238"/>
                <a:ext cx="19801" cy="1648"/>
                <a:chOff x="4203" y="3478"/>
                <a:chExt cx="19801" cy="1648"/>
              </a:xfrm>
            </p:grpSpPr>
            <p:sp>
              <p:nvSpPr>
                <p:cNvPr id="54" name="Rounded Rectangle 53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4920" y="3540"/>
                  <a:ext cx="19084" cy="1586"/>
                </a:xfrm>
                <a:prstGeom prst="roundRect">
                  <a:avLst/>
                </a:prstGeom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452816" tIns="73660" rIns="73660" bIns="73660" numCol="1" spcCol="1270" anchor="ctr" anchorCtr="0">
                  <a:noAutofit/>
                </a:bodyPr>
                <a:lstStyle/>
                <a:p>
                  <a:pPr lvl="0" algn="l" defTabSz="12890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2900" kern="1200"/>
                </a:p>
              </p:txBody>
            </p:sp>
            <p:sp>
              <p:nvSpPr>
                <p:cNvPr id="55" name="Oval 54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4203" y="3478"/>
                  <a:ext cx="1679" cy="1624"/>
                </a:xfrm>
                <a:prstGeom prst="ellipse">
                  <a:avLst/>
                </a:prstGeom>
                <a:ln w="508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1" name="TextBox 56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6019" y="3378"/>
                <a:ext cx="11997" cy="14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4400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Lý do chọn đề tài</a:t>
                </a:r>
              </a:p>
            </p:txBody>
          </p:sp>
        </p:grpSp>
        <p:sp>
          <p:nvSpPr>
            <p:cNvPr id="111" name="Freeform 4"/>
            <p:cNvSpPr/>
            <p:nvPr>
              <p:custDataLst>
                <p:tags r:id="rId26"/>
              </p:custDataLst>
            </p:nvPr>
          </p:nvSpPr>
          <p:spPr>
            <a:xfrm>
              <a:off x="4800" y="3780"/>
              <a:ext cx="989" cy="1004"/>
            </a:xfrm>
            <a:custGeom>
              <a:avLst/>
              <a:gdLst/>
              <a:ahLst/>
              <a:cxnLst/>
              <a:rect l="l" t="t" r="r" b="b"/>
              <a:pathLst>
                <a:path w="825844" h="895886">
                  <a:moveTo>
                    <a:pt x="0" y="0"/>
                  </a:moveTo>
                  <a:lnTo>
                    <a:pt x="825844" y="0"/>
                  </a:lnTo>
                  <a:lnTo>
                    <a:pt x="825844" y="895886"/>
                  </a:lnTo>
                  <a:lnTo>
                    <a:pt x="0" y="895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3309620" y="5942330"/>
            <a:ext cx="12007215" cy="1046480"/>
            <a:chOff x="5723" y="7278"/>
            <a:chExt cx="18569" cy="1648"/>
          </a:xfrm>
        </p:grpSpPr>
        <p:grpSp>
          <p:nvGrpSpPr>
            <p:cNvPr id="97" name="Group 96"/>
            <p:cNvGrpSpPr/>
            <p:nvPr/>
          </p:nvGrpSpPr>
          <p:grpSpPr>
            <a:xfrm>
              <a:off x="5723" y="7278"/>
              <a:ext cx="18569" cy="1648"/>
              <a:chOff x="5363" y="7038"/>
              <a:chExt cx="18569" cy="1648"/>
            </a:xfrm>
          </p:grpSpPr>
          <p:grpSp>
            <p:nvGrpSpPr>
              <p:cNvPr id="77" name="Group 76"/>
              <p:cNvGrpSpPr/>
              <p:nvPr/>
            </p:nvGrpSpPr>
            <p:grpSpPr>
              <a:xfrm>
                <a:off x="5363" y="7038"/>
                <a:ext cx="18569" cy="1648"/>
                <a:chOff x="4203" y="3478"/>
                <a:chExt cx="18569" cy="1648"/>
              </a:xfrm>
            </p:grpSpPr>
            <p:sp>
              <p:nvSpPr>
                <p:cNvPr id="78" name="Rounded Rectangle 77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4920" y="3540"/>
                  <a:ext cx="17852" cy="1586"/>
                </a:xfrm>
                <a:prstGeom prst="roundRect">
                  <a:avLst/>
                </a:prstGeom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452816" tIns="73660" rIns="73660" bIns="73660" numCol="1" spcCol="1270" anchor="ctr" anchorCtr="0">
                  <a:noAutofit/>
                </a:bodyPr>
                <a:lstStyle/>
                <a:p>
                  <a:pPr lvl="0" algn="l" defTabSz="12890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2900" kern="1200"/>
                </a:p>
              </p:txBody>
            </p:sp>
            <p:sp>
              <p:nvSpPr>
                <p:cNvPr id="79" name="Oval 78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4203" y="3478"/>
                  <a:ext cx="1679" cy="1624"/>
                </a:xfrm>
                <a:prstGeom prst="ellipse">
                  <a:avLst/>
                </a:prstGeom>
                <a:ln w="50800">
                  <a:solidFill>
                    <a:schemeClr val="bg1"/>
                  </a:solidFill>
                </a:ln>
                <a:effectLst>
                  <a:innerShdw blurRad="114300">
                    <a:prstClr val="black"/>
                  </a:innerShdw>
                </a:effectLst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1" name="TextBox 56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7179" y="7178"/>
                <a:ext cx="12785" cy="144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4400" dirty="0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Đối tượng và phạm vi nghiên cứu</a:t>
                </a:r>
              </a:p>
            </p:txBody>
          </p:sp>
        </p:grpSp>
        <p:sp>
          <p:nvSpPr>
            <p:cNvPr id="131" name="Freeform 36"/>
            <p:cNvSpPr/>
            <p:nvPr>
              <p:custDataLst>
                <p:tags r:id="rId22"/>
              </p:custDataLst>
            </p:nvPr>
          </p:nvSpPr>
          <p:spPr>
            <a:xfrm>
              <a:off x="6104" y="7500"/>
              <a:ext cx="1007" cy="1030"/>
            </a:xfrm>
            <a:custGeom>
              <a:avLst/>
              <a:gdLst/>
              <a:ahLst/>
              <a:cxnLst/>
              <a:rect l="l" t="t" r="r" b="b"/>
              <a:pathLst>
                <a:path w="877197" h="877197">
                  <a:moveTo>
                    <a:pt x="0" y="0"/>
                  </a:moveTo>
                  <a:lnTo>
                    <a:pt x="877197" y="0"/>
                  </a:lnTo>
                  <a:lnTo>
                    <a:pt x="877197" y="877197"/>
                  </a:lnTo>
                  <a:lnTo>
                    <a:pt x="0" y="877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4" name="Google Shape;164;p5"/>
          <p:cNvSpPr txBox="1"/>
          <p:nvPr>
            <p:custDataLst>
              <p:tags r:id="rId4"/>
            </p:custDataLst>
          </p:nvPr>
        </p:nvSpPr>
        <p:spPr>
          <a:xfrm>
            <a:off x="-9120505" y="3616325"/>
            <a:ext cx="5076190" cy="10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Mục đích nghiên cứu</a:t>
            </a:r>
          </a:p>
        </p:txBody>
      </p:sp>
      <p:sp>
        <p:nvSpPr>
          <p:cNvPr id="166" name="Google Shape;166;p5"/>
          <p:cNvSpPr/>
          <p:nvPr>
            <p:custDataLst>
              <p:tags r:id="rId5"/>
            </p:custDataLst>
          </p:nvPr>
        </p:nvSpPr>
        <p:spPr>
          <a:xfrm>
            <a:off x="-11389360" y="3862070"/>
            <a:ext cx="2034540" cy="842645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2</a:t>
            </a:r>
          </a:p>
        </p:txBody>
      </p:sp>
      <p:sp>
        <p:nvSpPr>
          <p:cNvPr id="167" name="Google Shape;167;p5"/>
          <p:cNvSpPr txBox="1"/>
          <p:nvPr>
            <p:custDataLst>
              <p:tags r:id="rId6"/>
            </p:custDataLst>
          </p:nvPr>
        </p:nvSpPr>
        <p:spPr>
          <a:xfrm>
            <a:off x="-9018270" y="5349875"/>
            <a:ext cx="684403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Nhiệm vụ, phạm vi nghiên cứu</a:t>
            </a:r>
          </a:p>
        </p:txBody>
      </p:sp>
      <p:sp>
        <p:nvSpPr>
          <p:cNvPr id="168" name="Google Shape;168;p5"/>
          <p:cNvSpPr/>
          <p:nvPr>
            <p:custDataLst>
              <p:tags r:id="rId7"/>
            </p:custDataLst>
          </p:nvPr>
        </p:nvSpPr>
        <p:spPr>
          <a:xfrm>
            <a:off x="-11389360" y="5596255"/>
            <a:ext cx="2034540" cy="83947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3</a:t>
            </a:r>
          </a:p>
        </p:txBody>
      </p:sp>
      <p:sp>
        <p:nvSpPr>
          <p:cNvPr id="169" name="Google Shape;169;p5"/>
          <p:cNvSpPr txBox="1"/>
          <p:nvPr>
            <p:custDataLst>
              <p:tags r:id="rId8"/>
            </p:custDataLst>
          </p:nvPr>
        </p:nvSpPr>
        <p:spPr>
          <a:xfrm>
            <a:off x="-9041765" y="7147560"/>
            <a:ext cx="7554595" cy="108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Đối tượng nghiên cứu</a:t>
            </a:r>
          </a:p>
        </p:txBody>
      </p:sp>
      <p:sp>
        <p:nvSpPr>
          <p:cNvPr id="170" name="Google Shape;170;p5"/>
          <p:cNvSpPr/>
          <p:nvPr>
            <p:custDataLst>
              <p:tags r:id="rId9"/>
            </p:custDataLst>
          </p:nvPr>
        </p:nvSpPr>
        <p:spPr>
          <a:xfrm>
            <a:off x="-11337290" y="7323455"/>
            <a:ext cx="2034540" cy="87884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4</a:t>
            </a:r>
          </a:p>
        </p:txBody>
      </p:sp>
      <p:sp>
        <p:nvSpPr>
          <p:cNvPr id="133" name="Google Shape;171;p5"/>
          <p:cNvSpPr txBox="1"/>
          <p:nvPr>
            <p:custDataLst>
              <p:tags r:id="rId10"/>
            </p:custDataLst>
          </p:nvPr>
        </p:nvSpPr>
        <p:spPr>
          <a:xfrm>
            <a:off x="-9053195" y="8710295"/>
            <a:ext cx="776224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Phương pháp nghiên cứu</a:t>
            </a:r>
          </a:p>
        </p:txBody>
      </p:sp>
      <p:sp>
        <p:nvSpPr>
          <p:cNvPr id="172" name="Google Shape;172;p5"/>
          <p:cNvSpPr/>
          <p:nvPr>
            <p:custDataLst>
              <p:tags r:id="rId11"/>
            </p:custDataLst>
          </p:nvPr>
        </p:nvSpPr>
        <p:spPr>
          <a:xfrm>
            <a:off x="-11412220" y="8978265"/>
            <a:ext cx="2034540" cy="78740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5</a:t>
            </a:r>
          </a:p>
        </p:txBody>
      </p:sp>
      <p:sp>
        <p:nvSpPr>
          <p:cNvPr id="134" name="Google Shape;162;p5"/>
          <p:cNvSpPr txBox="1"/>
          <p:nvPr>
            <p:custDataLst>
              <p:tags r:id="rId12"/>
            </p:custDataLst>
          </p:nvPr>
        </p:nvSpPr>
        <p:spPr>
          <a:xfrm>
            <a:off x="-8940800" y="1779905"/>
            <a:ext cx="391858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Lí do chọn đề tài</a:t>
            </a:r>
          </a:p>
        </p:txBody>
      </p:sp>
      <p:sp>
        <p:nvSpPr>
          <p:cNvPr id="135" name="Google Shape;165;p5"/>
          <p:cNvSpPr/>
          <p:nvPr>
            <p:custDataLst>
              <p:tags r:id="rId13"/>
            </p:custDataLst>
          </p:nvPr>
        </p:nvSpPr>
        <p:spPr>
          <a:xfrm>
            <a:off x="-11201400" y="2113915"/>
            <a:ext cx="2034540" cy="83693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1</a:t>
            </a:r>
          </a:p>
        </p:txBody>
      </p:sp>
      <p:sp>
        <p:nvSpPr>
          <p:cNvPr id="138" name="Freeform 18"/>
          <p:cNvSpPr/>
          <p:nvPr>
            <p:custDataLst>
              <p:tags r:id="rId14"/>
            </p:custDataLst>
          </p:nvPr>
        </p:nvSpPr>
        <p:spPr>
          <a:xfrm rot="20275352">
            <a:off x="-1146553" y="-2948588"/>
            <a:ext cx="5029200" cy="4114800"/>
          </a:xfrm>
          <a:custGeom>
            <a:avLst/>
            <a:gdLst/>
            <a:ahLst/>
            <a:cxnLst/>
            <a:rect l="l" t="t" r="r" b="b"/>
            <a:pathLst>
              <a:path w="5029200" h="4114800">
                <a:moveTo>
                  <a:pt x="0" y="0"/>
                </a:moveTo>
                <a:lnTo>
                  <a:pt x="5029200" y="0"/>
                </a:lnTo>
                <a:lnTo>
                  <a:pt x="5029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9" name="Freeform 17"/>
          <p:cNvSpPr/>
          <p:nvPr>
            <p:custDataLst>
              <p:tags r:id="rId15"/>
            </p:custDataLst>
          </p:nvPr>
        </p:nvSpPr>
        <p:spPr>
          <a:xfrm rot="2984660">
            <a:off x="15741015" y="8392160"/>
            <a:ext cx="3615690" cy="2789555"/>
          </a:xfrm>
          <a:custGeom>
            <a:avLst/>
            <a:gdLst/>
            <a:ahLst/>
            <a:cxnLst/>
            <a:rect l="l" t="t" r="r" b="b"/>
            <a:pathLst>
              <a:path w="5029200" h="4114800">
                <a:moveTo>
                  <a:pt x="0" y="0"/>
                </a:moveTo>
                <a:lnTo>
                  <a:pt x="5029200" y="0"/>
                </a:lnTo>
                <a:lnTo>
                  <a:pt x="5029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2664460" y="3105785"/>
            <a:ext cx="12651740" cy="1046480"/>
            <a:chOff x="4083" y="3238"/>
            <a:chExt cx="19800" cy="1648"/>
          </a:xfrm>
        </p:grpSpPr>
        <p:grpSp>
          <p:nvGrpSpPr>
            <p:cNvPr id="5" name="Group 4"/>
            <p:cNvGrpSpPr/>
            <p:nvPr/>
          </p:nvGrpSpPr>
          <p:grpSpPr>
            <a:xfrm>
              <a:off x="4083" y="3238"/>
              <a:ext cx="19801" cy="1648"/>
              <a:chOff x="4203" y="3478"/>
              <a:chExt cx="19801" cy="1648"/>
            </a:xfrm>
          </p:grpSpPr>
          <p:sp>
            <p:nvSpPr>
              <p:cNvPr id="6" name="Rounded Rectangle 5"/>
              <p:cNvSpPr/>
              <p:nvPr>
                <p:custDataLst>
                  <p:tags r:id="rId20"/>
                </p:custDataLst>
              </p:nvPr>
            </p:nvSpPr>
            <p:spPr>
              <a:xfrm>
                <a:off x="4920" y="3540"/>
                <a:ext cx="19084" cy="1586"/>
              </a:xfrm>
              <a:prstGeom prst="roundRect">
                <a:avLst/>
              </a:prstGeom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52816" tIns="73660" rIns="73660" bIns="73660" numCol="1" spcCol="1270" anchor="ctr" anchorCtr="0">
                <a:noAutofit/>
              </a:bodyPr>
              <a:lstStyle/>
              <a:p>
                <a:pPr lvl="0" algn="l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900" kern="1200"/>
              </a:p>
            </p:txBody>
          </p:sp>
          <p:sp>
            <p:nvSpPr>
              <p:cNvPr id="7" name="Oval 6"/>
              <p:cNvSpPr/>
              <p:nvPr>
                <p:custDataLst>
                  <p:tags r:id="rId21"/>
                </p:custDataLst>
              </p:nvPr>
            </p:nvSpPr>
            <p:spPr>
              <a:xfrm>
                <a:off x="4203" y="3478"/>
                <a:ext cx="1679" cy="1624"/>
              </a:xfrm>
              <a:prstGeom prst="ellipse">
                <a:avLst/>
              </a:prstGeom>
              <a:ln w="50800">
                <a:solidFill>
                  <a:schemeClr val="bg1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TextBox 56"/>
            <p:cNvSpPr txBox="1"/>
            <p:nvPr>
              <p:custDataLst>
                <p:tags r:id="rId19"/>
              </p:custDataLst>
            </p:nvPr>
          </p:nvSpPr>
          <p:spPr>
            <a:xfrm>
              <a:off x="6019" y="3378"/>
              <a:ext cx="11997" cy="144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Lịch sử vấn đề</a:t>
              </a:r>
            </a:p>
          </p:txBody>
        </p:sp>
      </p:grpSp>
      <p:pic>
        <p:nvPicPr>
          <p:cNvPr id="10" name="Picture 9" descr="Screenshot 2025-05-23 143001"/>
          <p:cNvPicPr>
            <a:picLocks noChangeAspect="1"/>
          </p:cNvPicPr>
          <p:nvPr/>
        </p:nvPicPr>
        <p:blipFill>
          <a:blip r:embed="rId51"/>
          <a:srcRect l="8678" t="7627"/>
          <a:stretch>
            <a:fillRect/>
          </a:stretch>
        </p:blipFill>
        <p:spPr>
          <a:xfrm>
            <a:off x="2816225" y="3194685"/>
            <a:ext cx="779780" cy="768985"/>
          </a:xfrm>
          <a:prstGeom prst="ellipse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1499235" y="8863965"/>
            <a:ext cx="13822680" cy="1046480"/>
            <a:chOff x="5483" y="8958"/>
            <a:chExt cx="18929" cy="1648"/>
          </a:xfrm>
        </p:grpSpPr>
        <p:grpSp>
          <p:nvGrpSpPr>
            <p:cNvPr id="11" name="Group 10"/>
            <p:cNvGrpSpPr/>
            <p:nvPr/>
          </p:nvGrpSpPr>
          <p:grpSpPr>
            <a:xfrm>
              <a:off x="5483" y="8958"/>
              <a:ext cx="18929" cy="1648"/>
              <a:chOff x="4203" y="3478"/>
              <a:chExt cx="18929" cy="1648"/>
            </a:xfrm>
          </p:grpSpPr>
          <p:sp>
            <p:nvSpPr>
              <p:cNvPr id="12" name="Rounded Rectangle 11"/>
              <p:cNvSpPr/>
              <p:nvPr>
                <p:custDataLst>
                  <p:tags r:id="rId17"/>
                </p:custDataLst>
              </p:nvPr>
            </p:nvSpPr>
            <p:spPr>
              <a:xfrm>
                <a:off x="4920" y="3540"/>
                <a:ext cx="18212" cy="1586"/>
              </a:xfrm>
              <a:prstGeom prst="roundRect">
                <a:avLst/>
              </a:prstGeom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52816" tIns="73660" rIns="73660" bIns="73660" numCol="1" spcCol="1270" anchor="ctr" anchorCtr="0">
                <a:noAutofit/>
              </a:bodyPr>
              <a:lstStyle/>
              <a:p>
                <a:pPr lvl="0" algn="l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900" kern="1200"/>
              </a:p>
            </p:txBody>
          </p:sp>
          <p:sp>
            <p:nvSpPr>
              <p:cNvPr id="13" name="Oval 12"/>
              <p:cNvSpPr/>
              <p:nvPr>
                <p:custDataLst>
                  <p:tags r:id="rId18"/>
                </p:custDataLst>
              </p:nvPr>
            </p:nvSpPr>
            <p:spPr>
              <a:xfrm>
                <a:off x="4203" y="3478"/>
                <a:ext cx="1679" cy="1624"/>
              </a:xfrm>
              <a:prstGeom prst="ellipse">
                <a:avLst/>
              </a:prstGeom>
              <a:ln w="50800">
                <a:solidFill>
                  <a:schemeClr val="bg1"/>
                </a:solidFill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" name="TextBox 56"/>
            <p:cNvSpPr txBox="1"/>
            <p:nvPr>
              <p:custDataLst>
                <p:tags r:id="rId16"/>
              </p:custDataLst>
            </p:nvPr>
          </p:nvSpPr>
          <p:spPr>
            <a:xfrm>
              <a:off x="7299" y="9098"/>
              <a:ext cx="11997" cy="144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rPr>
                <a:t>Cấu trúc của đề tài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1752600" y="9029700"/>
            <a:ext cx="742315" cy="642620"/>
          </a:xfrm>
          <a:custGeom>
            <a:avLst/>
            <a:gdLst/>
            <a:ahLst/>
            <a:cxnLst/>
            <a:rect l="l" t="t" r="r" b="b"/>
            <a:pathLst>
              <a:path w="926524" h="950724">
                <a:moveTo>
                  <a:pt x="0" y="0"/>
                </a:moveTo>
                <a:lnTo>
                  <a:pt x="926524" y="0"/>
                </a:lnTo>
                <a:lnTo>
                  <a:pt x="926524" y="950724"/>
                </a:lnTo>
                <a:lnTo>
                  <a:pt x="0" y="950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/>
          <p:cNvGrpSpPr/>
          <p:nvPr/>
        </p:nvGrpSpPr>
        <p:grpSpPr>
          <a:xfrm>
            <a:off x="-76200" y="-419100"/>
            <a:ext cx="13487400" cy="1838325"/>
            <a:chOff x="-120" y="-660"/>
            <a:chExt cx="21240" cy="2895"/>
          </a:xfrm>
        </p:grpSpPr>
        <p:cxnSp>
          <p:nvCxnSpPr>
            <p:cNvPr id="117" name="Google Shape;117;p3"/>
            <p:cNvCxnSpPr/>
            <p:nvPr>
              <p:custDataLst>
                <p:tags r:id="rId23"/>
              </p:custDataLst>
            </p:nvPr>
          </p:nvCxnSpPr>
          <p:spPr>
            <a:xfrm>
              <a:off x="-120" y="210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17;p3"/>
            <p:cNvCxnSpPr/>
            <p:nvPr>
              <p:custDataLst>
                <p:tags r:id="rId24"/>
              </p:custDataLst>
            </p:nvPr>
          </p:nvCxnSpPr>
          <p:spPr>
            <a:xfrm flipV="1">
              <a:off x="2004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" name="Group 120"/>
          <p:cNvGrpSpPr/>
          <p:nvPr/>
        </p:nvGrpSpPr>
        <p:grpSpPr>
          <a:xfrm>
            <a:off x="13106400" y="114300"/>
            <a:ext cx="4928235" cy="1217930"/>
            <a:chOff x="20640" y="180"/>
            <a:chExt cx="7761" cy="1918"/>
          </a:xfrm>
        </p:grpSpPr>
        <p:sp>
          <p:nvSpPr>
            <p:cNvPr id="103" name="Freeform 61"/>
            <p:cNvSpPr/>
            <p:nvPr>
              <p:custDataLst>
                <p:tags r:id="rId21"/>
              </p:custDataLst>
            </p:nvPr>
          </p:nvSpPr>
          <p:spPr>
            <a:xfrm>
              <a:off x="20640" y="180"/>
              <a:ext cx="7761" cy="1918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" name="Text Box 1"/>
            <p:cNvSpPr txBox="1"/>
            <p:nvPr>
              <p:custDataLst>
                <p:tags r:id="rId22"/>
              </p:custDataLst>
            </p:nvPr>
          </p:nvSpPr>
          <p:spPr>
            <a:xfrm>
              <a:off x="21120" y="31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 w="15875"/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BỘ GIÁO DỤC VÀ ĐÀO TẠO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 w="15875"/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36" name="Picture 3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1560" y="114300"/>
            <a:ext cx="1133475" cy="1133475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6693593" y="2581776"/>
            <a:ext cx="5913120" cy="6074410"/>
            <a:chOff x="9504" y="5069"/>
            <a:chExt cx="9312" cy="9566"/>
          </a:xfrm>
        </p:grpSpPr>
        <p:sp>
          <p:nvSpPr>
            <p:cNvPr id="6" name="Freeform 5"/>
            <p:cNvSpPr/>
            <p:nvPr/>
          </p:nvSpPr>
          <p:spPr>
            <a:xfrm>
              <a:off x="9504" y="5069"/>
              <a:ext cx="9312" cy="9566"/>
            </a:xfrm>
            <a:custGeom>
              <a:avLst/>
              <a:gdLst>
                <a:gd name="connsiteX0" fmla="*/ 0 w 3116791"/>
                <a:gd name="connsiteY0" fmla="*/ 1558396 h 3116791"/>
                <a:gd name="connsiteX1" fmla="*/ 1558396 w 3116791"/>
                <a:gd name="connsiteY1" fmla="*/ 0 h 3116791"/>
                <a:gd name="connsiteX2" fmla="*/ 3116792 w 3116791"/>
                <a:gd name="connsiteY2" fmla="*/ 1558396 h 3116791"/>
                <a:gd name="connsiteX3" fmla="*/ 1558396 w 3116791"/>
                <a:gd name="connsiteY3" fmla="*/ 3116792 h 3116791"/>
                <a:gd name="connsiteX4" fmla="*/ 0 w 3116791"/>
                <a:gd name="connsiteY4" fmla="*/ 1558396 h 3116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6791" h="3116791">
                  <a:moveTo>
                    <a:pt x="0" y="1558396"/>
                  </a:moveTo>
                  <a:cubicBezTo>
                    <a:pt x="0" y="697718"/>
                    <a:pt x="697718" y="0"/>
                    <a:pt x="1558396" y="0"/>
                  </a:cubicBezTo>
                  <a:cubicBezTo>
                    <a:pt x="2419074" y="0"/>
                    <a:pt x="3116792" y="697718"/>
                    <a:pt x="3116792" y="1558396"/>
                  </a:cubicBezTo>
                  <a:cubicBezTo>
                    <a:pt x="3116792" y="2419074"/>
                    <a:pt x="2419074" y="3116792"/>
                    <a:pt x="1558396" y="3116792"/>
                  </a:cubicBezTo>
                  <a:cubicBezTo>
                    <a:pt x="697718" y="3116792"/>
                    <a:pt x="0" y="2419074"/>
                    <a:pt x="0" y="1558396"/>
                  </a:cubicBezTo>
                  <a:close/>
                </a:path>
              </a:pathLst>
            </a:custGeom>
            <a:solidFill>
              <a:srgbClr val="0070C0"/>
            </a:solidFill>
            <a:ln w="50800">
              <a:solidFill>
                <a:schemeClr val="accent5">
                  <a:lumMod val="75000"/>
                </a:schemeClr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808489" tIns="808489" rIns="808489" bIns="808489" numCol="1" spcCol="1270" anchor="ctr" anchorCtr="0">
              <a:noAutofit/>
            </a:bodyPr>
            <a:lstStyle/>
            <a:p>
              <a:pPr marL="0" marR="0" lvl="0" indent="0" algn="ctr" defTabSz="28892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endParaRPr>
            </a:p>
          </p:txBody>
        </p:sp>
        <p:sp>
          <p:nvSpPr>
            <p:cNvPr id="89" name="Google Shape;121;p3"/>
            <p:cNvSpPr txBox="1"/>
            <p:nvPr>
              <p:custDataLst>
                <p:tags r:id="rId20"/>
              </p:custDataLst>
            </p:nvPr>
          </p:nvSpPr>
          <p:spPr>
            <a:xfrm>
              <a:off x="11040" y="7922"/>
              <a:ext cx="6064" cy="36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charset="0"/>
                  <a:ea typeface="Calibri" panose="020F0502020204030204"/>
                  <a:cs typeface="Times New Roman" panose="02020603050405020304" charset="0"/>
                  <a:sym typeface="Calibri" panose="020F0502020204030204"/>
                </a:rPr>
                <a:t>Lý do </a:t>
              </a:r>
            </a:p>
            <a:p>
              <a:pPr marL="0" marR="0" lvl="0" indent="0" algn="ctr" defTabSz="914400" rtl="0" eaLnBrk="1" fontAlgn="t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charset="0"/>
                  <a:ea typeface="Calibri" panose="020F0502020204030204"/>
                  <a:cs typeface="Times New Roman" panose="02020603050405020304" charset="0"/>
                  <a:sym typeface="Calibri" panose="020F0502020204030204"/>
                </a:rPr>
                <a:t>chọn đề tài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10795907" y="2649220"/>
            <a:ext cx="7455921" cy="5401945"/>
            <a:chOff x="15012" y="4370"/>
            <a:chExt cx="11190" cy="8507"/>
          </a:xfrm>
        </p:grpSpPr>
        <p:grpSp>
          <p:nvGrpSpPr>
            <p:cNvPr id="9" name="Group 8"/>
            <p:cNvGrpSpPr/>
            <p:nvPr/>
          </p:nvGrpSpPr>
          <p:grpSpPr>
            <a:xfrm>
              <a:off x="15012" y="4370"/>
              <a:ext cx="3238" cy="3200"/>
              <a:chOff x="15012" y="4370"/>
              <a:chExt cx="3238" cy="3200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15012" y="4370"/>
                <a:ext cx="3238" cy="3201"/>
                <a:chOff x="6692707" y="1616783"/>
                <a:chExt cx="1558395" cy="1558395"/>
              </a:xfrm>
            </p:grpSpPr>
            <p:sp>
              <p:nvSpPr>
                <p:cNvPr id="8" name="Freeform 7"/>
                <p:cNvSpPr/>
                <p:nvPr/>
              </p:nvSpPr>
              <p:spPr>
                <a:xfrm>
                  <a:off x="6692707" y="1616783"/>
                  <a:ext cx="1558395" cy="1558395"/>
                </a:xfrm>
                <a:custGeom>
                  <a:avLst/>
                  <a:gdLst>
                    <a:gd name="connsiteX0" fmla="*/ 0 w 1558395"/>
                    <a:gd name="connsiteY0" fmla="*/ 779198 h 1558395"/>
                    <a:gd name="connsiteX1" fmla="*/ 779198 w 1558395"/>
                    <a:gd name="connsiteY1" fmla="*/ 0 h 1558395"/>
                    <a:gd name="connsiteX2" fmla="*/ 1558396 w 1558395"/>
                    <a:gd name="connsiteY2" fmla="*/ 779198 h 1558395"/>
                    <a:gd name="connsiteX3" fmla="*/ 779198 w 1558395"/>
                    <a:gd name="connsiteY3" fmla="*/ 1558396 h 1558395"/>
                    <a:gd name="connsiteX4" fmla="*/ 0 w 1558395"/>
                    <a:gd name="connsiteY4" fmla="*/ 779198 h 1558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58395" h="1558395">
                      <a:moveTo>
                        <a:pt x="0" y="779198"/>
                      </a:moveTo>
                      <a:cubicBezTo>
                        <a:pt x="0" y="348859"/>
                        <a:pt x="348859" y="0"/>
                        <a:pt x="779198" y="0"/>
                      </a:cubicBezTo>
                      <a:cubicBezTo>
                        <a:pt x="1209537" y="0"/>
                        <a:pt x="1558396" y="348859"/>
                        <a:pt x="1558396" y="779198"/>
                      </a:cubicBezTo>
                      <a:cubicBezTo>
                        <a:pt x="1558396" y="1209537"/>
                        <a:pt x="1209537" y="1558396"/>
                        <a:pt x="779198" y="1558396"/>
                      </a:cubicBezTo>
                      <a:cubicBezTo>
                        <a:pt x="348859" y="1558396"/>
                        <a:pt x="0" y="1209537"/>
                        <a:pt x="0" y="779198"/>
                      </a:cubicBezTo>
                      <a:close/>
                    </a:path>
                  </a:pathLst>
                </a:custGeom>
                <a:noFill/>
                <a:ln w="76200">
                  <a:solidFill>
                    <a:schemeClr val="bg1"/>
                  </a:solidFill>
                  <a:prstDash val="solid"/>
                </a:ln>
                <a:effectLst>
                  <a:outerShdw blurRad="88900" dist="38100" dir="2700000" algn="tl" rotWithShape="0">
                    <a:schemeClr val="tx1">
                      <a:alpha val="40000"/>
                    </a:schemeClr>
                  </a:outerShdw>
                </a:effectLst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/>
                </a:fontRef>
              </p:style>
              <p:txBody>
                <a:bodyPr spcFirstLastPara="0" vert="horz" wrap="square" lIns="409008" tIns="409008" rIns="409008" bIns="409008" numCol="1" spcCol="1270" anchor="ctr" anchorCtr="0">
                  <a:noAutofit/>
                </a:bodyPr>
                <a:lstStyle/>
                <a:p>
                  <a:pPr marL="0" marR="0" lvl="0" indent="0" algn="ctr" defTabSz="155575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2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Freeform 12"/>
                <p:cNvSpPr/>
                <p:nvPr/>
              </p:nvSpPr>
              <p:spPr>
                <a:xfrm>
                  <a:off x="6959450" y="1845315"/>
                  <a:ext cx="1024908" cy="1062020"/>
                </a:xfrm>
                <a:custGeom>
                  <a:avLst/>
                  <a:gdLst>
                    <a:gd name="connsiteX0" fmla="*/ 0 w 1558395"/>
                    <a:gd name="connsiteY0" fmla="*/ 779198 h 1558395"/>
                    <a:gd name="connsiteX1" fmla="*/ 779198 w 1558395"/>
                    <a:gd name="connsiteY1" fmla="*/ 0 h 1558395"/>
                    <a:gd name="connsiteX2" fmla="*/ 1558396 w 1558395"/>
                    <a:gd name="connsiteY2" fmla="*/ 779198 h 1558395"/>
                    <a:gd name="connsiteX3" fmla="*/ 779198 w 1558395"/>
                    <a:gd name="connsiteY3" fmla="*/ 1558396 h 1558395"/>
                    <a:gd name="connsiteX4" fmla="*/ 0 w 1558395"/>
                    <a:gd name="connsiteY4" fmla="*/ 779198 h 1558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58395" h="1558395">
                      <a:moveTo>
                        <a:pt x="0" y="779198"/>
                      </a:moveTo>
                      <a:cubicBezTo>
                        <a:pt x="0" y="348859"/>
                        <a:pt x="348859" y="0"/>
                        <a:pt x="779198" y="0"/>
                      </a:cubicBezTo>
                      <a:cubicBezTo>
                        <a:pt x="1209537" y="0"/>
                        <a:pt x="1558396" y="348859"/>
                        <a:pt x="1558396" y="779198"/>
                      </a:cubicBezTo>
                      <a:cubicBezTo>
                        <a:pt x="1558396" y="1209537"/>
                        <a:pt x="1209537" y="1558396"/>
                        <a:pt x="779198" y="1558396"/>
                      </a:cubicBezTo>
                      <a:cubicBezTo>
                        <a:pt x="348859" y="1558396"/>
                        <a:pt x="0" y="1209537"/>
                        <a:pt x="0" y="77919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/>
                </a:fontRef>
              </p:style>
              <p:txBody>
                <a:bodyPr spcFirstLastPara="0" vert="horz" wrap="square" lIns="409008" tIns="409008" rIns="409008" bIns="409008" numCol="1" spcCol="1270" anchor="ctr" anchorCtr="0">
                  <a:noAutofit/>
                </a:bodyPr>
                <a:lstStyle/>
                <a:p>
                  <a:pPr marL="0" marR="0" lvl="0" indent="0" algn="ctr" defTabSz="155575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2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" name="Freeform 11"/>
              <p:cNvSpPr/>
              <p:nvPr>
                <p:custDataLst>
                  <p:tags r:id="rId19"/>
                </p:custDataLst>
              </p:nvPr>
            </p:nvSpPr>
            <p:spPr>
              <a:xfrm>
                <a:off x="16286" y="5340"/>
                <a:ext cx="1100" cy="1060"/>
              </a:xfrm>
              <a:custGeom>
                <a:avLst/>
                <a:gdLst/>
                <a:ahLst/>
                <a:cxnLst/>
                <a:rect l="l" t="t" r="r" b="b"/>
                <a:pathLst>
                  <a:path w="698242" h="672851">
                    <a:moveTo>
                      <a:pt x="0" y="0"/>
                    </a:moveTo>
                    <a:lnTo>
                      <a:pt x="698242" y="0"/>
                    </a:lnTo>
                    <a:lnTo>
                      <a:pt x="698242" y="672851"/>
                    </a:lnTo>
                    <a:lnTo>
                      <a:pt x="0" y="67285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9" name="Google Shape;121;p3"/>
            <p:cNvSpPr txBox="1"/>
            <p:nvPr>
              <p:custDataLst>
                <p:tags r:id="rId17"/>
              </p:custDataLst>
            </p:nvPr>
          </p:nvSpPr>
          <p:spPr>
            <a:xfrm>
              <a:off x="18816" y="4740"/>
              <a:ext cx="7386" cy="20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defTabSz="914400" rtl="0" eaLnBrk="1" fontAlgn="t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endParaRPr>
            </a:p>
          </p:txBody>
        </p:sp>
        <p:sp>
          <p:nvSpPr>
            <p:cNvPr id="47" name="Flowchart: Alternate Process 46"/>
            <p:cNvSpPr/>
            <p:nvPr>
              <p:custDataLst>
                <p:tags r:id="rId18"/>
              </p:custDataLst>
            </p:nvPr>
          </p:nvSpPr>
          <p:spPr>
            <a:xfrm>
              <a:off x="18804" y="4906"/>
              <a:ext cx="5576" cy="7971"/>
            </a:xfrm>
            <a:prstGeom prst="flowChartAlternateProcess">
              <a:avLst/>
            </a:prstGeom>
            <a:solidFill>
              <a:schemeClr val="bg1"/>
            </a:solidFill>
            <a:ln w="38100"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4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vi-VN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Tính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cần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thiết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của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việc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vận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dụng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giáo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dục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STEM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trong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dạy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học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Hình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học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4000" dirty="0" err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lớp</a:t>
              </a:r>
              <a:r>
                <a:rPr lang="en-US" sz="4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3.</a:t>
              </a:r>
            </a:p>
            <a:p>
              <a:pPr algn="ctr"/>
              <a:endParaRPr lang="en-US" sz="4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endParaRPr>
            </a:p>
          </p:txBody>
        </p:sp>
      </p:grpSp>
      <p:sp>
        <p:nvSpPr>
          <p:cNvPr id="50" name="Text Box 49"/>
          <p:cNvSpPr txBox="1"/>
          <p:nvPr/>
        </p:nvSpPr>
        <p:spPr>
          <a:xfrm>
            <a:off x="14276070" y="-268986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154452" y="6707602"/>
            <a:ext cx="8127854" cy="2722880"/>
            <a:chOff x="-421" y="7923"/>
            <a:chExt cx="11776" cy="4288"/>
          </a:xfrm>
        </p:grpSpPr>
        <p:grpSp>
          <p:nvGrpSpPr>
            <p:cNvPr id="15" name="Group 14"/>
            <p:cNvGrpSpPr/>
            <p:nvPr/>
          </p:nvGrpSpPr>
          <p:grpSpPr>
            <a:xfrm>
              <a:off x="8117" y="8137"/>
              <a:ext cx="3238" cy="3201"/>
              <a:chOff x="8117" y="8137"/>
              <a:chExt cx="3238" cy="3201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8117" y="8137"/>
                <a:ext cx="3238" cy="3201"/>
                <a:chOff x="6804365" y="1651836"/>
                <a:chExt cx="1558395" cy="1558395"/>
              </a:xfrm>
            </p:grpSpPr>
            <p:sp>
              <p:nvSpPr>
                <p:cNvPr id="29" name="Freeform 28"/>
                <p:cNvSpPr/>
                <p:nvPr/>
              </p:nvSpPr>
              <p:spPr>
                <a:xfrm>
                  <a:off x="6804365" y="1651836"/>
                  <a:ext cx="1558395" cy="1558395"/>
                </a:xfrm>
                <a:custGeom>
                  <a:avLst/>
                  <a:gdLst>
                    <a:gd name="connsiteX0" fmla="*/ 0 w 1558395"/>
                    <a:gd name="connsiteY0" fmla="*/ 779198 h 1558395"/>
                    <a:gd name="connsiteX1" fmla="*/ 779198 w 1558395"/>
                    <a:gd name="connsiteY1" fmla="*/ 0 h 1558395"/>
                    <a:gd name="connsiteX2" fmla="*/ 1558396 w 1558395"/>
                    <a:gd name="connsiteY2" fmla="*/ 779198 h 1558395"/>
                    <a:gd name="connsiteX3" fmla="*/ 779198 w 1558395"/>
                    <a:gd name="connsiteY3" fmla="*/ 1558396 h 1558395"/>
                    <a:gd name="connsiteX4" fmla="*/ 0 w 1558395"/>
                    <a:gd name="connsiteY4" fmla="*/ 779198 h 1558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58395" h="1558395">
                      <a:moveTo>
                        <a:pt x="0" y="779198"/>
                      </a:moveTo>
                      <a:cubicBezTo>
                        <a:pt x="0" y="348859"/>
                        <a:pt x="348859" y="0"/>
                        <a:pt x="779198" y="0"/>
                      </a:cubicBezTo>
                      <a:cubicBezTo>
                        <a:pt x="1209537" y="0"/>
                        <a:pt x="1558396" y="348859"/>
                        <a:pt x="1558396" y="779198"/>
                      </a:cubicBezTo>
                      <a:cubicBezTo>
                        <a:pt x="1558396" y="1209537"/>
                        <a:pt x="1209537" y="1558396"/>
                        <a:pt x="779198" y="1558396"/>
                      </a:cubicBezTo>
                      <a:cubicBezTo>
                        <a:pt x="348859" y="1558396"/>
                        <a:pt x="0" y="1209537"/>
                        <a:pt x="0" y="779198"/>
                      </a:cubicBezTo>
                      <a:close/>
                    </a:path>
                  </a:pathLst>
                </a:custGeom>
                <a:noFill/>
                <a:ln w="76200">
                  <a:solidFill>
                    <a:schemeClr val="bg1"/>
                  </a:solidFill>
                  <a:prstDash val="solid"/>
                </a:ln>
                <a:effectLst>
                  <a:outerShdw blurRad="88900" dist="38100" dir="2700000" algn="tl" rotWithShape="0">
                    <a:schemeClr val="tx1">
                      <a:alpha val="40000"/>
                    </a:schemeClr>
                  </a:outerShdw>
                </a:effectLst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/>
                </a:fontRef>
              </p:style>
              <p:txBody>
                <a:bodyPr spcFirstLastPara="0" vert="horz" wrap="square" lIns="409008" tIns="409008" rIns="409008" bIns="409008" numCol="1" spcCol="1270" anchor="ctr" anchorCtr="0">
                  <a:noAutofit/>
                </a:bodyPr>
                <a:lstStyle/>
                <a:p>
                  <a:pPr marL="0" marR="0" lvl="0" indent="0" algn="ctr" defTabSz="155575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2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Freeform 29"/>
                <p:cNvSpPr/>
                <p:nvPr/>
              </p:nvSpPr>
              <p:spPr>
                <a:xfrm>
                  <a:off x="7087388" y="1906869"/>
                  <a:ext cx="1024908" cy="1062020"/>
                </a:xfrm>
                <a:custGeom>
                  <a:avLst/>
                  <a:gdLst>
                    <a:gd name="connsiteX0" fmla="*/ 0 w 1558395"/>
                    <a:gd name="connsiteY0" fmla="*/ 779198 h 1558395"/>
                    <a:gd name="connsiteX1" fmla="*/ 779198 w 1558395"/>
                    <a:gd name="connsiteY1" fmla="*/ 0 h 1558395"/>
                    <a:gd name="connsiteX2" fmla="*/ 1558396 w 1558395"/>
                    <a:gd name="connsiteY2" fmla="*/ 779198 h 1558395"/>
                    <a:gd name="connsiteX3" fmla="*/ 779198 w 1558395"/>
                    <a:gd name="connsiteY3" fmla="*/ 1558396 h 1558395"/>
                    <a:gd name="connsiteX4" fmla="*/ 0 w 1558395"/>
                    <a:gd name="connsiteY4" fmla="*/ 779198 h 1558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58395" h="1558395">
                      <a:moveTo>
                        <a:pt x="0" y="779198"/>
                      </a:moveTo>
                      <a:cubicBezTo>
                        <a:pt x="0" y="348859"/>
                        <a:pt x="348859" y="0"/>
                        <a:pt x="779198" y="0"/>
                      </a:cubicBezTo>
                      <a:cubicBezTo>
                        <a:pt x="1209537" y="0"/>
                        <a:pt x="1558396" y="348859"/>
                        <a:pt x="1558396" y="779198"/>
                      </a:cubicBezTo>
                      <a:cubicBezTo>
                        <a:pt x="1558396" y="1209537"/>
                        <a:pt x="1209537" y="1558396"/>
                        <a:pt x="779198" y="1558396"/>
                      </a:cubicBezTo>
                      <a:cubicBezTo>
                        <a:pt x="348859" y="1558396"/>
                        <a:pt x="0" y="1209537"/>
                        <a:pt x="0" y="77919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/>
                </a:fontRef>
              </p:style>
              <p:txBody>
                <a:bodyPr spcFirstLastPara="0" vert="horz" wrap="square" lIns="409008" tIns="409008" rIns="409008" bIns="409008" numCol="1" spcCol="1270" anchor="ctr" anchorCtr="0">
                  <a:noAutofit/>
                </a:bodyPr>
                <a:lstStyle/>
                <a:p>
                  <a:pPr marL="0" marR="0" lvl="0" indent="0" algn="ctr" defTabSz="155575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2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Freeform 7"/>
              <p:cNvSpPr/>
              <p:nvPr>
                <p:custDataLst>
                  <p:tags r:id="rId16"/>
                </p:custDataLst>
              </p:nvPr>
            </p:nvSpPr>
            <p:spPr>
              <a:xfrm>
                <a:off x="9270" y="9089"/>
                <a:ext cx="1156" cy="1322"/>
              </a:xfrm>
              <a:custGeom>
                <a:avLst/>
                <a:gdLst/>
                <a:ahLst/>
                <a:cxnLst/>
                <a:rect l="l" t="t" r="r" b="b"/>
                <a:pathLst>
                  <a:path w="733943" h="839228">
                    <a:moveTo>
                      <a:pt x="0" y="0"/>
                    </a:moveTo>
                    <a:lnTo>
                      <a:pt x="733943" y="0"/>
                    </a:lnTo>
                    <a:lnTo>
                      <a:pt x="733943" y="839228"/>
                    </a:lnTo>
                    <a:lnTo>
                      <a:pt x="0" y="83922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" name="Flowchart: Alternate Process 56"/>
            <p:cNvSpPr/>
            <p:nvPr>
              <p:custDataLst>
                <p:tags r:id="rId15"/>
              </p:custDataLst>
            </p:nvPr>
          </p:nvSpPr>
          <p:spPr>
            <a:xfrm>
              <a:off x="-421" y="7923"/>
              <a:ext cx="8346" cy="4288"/>
            </a:xfrm>
            <a:prstGeom prst="flowChartAlternateProcess">
              <a:avLst/>
            </a:prstGeom>
            <a:solidFill>
              <a:schemeClr val="bg1"/>
            </a:solidFill>
            <a:ln w="38100"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292793" y="2712623"/>
            <a:ext cx="7807325" cy="2656205"/>
            <a:chOff x="1200" y="4123"/>
            <a:chExt cx="12295" cy="4183"/>
          </a:xfrm>
        </p:grpSpPr>
        <p:grpSp>
          <p:nvGrpSpPr>
            <p:cNvPr id="16" name="Group 15"/>
            <p:cNvGrpSpPr/>
            <p:nvPr/>
          </p:nvGrpSpPr>
          <p:grpSpPr>
            <a:xfrm>
              <a:off x="10257" y="4123"/>
              <a:ext cx="3238" cy="3200"/>
              <a:chOff x="10257" y="4123"/>
              <a:chExt cx="3238" cy="3200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10257" y="4123"/>
                <a:ext cx="3238" cy="3201"/>
                <a:chOff x="6692707" y="1616783"/>
                <a:chExt cx="1558395" cy="1558395"/>
              </a:xfrm>
            </p:grpSpPr>
            <p:sp>
              <p:nvSpPr>
                <p:cNvPr id="26" name="Freeform 25"/>
                <p:cNvSpPr/>
                <p:nvPr/>
              </p:nvSpPr>
              <p:spPr>
                <a:xfrm>
                  <a:off x="6692707" y="1616783"/>
                  <a:ext cx="1558395" cy="1558395"/>
                </a:xfrm>
                <a:custGeom>
                  <a:avLst/>
                  <a:gdLst>
                    <a:gd name="connsiteX0" fmla="*/ 0 w 1558395"/>
                    <a:gd name="connsiteY0" fmla="*/ 779198 h 1558395"/>
                    <a:gd name="connsiteX1" fmla="*/ 779198 w 1558395"/>
                    <a:gd name="connsiteY1" fmla="*/ 0 h 1558395"/>
                    <a:gd name="connsiteX2" fmla="*/ 1558396 w 1558395"/>
                    <a:gd name="connsiteY2" fmla="*/ 779198 h 1558395"/>
                    <a:gd name="connsiteX3" fmla="*/ 779198 w 1558395"/>
                    <a:gd name="connsiteY3" fmla="*/ 1558396 h 1558395"/>
                    <a:gd name="connsiteX4" fmla="*/ 0 w 1558395"/>
                    <a:gd name="connsiteY4" fmla="*/ 779198 h 1558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58395" h="1558395">
                      <a:moveTo>
                        <a:pt x="0" y="779198"/>
                      </a:moveTo>
                      <a:cubicBezTo>
                        <a:pt x="0" y="348859"/>
                        <a:pt x="348859" y="0"/>
                        <a:pt x="779198" y="0"/>
                      </a:cubicBezTo>
                      <a:cubicBezTo>
                        <a:pt x="1209537" y="0"/>
                        <a:pt x="1558396" y="348859"/>
                        <a:pt x="1558396" y="779198"/>
                      </a:cubicBezTo>
                      <a:cubicBezTo>
                        <a:pt x="1558396" y="1209537"/>
                        <a:pt x="1209537" y="1558396"/>
                        <a:pt x="779198" y="1558396"/>
                      </a:cubicBezTo>
                      <a:cubicBezTo>
                        <a:pt x="348859" y="1558396"/>
                        <a:pt x="0" y="1209537"/>
                        <a:pt x="0" y="779198"/>
                      </a:cubicBezTo>
                      <a:close/>
                    </a:path>
                  </a:pathLst>
                </a:custGeom>
                <a:noFill/>
                <a:ln w="76200">
                  <a:solidFill>
                    <a:schemeClr val="bg1"/>
                  </a:solidFill>
                  <a:prstDash val="solid"/>
                </a:ln>
                <a:effectLst>
                  <a:outerShdw blurRad="88900" dist="38100" dir="2700000" algn="tl" rotWithShape="0">
                    <a:schemeClr val="tx1">
                      <a:alpha val="40000"/>
                    </a:schemeClr>
                  </a:outerShdw>
                </a:effectLst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/>
                </a:fontRef>
              </p:style>
              <p:txBody>
                <a:bodyPr spcFirstLastPara="0" vert="horz" wrap="square" lIns="409008" tIns="409008" rIns="409008" bIns="409008" numCol="1" spcCol="1270" anchor="ctr" anchorCtr="0">
                  <a:noAutofit/>
                </a:bodyPr>
                <a:lstStyle/>
                <a:p>
                  <a:pPr marL="0" marR="0" lvl="0" indent="0" algn="ctr" defTabSz="155575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2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Freeform 26"/>
                <p:cNvSpPr/>
                <p:nvPr/>
              </p:nvSpPr>
              <p:spPr>
                <a:xfrm>
                  <a:off x="6975730" y="1871816"/>
                  <a:ext cx="1024908" cy="1062020"/>
                </a:xfrm>
                <a:custGeom>
                  <a:avLst/>
                  <a:gdLst>
                    <a:gd name="connsiteX0" fmla="*/ 0 w 1558395"/>
                    <a:gd name="connsiteY0" fmla="*/ 779198 h 1558395"/>
                    <a:gd name="connsiteX1" fmla="*/ 779198 w 1558395"/>
                    <a:gd name="connsiteY1" fmla="*/ 0 h 1558395"/>
                    <a:gd name="connsiteX2" fmla="*/ 1558396 w 1558395"/>
                    <a:gd name="connsiteY2" fmla="*/ 779198 h 1558395"/>
                    <a:gd name="connsiteX3" fmla="*/ 779198 w 1558395"/>
                    <a:gd name="connsiteY3" fmla="*/ 1558396 h 1558395"/>
                    <a:gd name="connsiteX4" fmla="*/ 0 w 1558395"/>
                    <a:gd name="connsiteY4" fmla="*/ 779198 h 1558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58395" h="1558395">
                      <a:moveTo>
                        <a:pt x="0" y="779198"/>
                      </a:moveTo>
                      <a:cubicBezTo>
                        <a:pt x="0" y="348859"/>
                        <a:pt x="348859" y="0"/>
                        <a:pt x="779198" y="0"/>
                      </a:cubicBezTo>
                      <a:cubicBezTo>
                        <a:pt x="1209537" y="0"/>
                        <a:pt x="1558396" y="348859"/>
                        <a:pt x="1558396" y="779198"/>
                      </a:cubicBezTo>
                      <a:cubicBezTo>
                        <a:pt x="1558396" y="1209537"/>
                        <a:pt x="1209537" y="1558396"/>
                        <a:pt x="779198" y="1558396"/>
                      </a:cubicBezTo>
                      <a:cubicBezTo>
                        <a:pt x="348859" y="1558396"/>
                        <a:pt x="0" y="1209537"/>
                        <a:pt x="0" y="77919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alpha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alpha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/>
                </a:fontRef>
              </p:style>
              <p:txBody>
                <a:bodyPr spcFirstLastPara="0" vert="horz" wrap="square" lIns="409008" tIns="409008" rIns="409008" bIns="409008" numCol="1" spcCol="1270" anchor="ctr" anchorCtr="0">
                  <a:noAutofit/>
                </a:bodyPr>
                <a:lstStyle/>
                <a:p>
                  <a:pPr marL="0" marR="0" lvl="0" indent="0" algn="ctr" defTabSz="155575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52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" name="Freeform 33"/>
              <p:cNvSpPr/>
              <p:nvPr>
                <p:custDataLst>
                  <p:tags r:id="rId14"/>
                </p:custDataLst>
              </p:nvPr>
            </p:nvSpPr>
            <p:spPr>
              <a:xfrm>
                <a:off x="11280" y="4980"/>
                <a:ext cx="1241" cy="1452"/>
              </a:xfrm>
              <a:custGeom>
                <a:avLst/>
                <a:gdLst/>
                <a:ahLst/>
                <a:cxnLst/>
                <a:rect l="l" t="t" r="r" b="b"/>
                <a:pathLst>
                  <a:path w="788162" h="922318">
                    <a:moveTo>
                      <a:pt x="0" y="0"/>
                    </a:moveTo>
                    <a:lnTo>
                      <a:pt x="788162" y="0"/>
                    </a:lnTo>
                    <a:lnTo>
                      <a:pt x="788162" y="922318"/>
                    </a:lnTo>
                    <a:lnTo>
                      <a:pt x="0" y="92231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0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" name="Flowchart: Alternate Process 57"/>
            <p:cNvSpPr/>
            <p:nvPr>
              <p:custDataLst>
                <p:tags r:id="rId13"/>
              </p:custDataLst>
            </p:nvPr>
          </p:nvSpPr>
          <p:spPr>
            <a:xfrm>
              <a:off x="1200" y="4333"/>
              <a:ext cx="8743" cy="3973"/>
            </a:xfrm>
            <a:prstGeom prst="flowChartAlternateProcess">
              <a:avLst/>
            </a:prstGeom>
            <a:solidFill>
              <a:schemeClr val="bg1"/>
            </a:solidFill>
            <a:ln w="38100"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Đáp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ứng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mục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tiêu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chương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trình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Giáo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dục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Phổ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thông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 </a:t>
              </a:r>
              <a:r>
                <a:rPr kumimoji="0" lang="vi-VN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+mn-ea"/>
                  <a:cs typeface="Times New Roman" panose="02020603050405020304" charset="0"/>
                </a:rPr>
                <a:t>2018.</a:t>
              </a: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endParaRPr>
            </a:p>
          </p:txBody>
        </p:sp>
      </p:grpSp>
      <p:sp>
        <p:nvSpPr>
          <p:cNvPr id="164" name="Google Shape;164;p5"/>
          <p:cNvSpPr txBox="1"/>
          <p:nvPr>
            <p:custDataLst>
              <p:tags r:id="rId2"/>
            </p:custDataLst>
          </p:nvPr>
        </p:nvSpPr>
        <p:spPr>
          <a:xfrm>
            <a:off x="-9120505" y="3616325"/>
            <a:ext cx="5076190" cy="10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D0F68"/>
                </a:solidFill>
                <a:effectLst/>
                <a:uLnTx/>
                <a:uFillTx/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Mục đích nghiên cứu</a:t>
            </a:r>
          </a:p>
        </p:txBody>
      </p:sp>
      <p:sp>
        <p:nvSpPr>
          <p:cNvPr id="162" name="Google Shape;162;p5"/>
          <p:cNvSpPr txBox="1"/>
          <p:nvPr>
            <p:custDataLst>
              <p:tags r:id="rId3"/>
            </p:custDataLst>
          </p:nvPr>
        </p:nvSpPr>
        <p:spPr>
          <a:xfrm>
            <a:off x="1574800" y="1179830"/>
            <a:ext cx="391858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D0F68"/>
                </a:solidFill>
                <a:effectLst/>
                <a:uLnTx/>
                <a:uFillTx/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Lý do chọn đề tài</a:t>
            </a:r>
          </a:p>
        </p:txBody>
      </p:sp>
      <p:sp>
        <p:nvSpPr>
          <p:cNvPr id="165" name="Google Shape;165;p5"/>
          <p:cNvSpPr/>
          <p:nvPr>
            <p:custDataLst>
              <p:tags r:id="rId4"/>
            </p:custDataLst>
          </p:nvPr>
        </p:nvSpPr>
        <p:spPr>
          <a:xfrm>
            <a:off x="-685800" y="1513840"/>
            <a:ext cx="2034540" cy="83693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1</a:t>
            </a:r>
          </a:p>
        </p:txBody>
      </p:sp>
      <p:sp>
        <p:nvSpPr>
          <p:cNvPr id="166" name="Google Shape;166;p5"/>
          <p:cNvSpPr/>
          <p:nvPr>
            <p:custDataLst>
              <p:tags r:id="rId5"/>
            </p:custDataLst>
          </p:nvPr>
        </p:nvSpPr>
        <p:spPr>
          <a:xfrm>
            <a:off x="-11389360" y="3862070"/>
            <a:ext cx="2034540" cy="842645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2</a:t>
            </a:r>
          </a:p>
        </p:txBody>
      </p:sp>
      <p:sp>
        <p:nvSpPr>
          <p:cNvPr id="167" name="Google Shape;167;p5"/>
          <p:cNvSpPr txBox="1"/>
          <p:nvPr>
            <p:custDataLst>
              <p:tags r:id="rId6"/>
            </p:custDataLst>
          </p:nvPr>
        </p:nvSpPr>
        <p:spPr>
          <a:xfrm>
            <a:off x="-9018270" y="5349875"/>
            <a:ext cx="684403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D0F68"/>
                </a:solidFill>
                <a:effectLst/>
                <a:uLnTx/>
                <a:uFillTx/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Nhiệm vụ, phạm vi nghiên cứu</a:t>
            </a:r>
          </a:p>
        </p:txBody>
      </p:sp>
      <p:sp>
        <p:nvSpPr>
          <p:cNvPr id="168" name="Google Shape;168;p5"/>
          <p:cNvSpPr/>
          <p:nvPr>
            <p:custDataLst>
              <p:tags r:id="rId7"/>
            </p:custDataLst>
          </p:nvPr>
        </p:nvSpPr>
        <p:spPr>
          <a:xfrm>
            <a:off x="-11389360" y="5596255"/>
            <a:ext cx="2034540" cy="83947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3</a:t>
            </a:r>
          </a:p>
        </p:txBody>
      </p:sp>
      <p:sp>
        <p:nvSpPr>
          <p:cNvPr id="169" name="Google Shape;169;p5"/>
          <p:cNvSpPr txBox="1"/>
          <p:nvPr>
            <p:custDataLst>
              <p:tags r:id="rId8"/>
            </p:custDataLst>
          </p:nvPr>
        </p:nvSpPr>
        <p:spPr>
          <a:xfrm>
            <a:off x="-9041765" y="7147560"/>
            <a:ext cx="7554595" cy="108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D0F68"/>
                </a:solidFill>
                <a:effectLst/>
                <a:uLnTx/>
                <a:uFillTx/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Đối tượng nghiên cứu</a:t>
            </a:r>
          </a:p>
        </p:txBody>
      </p:sp>
      <p:sp>
        <p:nvSpPr>
          <p:cNvPr id="170" name="Google Shape;170;p5"/>
          <p:cNvSpPr/>
          <p:nvPr>
            <p:custDataLst>
              <p:tags r:id="rId9"/>
            </p:custDataLst>
          </p:nvPr>
        </p:nvSpPr>
        <p:spPr>
          <a:xfrm>
            <a:off x="-11337290" y="7323455"/>
            <a:ext cx="2034540" cy="87884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4</a:t>
            </a:r>
          </a:p>
        </p:txBody>
      </p:sp>
      <p:sp>
        <p:nvSpPr>
          <p:cNvPr id="171" name="Google Shape;171;p5"/>
          <p:cNvSpPr txBox="1"/>
          <p:nvPr>
            <p:custDataLst>
              <p:tags r:id="rId10"/>
            </p:custDataLst>
          </p:nvPr>
        </p:nvSpPr>
        <p:spPr>
          <a:xfrm>
            <a:off x="-9053195" y="8710295"/>
            <a:ext cx="776224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0D0F68"/>
                </a:solidFill>
                <a:effectLst/>
                <a:uLnTx/>
                <a:uFillTx/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Phương pháp nghiên cứu</a:t>
            </a:r>
          </a:p>
        </p:txBody>
      </p:sp>
      <p:sp>
        <p:nvSpPr>
          <p:cNvPr id="172" name="Google Shape;172;p5"/>
          <p:cNvSpPr/>
          <p:nvPr>
            <p:custDataLst>
              <p:tags r:id="rId11"/>
            </p:custDataLst>
          </p:nvPr>
        </p:nvSpPr>
        <p:spPr>
          <a:xfrm>
            <a:off x="-11412220" y="8978265"/>
            <a:ext cx="2034540" cy="78740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5</a:t>
            </a:r>
          </a:p>
        </p:txBody>
      </p:sp>
      <p:sp>
        <p:nvSpPr>
          <p:cNvPr id="69" name="Text Box 68"/>
          <p:cNvSpPr txBox="1"/>
          <p:nvPr>
            <p:custDataLst>
              <p:tags r:id="rId12"/>
            </p:custDataLst>
          </p:nvPr>
        </p:nvSpPr>
        <p:spPr>
          <a:xfrm>
            <a:off x="4398010" y="1905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uLnTx/>
                <a:uFillTx/>
                <a:latin typeface="Times New Roman" panose="02020603050405020304" charset="0"/>
                <a:ea typeface="+mn-ea"/>
                <a:cs typeface="Times New Roman" panose="02020603050405020304" charset="0"/>
              </a:rPr>
              <a:t>MỞ ĐẦU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17525-15E4-69FD-3B14-D7A029189281}"/>
              </a:ext>
            </a:extLst>
          </p:cNvPr>
          <p:cNvSpPr txBox="1"/>
          <p:nvPr/>
        </p:nvSpPr>
        <p:spPr>
          <a:xfrm>
            <a:off x="525403" y="7014508"/>
            <a:ext cx="49987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dirty="0">
                <a:latin typeface="+mj-lt"/>
              </a:rPr>
              <a:t>Đặc điểm của </a:t>
            </a:r>
          </a:p>
          <a:p>
            <a:r>
              <a:rPr lang="vi-VN" sz="4000" dirty="0">
                <a:latin typeface="+mj-lt"/>
              </a:rPr>
              <a:t>học sinh và nội dung môn Toán lớp 3.</a:t>
            </a:r>
            <a:endParaRPr lang="en-US" sz="40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>
            <a:cxnSpLocks/>
            <a:endCxn id="31" idx="2"/>
          </p:cNvCxnSpPr>
          <p:nvPr/>
        </p:nvCxnSpPr>
        <p:spPr>
          <a:xfrm flipV="1">
            <a:off x="5360136" y="6478214"/>
            <a:ext cx="2230498" cy="988748"/>
          </a:xfrm>
          <a:prstGeom prst="line">
            <a:avLst/>
          </a:prstGeom>
          <a:ln w="38100"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5370656" y="3924301"/>
            <a:ext cx="2096770" cy="1905000"/>
          </a:xfrm>
          <a:prstGeom prst="line">
            <a:avLst/>
          </a:prstGeom>
          <a:ln w="38100"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85308" y="7090769"/>
            <a:ext cx="947864" cy="94786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EDEDEC"/>
              </a:gs>
            </a:gsLst>
            <a:lin ang="5400000" scaled="1"/>
          </a:gradFill>
          <a:ln>
            <a:noFill/>
          </a:ln>
          <a:effectLst>
            <a:outerShdw blurRad="254000" dir="5520000" sx="102000" sy="102000" algn="tl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4" name="Oval 13"/>
          <p:cNvSpPr/>
          <p:nvPr/>
        </p:nvSpPr>
        <p:spPr>
          <a:xfrm>
            <a:off x="3665796" y="7841502"/>
            <a:ext cx="1785150" cy="178515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254000" dir="5520000" sx="102000" sy="102000" algn="tl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2" name="Oval 11"/>
          <p:cNvSpPr/>
          <p:nvPr/>
        </p:nvSpPr>
        <p:spPr>
          <a:xfrm>
            <a:off x="840598" y="4475653"/>
            <a:ext cx="1687118" cy="1687118"/>
          </a:xfrm>
          <a:prstGeom prst="ellipse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rgbClr val="EDEDEC"/>
              </a:gs>
            </a:gsLst>
            <a:lin ang="5400000" scaled="1"/>
          </a:gradFill>
          <a:ln>
            <a:noFill/>
          </a:ln>
          <a:effectLst>
            <a:outerShdw blurRad="254000" dir="5520000" sx="102000" sy="102000" algn="tl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7" name="Oval 6"/>
          <p:cNvSpPr/>
          <p:nvPr/>
        </p:nvSpPr>
        <p:spPr>
          <a:xfrm>
            <a:off x="1581098" y="4760841"/>
            <a:ext cx="4077914" cy="407791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EDEDEC"/>
              </a:gs>
            </a:gsLst>
            <a:lin ang="5400000" scaled="1"/>
          </a:gradFill>
          <a:ln>
            <a:noFill/>
          </a:ln>
          <a:effectLst>
            <a:outerShdw blurRad="254000" dir="5520000" sx="102000" sy="102000" algn="tl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10" name="Oval 9"/>
          <p:cNvSpPr/>
          <p:nvPr/>
        </p:nvSpPr>
        <p:spPr>
          <a:xfrm>
            <a:off x="3169949" y="3495933"/>
            <a:ext cx="2043503" cy="2096463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DEDEC"/>
              </a:gs>
            </a:gsLst>
            <a:lin ang="16200000" scaled="1"/>
            <a:tileRect/>
          </a:gradFill>
          <a:ln>
            <a:noFill/>
          </a:ln>
          <a:effectLst>
            <a:outerShdw blurRad="254000" dir="5520000" sx="102000" sy="102000" algn="tl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2" name="TextBox 1"/>
          <p:cNvSpPr txBox="1"/>
          <p:nvPr/>
        </p:nvSpPr>
        <p:spPr>
          <a:xfrm>
            <a:off x="1085247" y="6302538"/>
            <a:ext cx="506961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Times New Roman" panose="02020603050405020304" charset="0"/>
                <a:cs typeface="Times New Roman" panose="02020603050405020304" charset="0"/>
              </a:rPr>
              <a:t>MỤC TIÊU</a:t>
            </a:r>
          </a:p>
        </p:txBody>
      </p:sp>
      <p:sp>
        <p:nvSpPr>
          <p:cNvPr id="13" name="Oval 12"/>
          <p:cNvSpPr/>
          <p:nvPr/>
        </p:nvSpPr>
        <p:spPr>
          <a:xfrm>
            <a:off x="1384799" y="7338792"/>
            <a:ext cx="1785150" cy="1785150"/>
          </a:xfrm>
          <a:prstGeom prst="ellipse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</a:ln>
          <a:effectLst>
            <a:outerShdw blurRad="254000" dir="5520000" sx="102000" sy="102000" algn="tl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15" name="TextBox 14"/>
          <p:cNvSpPr txBox="1"/>
          <p:nvPr/>
        </p:nvSpPr>
        <p:spPr>
          <a:xfrm>
            <a:off x="7772400" y="2506980"/>
            <a:ext cx="9973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i="1" dirty="0">
                <a:latin typeface="Times New Roman" panose="02020603050405020304" charset="0"/>
                <a:cs typeface="Times New Roman" panose="02020603050405020304" charset="0"/>
              </a:rPr>
              <a:t>Tìm hiểu cơ sở lý luận của dạy học hình học lớp 3 theo hướng giáo dục STEM.</a:t>
            </a:r>
            <a:endParaRPr lang="en-US" sz="3600" b="1" i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1986" y="5093536"/>
            <a:ext cx="10375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3600" b="1" i="1" dirty="0">
                <a:latin typeface="Times New Roman" panose="02020603050405020304" charset="0"/>
                <a:cs typeface="Times New Roman" panose="02020603050405020304" charset="0"/>
              </a:rPr>
              <a:t>Tìm hiểu thực trạng dạy học hình học lớp 3 theo hướng giáo dục STEM của </a:t>
            </a:r>
            <a:r>
              <a:rPr lang="vi-VN" sz="3600" b="1" i="1">
                <a:latin typeface="Times New Roman" panose="02020603050405020304" charset="0"/>
                <a:cs typeface="Times New Roman" panose="02020603050405020304" charset="0"/>
              </a:rPr>
              <a:t>trường TH </a:t>
            </a:r>
            <a:r>
              <a:rPr lang="vi-VN" sz="3600" b="1" i="1" dirty="0">
                <a:latin typeface="Times New Roman" panose="02020603050405020304" charset="0"/>
                <a:cs typeface="Times New Roman" panose="02020603050405020304" charset="0"/>
              </a:rPr>
              <a:t>Quang Trung.</a:t>
            </a:r>
            <a:endParaRPr lang="en-US" sz="3600" b="1" i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334619" y="3705679"/>
            <a:ext cx="437367" cy="437367"/>
          </a:xfrm>
          <a:prstGeom prst="ellips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cxnSp>
        <p:nvCxnSpPr>
          <p:cNvPr id="22" name="Straight Connector 21"/>
          <p:cNvCxnSpPr>
            <a:stCxn id="20" idx="6"/>
          </p:cNvCxnSpPr>
          <p:nvPr/>
        </p:nvCxnSpPr>
        <p:spPr>
          <a:xfrm>
            <a:off x="7772621" y="3924362"/>
            <a:ext cx="9768840" cy="10160"/>
          </a:xfrm>
          <a:prstGeom prst="line">
            <a:avLst/>
          </a:prstGeom>
          <a:ln w="38100"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590634" y="6266820"/>
            <a:ext cx="422787" cy="422787"/>
          </a:xfrm>
          <a:prstGeom prst="ellips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7904461" y="6468030"/>
            <a:ext cx="9631045" cy="72390"/>
          </a:xfrm>
          <a:prstGeom prst="line">
            <a:avLst/>
          </a:prstGeom>
          <a:ln w="38100"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Group 121"/>
          <p:cNvGrpSpPr/>
          <p:nvPr/>
        </p:nvGrpSpPr>
        <p:grpSpPr>
          <a:xfrm>
            <a:off x="5486400" y="-419100"/>
            <a:ext cx="12801600" cy="1905000"/>
            <a:chOff x="9120" y="-660"/>
            <a:chExt cx="20160" cy="3000"/>
          </a:xfrm>
        </p:grpSpPr>
        <p:cxnSp>
          <p:nvCxnSpPr>
            <p:cNvPr id="117" name="Google Shape;117;p3"/>
            <p:cNvCxnSpPr/>
            <p:nvPr>
              <p:custDataLst>
                <p:tags r:id="rId16"/>
              </p:custDataLst>
            </p:nvPr>
          </p:nvCxnSpPr>
          <p:spPr>
            <a:xfrm>
              <a:off x="9120" y="222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17;p3"/>
            <p:cNvCxnSpPr/>
            <p:nvPr>
              <p:custDataLst>
                <p:tags r:id="rId17"/>
              </p:custDataLst>
            </p:nvPr>
          </p:nvCxnSpPr>
          <p:spPr>
            <a:xfrm flipV="1">
              <a:off x="912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" name="Group 120"/>
          <p:cNvGrpSpPr/>
          <p:nvPr/>
        </p:nvGrpSpPr>
        <p:grpSpPr>
          <a:xfrm>
            <a:off x="228600" y="114935"/>
            <a:ext cx="5485765" cy="1286510"/>
            <a:chOff x="27600" y="432"/>
            <a:chExt cx="8639" cy="2026"/>
          </a:xfrm>
        </p:grpSpPr>
        <p:sp>
          <p:nvSpPr>
            <p:cNvPr id="103" name="Freeform 61"/>
            <p:cNvSpPr/>
            <p:nvPr>
              <p:custDataLst>
                <p:tags r:id="rId14"/>
              </p:custDataLst>
            </p:nvPr>
          </p:nvSpPr>
          <p:spPr>
            <a:xfrm rot="10800000">
              <a:off x="27600" y="432"/>
              <a:ext cx="8639" cy="2026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 Box 5"/>
            <p:cNvSpPr txBox="1"/>
            <p:nvPr>
              <p:custDataLst>
                <p:tags r:id="rId15"/>
              </p:custDataLst>
            </p:nvPr>
          </p:nvSpPr>
          <p:spPr>
            <a:xfrm>
              <a:off x="27960" y="67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36" name="Picture 3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65" y="200025"/>
            <a:ext cx="1133475" cy="1133475"/>
          </a:xfrm>
          <a:prstGeom prst="rect">
            <a:avLst/>
          </a:prstGeom>
        </p:spPr>
      </p:pic>
      <p:sp>
        <p:nvSpPr>
          <p:cNvPr id="50" name="Text Box 49"/>
          <p:cNvSpPr txBox="1"/>
          <p:nvPr>
            <p:custDataLst>
              <p:tags r:id="rId2"/>
            </p:custDataLst>
          </p:nvPr>
        </p:nvSpPr>
        <p:spPr>
          <a:xfrm>
            <a:off x="14276070" y="-268986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64" name="Google Shape;164;p5"/>
          <p:cNvSpPr txBox="1"/>
          <p:nvPr>
            <p:custDataLst>
              <p:tags r:id="rId3"/>
            </p:custDataLst>
          </p:nvPr>
        </p:nvSpPr>
        <p:spPr>
          <a:xfrm>
            <a:off x="-9120505" y="3616325"/>
            <a:ext cx="5076190" cy="10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Mục đích nghiên cứu</a:t>
            </a:r>
          </a:p>
        </p:txBody>
      </p:sp>
      <p:sp>
        <p:nvSpPr>
          <p:cNvPr id="162" name="Google Shape;162;p5"/>
          <p:cNvSpPr txBox="1"/>
          <p:nvPr>
            <p:custDataLst>
              <p:tags r:id="rId4"/>
            </p:custDataLst>
          </p:nvPr>
        </p:nvSpPr>
        <p:spPr>
          <a:xfrm>
            <a:off x="-9169400" y="1941830"/>
            <a:ext cx="391858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Lí do chọn đề tài</a:t>
            </a:r>
          </a:p>
        </p:txBody>
      </p:sp>
      <p:sp>
        <p:nvSpPr>
          <p:cNvPr id="165" name="Google Shape;165;p5"/>
          <p:cNvSpPr/>
          <p:nvPr>
            <p:custDataLst>
              <p:tags r:id="rId5"/>
            </p:custDataLst>
          </p:nvPr>
        </p:nvSpPr>
        <p:spPr>
          <a:xfrm>
            <a:off x="-11430000" y="2275840"/>
            <a:ext cx="2034540" cy="83693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1</a:t>
            </a:r>
          </a:p>
        </p:txBody>
      </p:sp>
      <p:sp>
        <p:nvSpPr>
          <p:cNvPr id="166" name="Google Shape;166;p5"/>
          <p:cNvSpPr/>
          <p:nvPr>
            <p:custDataLst>
              <p:tags r:id="rId6"/>
            </p:custDataLst>
          </p:nvPr>
        </p:nvSpPr>
        <p:spPr>
          <a:xfrm>
            <a:off x="-11389360" y="3862070"/>
            <a:ext cx="2034540" cy="842645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2</a:t>
            </a:r>
          </a:p>
        </p:txBody>
      </p:sp>
      <p:sp>
        <p:nvSpPr>
          <p:cNvPr id="167" name="Google Shape;167;p5"/>
          <p:cNvSpPr txBox="1"/>
          <p:nvPr>
            <p:custDataLst>
              <p:tags r:id="rId7"/>
            </p:custDataLst>
          </p:nvPr>
        </p:nvSpPr>
        <p:spPr>
          <a:xfrm>
            <a:off x="1573530" y="1311275"/>
            <a:ext cx="684403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Mục tiêu của đề tài</a:t>
            </a:r>
          </a:p>
        </p:txBody>
      </p:sp>
      <p:sp>
        <p:nvSpPr>
          <p:cNvPr id="168" name="Google Shape;168;p5"/>
          <p:cNvSpPr/>
          <p:nvPr>
            <p:custDataLst>
              <p:tags r:id="rId8"/>
            </p:custDataLst>
          </p:nvPr>
        </p:nvSpPr>
        <p:spPr>
          <a:xfrm>
            <a:off x="-568960" y="1557655"/>
            <a:ext cx="2034540" cy="83947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3</a:t>
            </a:r>
          </a:p>
        </p:txBody>
      </p:sp>
      <p:sp>
        <p:nvSpPr>
          <p:cNvPr id="169" name="Google Shape;169;p5"/>
          <p:cNvSpPr txBox="1"/>
          <p:nvPr>
            <p:custDataLst>
              <p:tags r:id="rId9"/>
            </p:custDataLst>
          </p:nvPr>
        </p:nvSpPr>
        <p:spPr>
          <a:xfrm>
            <a:off x="-9041765" y="7147560"/>
            <a:ext cx="7554595" cy="108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Đối tượng nghiên cứu</a:t>
            </a:r>
          </a:p>
        </p:txBody>
      </p:sp>
      <p:sp>
        <p:nvSpPr>
          <p:cNvPr id="170" name="Google Shape;170;p5"/>
          <p:cNvSpPr/>
          <p:nvPr>
            <p:custDataLst>
              <p:tags r:id="rId10"/>
            </p:custDataLst>
          </p:nvPr>
        </p:nvSpPr>
        <p:spPr>
          <a:xfrm>
            <a:off x="-11337290" y="7323455"/>
            <a:ext cx="2034540" cy="87884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4</a:t>
            </a:r>
          </a:p>
        </p:txBody>
      </p:sp>
      <p:sp>
        <p:nvSpPr>
          <p:cNvPr id="171" name="Google Shape;171;p5"/>
          <p:cNvSpPr txBox="1"/>
          <p:nvPr>
            <p:custDataLst>
              <p:tags r:id="rId11"/>
            </p:custDataLst>
          </p:nvPr>
        </p:nvSpPr>
        <p:spPr>
          <a:xfrm>
            <a:off x="-9053195" y="8710295"/>
            <a:ext cx="776224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Phương pháp nghiên cứu</a:t>
            </a:r>
          </a:p>
        </p:txBody>
      </p:sp>
      <p:sp>
        <p:nvSpPr>
          <p:cNvPr id="172" name="Google Shape;172;p5"/>
          <p:cNvSpPr/>
          <p:nvPr>
            <p:custDataLst>
              <p:tags r:id="rId12"/>
            </p:custDataLst>
          </p:nvPr>
        </p:nvSpPr>
        <p:spPr>
          <a:xfrm>
            <a:off x="-11412220" y="8978265"/>
            <a:ext cx="2034540" cy="78740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5</a:t>
            </a:r>
          </a:p>
        </p:txBody>
      </p:sp>
      <p:sp>
        <p:nvSpPr>
          <p:cNvPr id="69" name="Text Box 68"/>
          <p:cNvSpPr txBox="1"/>
          <p:nvPr>
            <p:custDataLst>
              <p:tags r:id="rId13"/>
            </p:custDataLst>
          </p:nvPr>
        </p:nvSpPr>
        <p:spPr>
          <a:xfrm>
            <a:off x="9579610" y="2667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7200" b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Times New Roman" panose="02020603050405020304" charset="0"/>
                <a:cs typeface="Times New Roman" panose="02020603050405020304" charset="0"/>
              </a:rPr>
              <a:t>MỞ ĐẦU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281CB0-4D6D-1CF3-0A30-5708E50EE513}"/>
              </a:ext>
            </a:extLst>
          </p:cNvPr>
          <p:cNvCxnSpPr>
            <a:cxnSpLocks/>
          </p:cNvCxnSpPr>
          <p:nvPr/>
        </p:nvCxnSpPr>
        <p:spPr>
          <a:xfrm>
            <a:off x="5519330" y="7499345"/>
            <a:ext cx="2173041" cy="1624597"/>
          </a:xfrm>
          <a:prstGeom prst="line">
            <a:avLst/>
          </a:prstGeom>
          <a:ln w="38100"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0F9579C9-1A58-ABBE-7999-2BADD0E60AD5}"/>
              </a:ext>
            </a:extLst>
          </p:cNvPr>
          <p:cNvSpPr/>
          <p:nvPr/>
        </p:nvSpPr>
        <p:spPr>
          <a:xfrm>
            <a:off x="7612037" y="8912548"/>
            <a:ext cx="422787" cy="422787"/>
          </a:xfrm>
          <a:prstGeom prst="ellipse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0A9A1B-9158-23C5-390E-FE823E45AF7A}"/>
              </a:ext>
            </a:extLst>
          </p:cNvPr>
          <p:cNvCxnSpPr>
            <a:cxnSpLocks/>
          </p:cNvCxnSpPr>
          <p:nvPr/>
        </p:nvCxnSpPr>
        <p:spPr>
          <a:xfrm>
            <a:off x="8034824" y="9087746"/>
            <a:ext cx="9631045" cy="72390"/>
          </a:xfrm>
          <a:prstGeom prst="line">
            <a:avLst/>
          </a:prstGeom>
          <a:ln w="38100"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55AED16-D40E-C3B9-6046-5EE5D29952A0}"/>
              </a:ext>
            </a:extLst>
          </p:cNvPr>
          <p:cNvSpPr txBox="1"/>
          <p:nvPr/>
        </p:nvSpPr>
        <p:spPr>
          <a:xfrm>
            <a:off x="7989343" y="7841502"/>
            <a:ext cx="9843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Thiết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kế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một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số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bài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dạy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về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hình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học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STEM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về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nội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dung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hình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học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cho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học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sinh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3600" b="1" i="1" dirty="0" err="1">
                <a:latin typeface="Times New Roman" panose="02020603050405020304" charset="0"/>
                <a:cs typeface="Times New Roman" panose="02020603050405020304" charset="0"/>
              </a:rPr>
              <a:t>lớp</a:t>
            </a:r>
            <a:r>
              <a:rPr lang="en-US" sz="3600" b="1" i="1" dirty="0">
                <a:latin typeface="Times New Roman" panose="02020603050405020304" charset="0"/>
                <a:cs typeface="Times New Roman" panose="02020603050405020304" charset="0"/>
              </a:rPr>
              <a:t> 3.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25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750"/>
                            </p:stCondLst>
                            <p:childTnLst>
                              <p:par>
                                <p:cTn id="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4" grpId="0" bldLvl="0" animBg="1"/>
      <p:bldP spid="12" grpId="0" bldLvl="0" animBg="1"/>
      <p:bldP spid="7" grpId="0" bldLvl="0" animBg="1"/>
      <p:bldP spid="10" grpId="0" bldLvl="0" animBg="1"/>
      <p:bldP spid="2" grpId="0"/>
      <p:bldP spid="13" grpId="0" bldLvl="0" animBg="1"/>
      <p:bldP spid="15" grpId="0"/>
      <p:bldP spid="17" grpId="0"/>
      <p:bldP spid="20" grpId="0" bldLvl="0" animBg="1"/>
      <p:bldP spid="31" grpId="0" bldLvl="0" animBg="1"/>
      <p:bldP spid="8" grpId="0" bldLvl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/>
          <p:cNvGrpSpPr/>
          <p:nvPr/>
        </p:nvGrpSpPr>
        <p:grpSpPr>
          <a:xfrm>
            <a:off x="5486400" y="-419100"/>
            <a:ext cx="12801600" cy="1905000"/>
            <a:chOff x="9120" y="-660"/>
            <a:chExt cx="20160" cy="3000"/>
          </a:xfrm>
        </p:grpSpPr>
        <p:cxnSp>
          <p:nvCxnSpPr>
            <p:cNvPr id="117" name="Google Shape;117;p3"/>
            <p:cNvCxnSpPr/>
            <p:nvPr>
              <p:custDataLst>
                <p:tags r:id="rId16"/>
              </p:custDataLst>
            </p:nvPr>
          </p:nvCxnSpPr>
          <p:spPr>
            <a:xfrm>
              <a:off x="9120" y="222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17;p3"/>
            <p:cNvCxnSpPr/>
            <p:nvPr>
              <p:custDataLst>
                <p:tags r:id="rId17"/>
              </p:custDataLst>
            </p:nvPr>
          </p:nvCxnSpPr>
          <p:spPr>
            <a:xfrm flipV="1">
              <a:off x="912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" name="Group 120"/>
          <p:cNvGrpSpPr/>
          <p:nvPr/>
        </p:nvGrpSpPr>
        <p:grpSpPr>
          <a:xfrm>
            <a:off x="228600" y="114935"/>
            <a:ext cx="5485765" cy="1286510"/>
            <a:chOff x="27600" y="432"/>
            <a:chExt cx="8639" cy="2026"/>
          </a:xfrm>
        </p:grpSpPr>
        <p:sp>
          <p:nvSpPr>
            <p:cNvPr id="103" name="Freeform 61"/>
            <p:cNvSpPr/>
            <p:nvPr>
              <p:custDataLst>
                <p:tags r:id="rId14"/>
              </p:custDataLst>
            </p:nvPr>
          </p:nvSpPr>
          <p:spPr>
            <a:xfrm rot="10800000">
              <a:off x="27600" y="432"/>
              <a:ext cx="8639" cy="2026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 Box 1"/>
            <p:cNvSpPr txBox="1"/>
            <p:nvPr>
              <p:custDataLst>
                <p:tags r:id="rId15"/>
              </p:custDataLst>
            </p:nvPr>
          </p:nvSpPr>
          <p:spPr>
            <a:xfrm>
              <a:off x="27960" y="67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36" name="Picture 3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65" y="200025"/>
            <a:ext cx="1133475" cy="1133475"/>
          </a:xfrm>
          <a:prstGeom prst="rect">
            <a:avLst/>
          </a:prstGeom>
        </p:spPr>
      </p:pic>
      <p:sp>
        <p:nvSpPr>
          <p:cNvPr id="50" name="Text Box 49"/>
          <p:cNvSpPr txBox="1"/>
          <p:nvPr>
            <p:custDataLst>
              <p:tags r:id="rId2"/>
            </p:custDataLst>
          </p:nvPr>
        </p:nvSpPr>
        <p:spPr>
          <a:xfrm>
            <a:off x="14276070" y="-268986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64" name="Google Shape;164;p5"/>
          <p:cNvSpPr txBox="1"/>
          <p:nvPr>
            <p:custDataLst>
              <p:tags r:id="rId3"/>
            </p:custDataLst>
          </p:nvPr>
        </p:nvSpPr>
        <p:spPr>
          <a:xfrm>
            <a:off x="-9120505" y="3616325"/>
            <a:ext cx="5076190" cy="10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Mục đích nghiên cứu</a:t>
            </a:r>
          </a:p>
        </p:txBody>
      </p:sp>
      <p:sp>
        <p:nvSpPr>
          <p:cNvPr id="162" name="Google Shape;162;p5"/>
          <p:cNvSpPr txBox="1"/>
          <p:nvPr>
            <p:custDataLst>
              <p:tags r:id="rId4"/>
            </p:custDataLst>
          </p:nvPr>
        </p:nvSpPr>
        <p:spPr>
          <a:xfrm>
            <a:off x="-9169400" y="1941830"/>
            <a:ext cx="391858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Lí do chọn đề tài</a:t>
            </a:r>
          </a:p>
        </p:txBody>
      </p:sp>
      <p:sp>
        <p:nvSpPr>
          <p:cNvPr id="165" name="Google Shape;165;p5"/>
          <p:cNvSpPr/>
          <p:nvPr>
            <p:custDataLst>
              <p:tags r:id="rId5"/>
            </p:custDataLst>
          </p:nvPr>
        </p:nvSpPr>
        <p:spPr>
          <a:xfrm>
            <a:off x="-11430000" y="2275840"/>
            <a:ext cx="2034540" cy="83693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1</a:t>
            </a:r>
          </a:p>
        </p:txBody>
      </p:sp>
      <p:sp>
        <p:nvSpPr>
          <p:cNvPr id="166" name="Google Shape;166;p5"/>
          <p:cNvSpPr/>
          <p:nvPr>
            <p:custDataLst>
              <p:tags r:id="rId6"/>
            </p:custDataLst>
          </p:nvPr>
        </p:nvSpPr>
        <p:spPr>
          <a:xfrm>
            <a:off x="-11389360" y="3862070"/>
            <a:ext cx="2034540" cy="842645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2</a:t>
            </a:r>
          </a:p>
        </p:txBody>
      </p:sp>
      <p:sp>
        <p:nvSpPr>
          <p:cNvPr id="167" name="Google Shape;167;p5"/>
          <p:cNvSpPr txBox="1"/>
          <p:nvPr>
            <p:custDataLst>
              <p:tags r:id="rId7"/>
            </p:custDataLst>
          </p:nvPr>
        </p:nvSpPr>
        <p:spPr>
          <a:xfrm>
            <a:off x="1573530" y="1311275"/>
            <a:ext cx="782066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Cấu trúc của đề tài</a:t>
            </a:r>
          </a:p>
        </p:txBody>
      </p:sp>
      <p:sp>
        <p:nvSpPr>
          <p:cNvPr id="168" name="Google Shape;168;p5"/>
          <p:cNvSpPr/>
          <p:nvPr>
            <p:custDataLst>
              <p:tags r:id="rId8"/>
            </p:custDataLst>
          </p:nvPr>
        </p:nvSpPr>
        <p:spPr>
          <a:xfrm>
            <a:off x="-568960" y="1557655"/>
            <a:ext cx="2034540" cy="83947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6</a:t>
            </a:r>
          </a:p>
        </p:txBody>
      </p:sp>
      <p:sp>
        <p:nvSpPr>
          <p:cNvPr id="169" name="Google Shape;169;p5"/>
          <p:cNvSpPr txBox="1"/>
          <p:nvPr>
            <p:custDataLst>
              <p:tags r:id="rId9"/>
            </p:custDataLst>
          </p:nvPr>
        </p:nvSpPr>
        <p:spPr>
          <a:xfrm>
            <a:off x="-9041765" y="7147560"/>
            <a:ext cx="7554595" cy="108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Đối tượng nghiên cứu</a:t>
            </a:r>
          </a:p>
        </p:txBody>
      </p:sp>
      <p:sp>
        <p:nvSpPr>
          <p:cNvPr id="170" name="Google Shape;170;p5"/>
          <p:cNvSpPr/>
          <p:nvPr>
            <p:custDataLst>
              <p:tags r:id="rId10"/>
            </p:custDataLst>
          </p:nvPr>
        </p:nvSpPr>
        <p:spPr>
          <a:xfrm>
            <a:off x="-11337290" y="7323455"/>
            <a:ext cx="2034540" cy="87884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4</a:t>
            </a:r>
          </a:p>
        </p:txBody>
      </p:sp>
      <p:sp>
        <p:nvSpPr>
          <p:cNvPr id="171" name="Google Shape;171;p5"/>
          <p:cNvSpPr txBox="1"/>
          <p:nvPr>
            <p:custDataLst>
              <p:tags r:id="rId11"/>
            </p:custDataLst>
          </p:nvPr>
        </p:nvSpPr>
        <p:spPr>
          <a:xfrm>
            <a:off x="-9053195" y="8710295"/>
            <a:ext cx="776224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D0F68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Phương pháp nghiên cứu</a:t>
            </a:r>
          </a:p>
        </p:txBody>
      </p:sp>
      <p:sp>
        <p:nvSpPr>
          <p:cNvPr id="172" name="Google Shape;172;p5"/>
          <p:cNvSpPr/>
          <p:nvPr>
            <p:custDataLst>
              <p:tags r:id="rId12"/>
            </p:custDataLst>
          </p:nvPr>
        </p:nvSpPr>
        <p:spPr>
          <a:xfrm>
            <a:off x="-11412220" y="8978265"/>
            <a:ext cx="2034540" cy="787400"/>
          </a:xfrm>
          <a:prstGeom prst="parallelogram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lt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5</a:t>
            </a:r>
          </a:p>
        </p:txBody>
      </p:sp>
      <p:sp>
        <p:nvSpPr>
          <p:cNvPr id="69" name="Text Box 68"/>
          <p:cNvSpPr txBox="1"/>
          <p:nvPr>
            <p:custDataLst>
              <p:tags r:id="rId13"/>
            </p:custDataLst>
          </p:nvPr>
        </p:nvSpPr>
        <p:spPr>
          <a:xfrm>
            <a:off x="9579610" y="2667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sz="7200" b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Times New Roman" panose="02020603050405020304" charset="0"/>
                <a:cs typeface="Times New Roman" panose="02020603050405020304" charset="0"/>
              </a:rPr>
              <a:t>MỞ ĐẦU</a:t>
            </a:r>
          </a:p>
        </p:txBody>
      </p:sp>
      <p:sp>
        <p:nvSpPr>
          <p:cNvPr id="295" name="Google Shape;295;p9"/>
          <p:cNvSpPr/>
          <p:nvPr/>
        </p:nvSpPr>
        <p:spPr>
          <a:xfrm>
            <a:off x="9927590" y="4402455"/>
            <a:ext cx="5947410" cy="403479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5F49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2346960" y="4381500"/>
            <a:ext cx="5734050" cy="403479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5F49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057400" y="4540250"/>
            <a:ext cx="5772785" cy="469138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Chương</a:t>
            </a:r>
            <a:r>
              <a:rPr lang="en-US" sz="4000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CỞ SỞ LÝ LUẬN</a:t>
            </a:r>
            <a:r>
              <a:rPr lang="vi-VN" sz="4000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VÀ THỰC TIỄN</a:t>
            </a:r>
            <a:endParaRPr lang="en-US" sz="4000" dirty="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9601200" y="4533900"/>
            <a:ext cx="6075680" cy="469138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vi-VN" sz="4000" dirty="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vi-VN" sz="4000" dirty="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Chương</a:t>
            </a:r>
            <a:r>
              <a:rPr lang="en-US" sz="4000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2</a:t>
            </a:r>
            <a:endParaRPr lang="vi-VN" sz="4000" dirty="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MỘT SỐ BÀI DẠY GIÁO DỤC STEM VỀ HÌNH HỌC LỚP 3</a:t>
            </a:r>
            <a:endParaRPr lang="en-US" sz="4000" kern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4648200" y="3009900"/>
            <a:ext cx="1219200" cy="10490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185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12496800" y="2933700"/>
            <a:ext cx="1219200" cy="10490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1859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BD3"/>
            </a:gs>
            <a:gs pos="100000">
              <a:srgbClr val="03437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>
            <p:custDataLst>
              <p:tags r:id="rId1"/>
            </p:custDataLst>
          </p:nvPr>
        </p:nvSpPr>
        <p:spPr>
          <a:xfrm rot="-3552420">
            <a:off x="11146364" y="-4694982"/>
            <a:ext cx="7139112" cy="8541230"/>
          </a:xfrm>
          <a:custGeom>
            <a:avLst/>
            <a:gdLst/>
            <a:ahLst/>
            <a:cxnLst/>
            <a:rect l="l" t="t" r="r" b="b"/>
            <a:pathLst>
              <a:path w="7139112" h="8541230">
                <a:moveTo>
                  <a:pt x="0" y="0"/>
                </a:moveTo>
                <a:lnTo>
                  <a:pt x="7139112" y="0"/>
                </a:lnTo>
                <a:lnTo>
                  <a:pt x="7139112" y="8541230"/>
                </a:lnTo>
                <a:lnTo>
                  <a:pt x="0" y="8541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90576" r="-1029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9770781" y="-200175"/>
            <a:ext cx="7088469" cy="13622034"/>
          </a:xfrm>
          <a:custGeom>
            <a:avLst/>
            <a:gdLst/>
            <a:ahLst/>
            <a:cxnLst/>
            <a:rect l="l" t="t" r="r" b="b"/>
            <a:pathLst>
              <a:path w="8401149" h="16144633">
                <a:moveTo>
                  <a:pt x="0" y="0"/>
                </a:moveTo>
                <a:lnTo>
                  <a:pt x="8401149" y="0"/>
                </a:lnTo>
                <a:lnTo>
                  <a:pt x="8401149" y="16144633"/>
                </a:lnTo>
                <a:lnTo>
                  <a:pt x="0" y="161446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3124069" y="-2704980"/>
            <a:ext cx="7088469" cy="13622034"/>
          </a:xfrm>
          <a:custGeom>
            <a:avLst/>
            <a:gdLst/>
            <a:ahLst/>
            <a:cxnLst/>
            <a:rect l="l" t="t" r="r" b="b"/>
            <a:pathLst>
              <a:path w="8401149" h="16144633">
                <a:moveTo>
                  <a:pt x="8401149" y="0"/>
                </a:moveTo>
                <a:lnTo>
                  <a:pt x="0" y="0"/>
                </a:lnTo>
                <a:lnTo>
                  <a:pt x="0" y="16144632"/>
                </a:lnTo>
                <a:lnTo>
                  <a:pt x="8401149" y="16144632"/>
                </a:lnTo>
                <a:lnTo>
                  <a:pt x="8401149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1"/>
          <p:cNvSpPr/>
          <p:nvPr>
            <p:custDataLst>
              <p:tags r:id="rId2"/>
            </p:custDataLst>
          </p:nvPr>
        </p:nvSpPr>
        <p:spPr>
          <a:xfrm rot="-3552420">
            <a:off x="-1197988" y="6887754"/>
            <a:ext cx="7139112" cy="8541230"/>
          </a:xfrm>
          <a:custGeom>
            <a:avLst/>
            <a:gdLst/>
            <a:ahLst/>
            <a:cxnLst/>
            <a:rect l="l" t="t" r="r" b="b"/>
            <a:pathLst>
              <a:path w="7139112" h="8541230">
                <a:moveTo>
                  <a:pt x="0" y="0"/>
                </a:moveTo>
                <a:lnTo>
                  <a:pt x="7139112" y="0"/>
                </a:lnTo>
                <a:lnTo>
                  <a:pt x="7139112" y="8541230"/>
                </a:lnTo>
                <a:lnTo>
                  <a:pt x="0" y="8541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90576" r="-1029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779115" y="418975"/>
            <a:ext cx="2022234" cy="2000173"/>
          </a:xfrm>
          <a:custGeom>
            <a:avLst/>
            <a:gdLst/>
            <a:ahLst/>
            <a:cxnLst/>
            <a:rect l="l" t="t" r="r" b="b"/>
            <a:pathLst>
              <a:path w="2396722" h="2370575">
                <a:moveTo>
                  <a:pt x="0" y="0"/>
                </a:moveTo>
                <a:lnTo>
                  <a:pt x="2396722" y="0"/>
                </a:lnTo>
                <a:lnTo>
                  <a:pt x="2396722" y="2370575"/>
                </a:lnTo>
                <a:lnTo>
                  <a:pt x="0" y="2370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838200" y="7810577"/>
            <a:ext cx="2022234" cy="2000173"/>
          </a:xfrm>
          <a:custGeom>
            <a:avLst/>
            <a:gdLst/>
            <a:ahLst/>
            <a:cxnLst/>
            <a:rect l="l" t="t" r="r" b="b"/>
            <a:pathLst>
              <a:path w="2396722" h="2370575">
                <a:moveTo>
                  <a:pt x="2396722" y="2370575"/>
                </a:moveTo>
                <a:lnTo>
                  <a:pt x="0" y="2370575"/>
                </a:lnTo>
                <a:lnTo>
                  <a:pt x="0" y="0"/>
                </a:lnTo>
                <a:lnTo>
                  <a:pt x="2396722" y="0"/>
                </a:lnTo>
                <a:lnTo>
                  <a:pt x="2396722" y="237057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473710" y="4562475"/>
            <a:ext cx="12785090" cy="5353180"/>
            <a:chOff x="746" y="7185"/>
            <a:chExt cx="19174" cy="5572"/>
          </a:xfrm>
        </p:grpSpPr>
        <p:sp>
          <p:nvSpPr>
            <p:cNvPr id="4" name="Freeform 4"/>
            <p:cNvSpPr/>
            <p:nvPr/>
          </p:nvSpPr>
          <p:spPr>
            <a:xfrm>
              <a:off x="746" y="7185"/>
              <a:ext cx="19175" cy="5573"/>
            </a:xfrm>
            <a:custGeom>
              <a:avLst/>
              <a:gdLst/>
              <a:ahLst/>
              <a:cxnLst/>
              <a:rect l="l" t="t" r="r" b="b"/>
              <a:pathLst>
                <a:path w="5463368" h="2492504">
                  <a:moveTo>
                    <a:pt x="0" y="0"/>
                  </a:moveTo>
                  <a:lnTo>
                    <a:pt x="5463369" y="0"/>
                  </a:lnTo>
                  <a:lnTo>
                    <a:pt x="5463369" y="2492504"/>
                  </a:lnTo>
                  <a:lnTo>
                    <a:pt x="0" y="249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43" y="7947"/>
              <a:ext cx="18218" cy="42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lang="en-US" sz="9600" b="1" dirty="0"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charset="0"/>
                  <a:cs typeface="Times New Roman" panose="02020603050405020304" charset="0"/>
                </a:rPr>
                <a:t>CƠ SỞ LÝ LUẬN</a:t>
              </a:r>
              <a:r>
                <a:rPr lang="vi-VN" sz="9600" b="1" dirty="0"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charset="0"/>
                  <a:cs typeface="Times New Roman" panose="02020603050405020304" charset="0"/>
                </a:rPr>
                <a:t> VÀ THỰC TIỄN</a:t>
              </a:r>
              <a:r>
                <a:rPr lang="en-US" sz="6000" b="1" dirty="0"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2569825" y="2726055"/>
            <a:ext cx="5795010" cy="6804660"/>
            <a:chOff x="19675" y="5253"/>
            <a:chExt cx="9514" cy="11287"/>
          </a:xfrm>
        </p:grpSpPr>
        <p:sp>
          <p:nvSpPr>
            <p:cNvPr id="9" name="Freeform 9"/>
            <p:cNvSpPr/>
            <p:nvPr/>
          </p:nvSpPr>
          <p:spPr>
            <a:xfrm>
              <a:off x="20363" y="5253"/>
              <a:ext cx="8827" cy="10947"/>
            </a:xfrm>
            <a:custGeom>
              <a:avLst/>
              <a:gdLst/>
              <a:ahLst/>
              <a:cxnLst/>
              <a:rect l="l" t="t" r="r" b="b"/>
              <a:pathLst>
                <a:path w="6643260" h="8238835">
                  <a:moveTo>
                    <a:pt x="0" y="0"/>
                  </a:moveTo>
                  <a:lnTo>
                    <a:pt x="6643260" y="0"/>
                  </a:lnTo>
                  <a:lnTo>
                    <a:pt x="6643260" y="8238835"/>
                  </a:lnTo>
                  <a:lnTo>
                    <a:pt x="0" y="82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0" b="99632" l="0" r="100000">
                          <a14:foregroundMark x1="6295" y1="6748" x2="84979" y2="85767"/>
                          <a14:foregroundMark x1="26753" y1="97791" x2="95994" y2="24540"/>
                          <a14:foregroundMark x1="82833" y1="7485" x2="13019" y2="80245"/>
                          <a14:foregroundMark x1="1288" y1="49939" x2="63376" y2="95215"/>
                          <a14:foregroundMark x1="61803" y1="94724" x2="13019" y2="84540"/>
                          <a14:foregroundMark x1="19456" y1="88957" x2="5866" y2="63558"/>
                          <a14:foregroundMark x1="39056" y1="20368" x2="8441" y2="33742"/>
                          <a14:foregroundMark x1="17883" y1="15092" x2="10157" y2="27975"/>
                          <a14:foregroundMark x1="9871" y1="22699" x2="90558" y2="16564"/>
                          <a14:foregroundMark x1="89986" y1="16564" x2="12303" y2="22454"/>
                          <a14:foregroundMark x1="8727" y1="33497" x2="2718" y2="61718"/>
                          <a14:foregroundMark x1="1860" y1="62454" x2="74678" y2="78896"/>
                          <a14:foregroundMark x1="74678" y1="78896" x2="62375" y2="86258"/>
                          <a14:foregroundMark x1="51359" y1="83681" x2="90415" y2="65031"/>
                          <a14:foregroundMark x1="66953" y1="75215" x2="98140" y2="39018"/>
                          <a14:foregroundMark x1="73677" y1="5890" x2="97854" y2="30552"/>
                          <a14:foregroundMark x1="19027" y1="13006" x2="89986" y2="14969"/>
                          <a14:foregroundMark x1="86838" y1="11534" x2="33476" y2="3926"/>
                          <a14:foregroundMark x1="56652" y1="736" x2="60515" y2="1227"/>
                          <a14:foregroundMark x1="61087" y1="1227" x2="98856" y2="35092"/>
                          <a14:foregroundMark x1="83119" y1="81718" x2="98283" y2="43926"/>
                          <a14:foregroundMark x1="95994" y1="56810" x2="73677" y2="3558"/>
                          <a14:foregroundMark x1="66953" y1="1963" x2="98283" y2="32883"/>
                          <a14:foregroundMark x1="97425" y1="32025" x2="94134" y2="21350"/>
                          <a14:foregroundMark x1="93848" y1="20982" x2="98856" y2="33620"/>
                          <a14:foregroundMark x1="98999" y1="32638" x2="64950" y2="1472"/>
                          <a14:foregroundMark x1="64950" y1="1472" x2="89127" y2="12883"/>
                          <a14:foregroundMark x1="93276" y1="20736" x2="69099" y2="2577"/>
                          <a14:foregroundMark x1="77539" y1="5399" x2="92275" y2="18282"/>
                          <a14:foregroundMark x1="92275" y1="18037" x2="38054" y2="12025"/>
                          <a14:foregroundMark x1="45207" y1="35215" x2="42203" y2="43681"/>
                          <a14:foregroundMark x1="62375" y1="35337" x2="69242" y2="38650"/>
                          <a14:backgroundMark x1="47210" y1="35828" x2="65379" y2="46626"/>
                          <a14:backgroundMark x1="65522" y1="47239" x2="48784" y2="37914"/>
                          <a14:backgroundMark x1="48069" y1="38282" x2="51788" y2="45153"/>
                          <a14:backgroundMark x1="58655" y1="44294" x2="50072" y2="39632"/>
                          <a14:backgroundMark x1="48212" y1="36687" x2="62947" y2="40368"/>
                          <a14:backgroundMark x1="50215" y1="33497" x2="52361" y2="43558"/>
                          <a14:backgroundMark x1="46924" y1="41595" x2="66094" y2="43558"/>
                          <a14:backgroundMark x1="66094" y1="43558" x2="48212" y2="42699"/>
                          <a14:backgroundMark x1="52217" y1="45521" x2="48784" y2="39632"/>
                          <a14:backgroundMark x1="45923" y1="37055" x2="61373" y2="37055"/>
                          <a14:backgroundMark x1="49213" y1="33988" x2="51502" y2="42331"/>
                          <a14:backgroundMark x1="48355" y1="41718" x2="65236" y2="43926"/>
                          <a14:backgroundMark x1="60944" y1="42699" x2="46352" y2="39755"/>
                          <a14:backgroundMark x1="46924" y1="35215" x2="51788" y2="39755"/>
                          <a14:backgroundMark x1="50644" y1="39755" x2="65522" y2="40123"/>
                          <a14:backgroundMark x1="65236" y1="40368" x2="45780" y2="42454"/>
                          <a14:backgroundMark x1="54649" y1="42331" x2="49213" y2="41104"/>
                          <a14:backgroundMark x1="48927" y1="40736" x2="62518" y2="4282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75" y="5940"/>
              <a:ext cx="8383" cy="10601"/>
            </a:xfrm>
            <a:prstGeom prst="rect">
              <a:avLst/>
            </a:prstGeom>
          </p:spPr>
        </p:pic>
      </p:grpSp>
      <p:sp>
        <p:nvSpPr>
          <p:cNvPr id="28" name="TextBox 28"/>
          <p:cNvSpPr txBox="1"/>
          <p:nvPr>
            <p:custDataLst>
              <p:tags r:id="rId3"/>
            </p:custDataLst>
          </p:nvPr>
        </p:nvSpPr>
        <p:spPr>
          <a:xfrm>
            <a:off x="1876425" y="735965"/>
            <a:ext cx="3244850" cy="394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ĐẠI HỌC QUY NHƠN</a:t>
            </a:r>
          </a:p>
        </p:txBody>
      </p:sp>
      <p:pic>
        <p:nvPicPr>
          <p:cNvPr id="36" name="Picture 3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71500"/>
            <a:ext cx="734060" cy="733425"/>
          </a:xfrm>
          <a:prstGeom prst="rect">
            <a:avLst/>
          </a:prstGeom>
        </p:spPr>
      </p:pic>
      <p:sp>
        <p:nvSpPr>
          <p:cNvPr id="16" name="TextBox 28"/>
          <p:cNvSpPr txBox="1"/>
          <p:nvPr/>
        </p:nvSpPr>
        <p:spPr>
          <a:xfrm>
            <a:off x="3429000" y="4076700"/>
            <a:ext cx="6048375" cy="5353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66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CHƯƠNG 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792C0-70AA-1356-8548-542FB6AD4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7;p3">
            <a:extLst>
              <a:ext uri="{FF2B5EF4-FFF2-40B4-BE49-F238E27FC236}">
                <a16:creationId xmlns:a16="http://schemas.microsoft.com/office/drawing/2014/main" id="{D1C95657-B4A2-7E23-B556-A7877E9EE7CE}"/>
              </a:ext>
            </a:extLst>
          </p:cNvPr>
          <p:cNvCxnSpPr/>
          <p:nvPr/>
        </p:nvCxnSpPr>
        <p:spPr>
          <a:xfrm>
            <a:off x="-9525000" y="1866900"/>
            <a:ext cx="0" cy="4800600"/>
          </a:xfrm>
          <a:prstGeom prst="straightConnector1">
            <a:avLst/>
          </a:prstGeom>
          <a:noFill/>
          <a:ln w="38100" cap="flat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Text Box 104">
            <a:extLst>
              <a:ext uri="{FF2B5EF4-FFF2-40B4-BE49-F238E27FC236}">
                <a16:creationId xmlns:a16="http://schemas.microsoft.com/office/drawing/2014/main" id="{4284DEEE-3178-8AB9-033D-3922001ECE0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69620" y="466661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7975C0-D41A-B590-05FB-A7E01A88326D}"/>
              </a:ext>
            </a:extLst>
          </p:cNvPr>
          <p:cNvGrpSpPr/>
          <p:nvPr/>
        </p:nvGrpSpPr>
        <p:grpSpPr>
          <a:xfrm>
            <a:off x="5486400" y="-419100"/>
            <a:ext cx="12801600" cy="1905000"/>
            <a:chOff x="9120" y="-660"/>
            <a:chExt cx="20160" cy="3000"/>
          </a:xfrm>
        </p:grpSpPr>
        <p:cxnSp>
          <p:nvCxnSpPr>
            <p:cNvPr id="4" name="Google Shape;117;p3">
              <a:extLst>
                <a:ext uri="{FF2B5EF4-FFF2-40B4-BE49-F238E27FC236}">
                  <a16:creationId xmlns:a16="http://schemas.microsoft.com/office/drawing/2014/main" id="{B0610F7E-BA40-42AB-CC92-DDC5E4D01CDB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>
            <a:xfrm>
              <a:off x="9120" y="222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" name="Google Shape;117;p3">
              <a:extLst>
                <a:ext uri="{FF2B5EF4-FFF2-40B4-BE49-F238E27FC236}">
                  <a16:creationId xmlns:a16="http://schemas.microsoft.com/office/drawing/2014/main" id="{B4DB704E-753C-BF4A-FD05-6780A485A119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>
            <a:xfrm flipV="1">
              <a:off x="912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9" name="Text Box 68">
            <a:extLst>
              <a:ext uri="{FF2B5EF4-FFF2-40B4-BE49-F238E27FC236}">
                <a16:creationId xmlns:a16="http://schemas.microsoft.com/office/drawing/2014/main" id="{74403ECA-7554-C2A2-1539-7B386993751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79610" y="2667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endParaRPr lang="en-US" sz="7200" b="1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9511C7-C44D-E3D8-7358-116D316BD2CF}"/>
              </a:ext>
            </a:extLst>
          </p:cNvPr>
          <p:cNvGrpSpPr/>
          <p:nvPr/>
        </p:nvGrpSpPr>
        <p:grpSpPr>
          <a:xfrm>
            <a:off x="228600" y="114935"/>
            <a:ext cx="5485765" cy="1286510"/>
            <a:chOff x="27600" y="432"/>
            <a:chExt cx="8639" cy="2026"/>
          </a:xfrm>
        </p:grpSpPr>
        <p:sp>
          <p:nvSpPr>
            <p:cNvPr id="18" name="Freeform 61">
              <a:extLst>
                <a:ext uri="{FF2B5EF4-FFF2-40B4-BE49-F238E27FC236}">
                  <a16:creationId xmlns:a16="http://schemas.microsoft.com/office/drawing/2014/main" id="{9C1FFC60-BFC5-530A-8CB7-BE1FC3318F1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0800000">
              <a:off x="27600" y="432"/>
              <a:ext cx="8639" cy="2026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3E0518BE-0E19-1C23-26A9-6B535EBAB79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7960" y="67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7D7D7F8-12EB-B250-3043-7EAAD6EFCAD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65" y="200025"/>
            <a:ext cx="1133475" cy="1133475"/>
          </a:xfrm>
          <a:prstGeom prst="rect">
            <a:avLst/>
          </a:prstGeom>
        </p:spPr>
      </p:pic>
      <p:sp>
        <p:nvSpPr>
          <p:cNvPr id="27" name="Text Box 26">
            <a:extLst>
              <a:ext uri="{FF2B5EF4-FFF2-40B4-BE49-F238E27FC236}">
                <a16:creationId xmlns:a16="http://schemas.microsoft.com/office/drawing/2014/main" id="{2248A059-46F1-9924-AB44-B2F197423137}"/>
              </a:ext>
            </a:extLst>
          </p:cNvPr>
          <p:cNvSpPr txBox="1"/>
          <p:nvPr/>
        </p:nvSpPr>
        <p:spPr>
          <a:xfrm>
            <a:off x="914400" y="1995805"/>
            <a:ext cx="16683990" cy="1209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ctr" defTabSz="266700">
              <a:lnSpc>
                <a:spcPct val="100000"/>
              </a:lnSpc>
              <a:spcAft>
                <a:spcPts val="1000"/>
              </a:spcAft>
            </a:pPr>
            <a:r>
              <a:rPr lang="vi-VN" sz="4500" b="1" dirty="0">
                <a:solidFill>
                  <a:srgbClr val="FF0000"/>
                </a:solidFill>
                <a:latin typeface="Times New Roman" panose="02020603050405020304"/>
                <a:ea typeface="Calibri" panose="020F0502020204030204"/>
              </a:rPr>
              <a:t>1.1 Khái niệm và mục tiêu trong giáo dục STEM ở tiểu học</a:t>
            </a:r>
            <a:endParaRPr lang="en-US" sz="4500" b="1" dirty="0">
              <a:solidFill>
                <a:srgbClr val="FF0000"/>
              </a:solidFill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7D464335-EA2D-8010-0626-65970091B2D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022975" y="434169"/>
            <a:ext cx="1226502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CƠ SỞ LÝ LUẬN</a:t>
            </a:r>
            <a:r>
              <a:rPr lang="vi-VN" sz="36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VÀ THỰC TIỄN</a:t>
            </a:r>
            <a:r>
              <a:rPr lang="en-US" sz="36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sz="36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vi-VN" sz="36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Freeform 2">
            <a:extLst>
              <a:ext uri="{FF2B5EF4-FFF2-40B4-BE49-F238E27FC236}">
                <a16:creationId xmlns:a16="http://schemas.microsoft.com/office/drawing/2014/main" id="{A03858D0-B14F-A61D-3A53-30176D52C86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10800000">
            <a:off x="2956402" y="7463682"/>
            <a:ext cx="4799330" cy="638175"/>
          </a:xfrm>
          <a:custGeom>
            <a:avLst/>
            <a:gdLst/>
            <a:ahLst/>
            <a:cxnLst/>
            <a:rect l="l" t="t" r="r" b="b"/>
            <a:pathLst>
              <a:path w="3988366" h="473147">
                <a:moveTo>
                  <a:pt x="0" y="0"/>
                </a:moveTo>
                <a:lnTo>
                  <a:pt x="3988366" y="0"/>
                </a:lnTo>
                <a:lnTo>
                  <a:pt x="3988366" y="473147"/>
                </a:lnTo>
                <a:lnTo>
                  <a:pt x="0" y="47314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89000"/>
            </a:blip>
            <a:stretch>
              <a:fillRect b="-1423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4">
            <a:extLst>
              <a:ext uri="{FF2B5EF4-FFF2-40B4-BE49-F238E27FC236}">
                <a16:creationId xmlns:a16="http://schemas.microsoft.com/office/drawing/2014/main" id="{6A654C70-2AF0-B185-95B3-4206AF3497A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834322" y="3540417"/>
            <a:ext cx="4904105" cy="3751851"/>
          </a:xfrm>
          <a:custGeom>
            <a:avLst/>
            <a:gdLst/>
            <a:ahLst/>
            <a:cxnLst/>
            <a:rect l="l" t="t" r="r" b="b"/>
            <a:pathLst>
              <a:path w="1320076" h="1182133">
                <a:moveTo>
                  <a:pt x="68386" y="0"/>
                </a:moveTo>
                <a:lnTo>
                  <a:pt x="1251690" y="0"/>
                </a:lnTo>
                <a:cubicBezTo>
                  <a:pt x="1289459" y="0"/>
                  <a:pt x="1320076" y="30618"/>
                  <a:pt x="1320076" y="68386"/>
                </a:cubicBezTo>
                <a:lnTo>
                  <a:pt x="1320076" y="1113746"/>
                </a:lnTo>
                <a:cubicBezTo>
                  <a:pt x="1320076" y="1151515"/>
                  <a:pt x="1289459" y="1182133"/>
                  <a:pt x="1251690" y="1182133"/>
                </a:cubicBezTo>
                <a:lnTo>
                  <a:pt x="68386" y="1182133"/>
                </a:lnTo>
                <a:cubicBezTo>
                  <a:pt x="30618" y="1182133"/>
                  <a:pt x="0" y="1151515"/>
                  <a:pt x="0" y="1113746"/>
                </a:cubicBezTo>
                <a:lnTo>
                  <a:pt x="0" y="68386"/>
                </a:lnTo>
                <a:cubicBezTo>
                  <a:pt x="0" y="30618"/>
                  <a:pt x="30618" y="0"/>
                  <a:pt x="6838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61925" cap="rnd">
            <a:gradFill>
              <a:gsLst>
                <a:gs pos="0">
                  <a:srgbClr val="08377C">
                    <a:alpha val="100000"/>
                  </a:srgbClr>
                </a:gs>
                <a:gs pos="50000">
                  <a:srgbClr val="006BB6">
                    <a:alpha val="100000"/>
                  </a:srgbClr>
                </a:gs>
                <a:gs pos="100000">
                  <a:srgbClr val="C9E9FF">
                    <a:alpha val="10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/>
          <a:lstStyle/>
          <a:p>
            <a:endParaRPr lang="vi-VN" sz="4400" dirty="0"/>
          </a:p>
          <a:p>
            <a:pPr algn="ctr"/>
            <a:endParaRPr lang="vi-VN" sz="4400" dirty="0"/>
          </a:p>
          <a:p>
            <a:pPr algn="ctr"/>
            <a:r>
              <a:rPr lang="vi-VN" sz="4400" dirty="0">
                <a:latin typeface="+mj-lt"/>
              </a:rPr>
              <a:t>Khái niệm Giáo dục STEM</a:t>
            </a:r>
          </a:p>
        </p:txBody>
      </p:sp>
      <p:grpSp>
        <p:nvGrpSpPr>
          <p:cNvPr id="31" name="Group 6">
            <a:extLst>
              <a:ext uri="{FF2B5EF4-FFF2-40B4-BE49-F238E27FC236}">
                <a16:creationId xmlns:a16="http://schemas.microsoft.com/office/drawing/2014/main" id="{E366503B-D19A-7416-41F1-610DE9D35C38}"/>
              </a:ext>
            </a:extLst>
          </p:cNvPr>
          <p:cNvGrpSpPr/>
          <p:nvPr/>
        </p:nvGrpSpPr>
        <p:grpSpPr>
          <a:xfrm>
            <a:off x="3744847" y="2779110"/>
            <a:ext cx="2710442" cy="1792605"/>
            <a:chOff x="374459" y="-21407"/>
            <a:chExt cx="509253" cy="430274"/>
          </a:xfrm>
        </p:grpSpPr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AB419DE4-8339-D029-103C-FFFCFD846A4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17011" y="-21407"/>
              <a:ext cx="435740" cy="430274"/>
            </a:xfrm>
            <a:custGeom>
              <a:avLst/>
              <a:gdLst/>
              <a:ahLst/>
              <a:cxnLst/>
              <a:rect l="l" t="t" r="r" b="b"/>
              <a:pathLst>
                <a:path w="435740" h="430274">
                  <a:moveTo>
                    <a:pt x="0" y="0"/>
                  </a:moveTo>
                  <a:lnTo>
                    <a:pt x="435740" y="0"/>
                  </a:lnTo>
                  <a:lnTo>
                    <a:pt x="435740" y="430274"/>
                  </a:lnTo>
                  <a:lnTo>
                    <a:pt x="0" y="430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7C7B35F0-8B47-879C-3AAE-811AC856CC08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374459" y="-6959"/>
              <a:ext cx="509253" cy="401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360"/>
                </a:lnSpc>
                <a:spcBef>
                  <a:spcPct val="0"/>
                </a:spcBef>
              </a:pPr>
              <a:r>
                <a:rPr lang="vi-VN" sz="6600" b="1" spc="220" dirty="0">
                  <a:solidFill>
                    <a:srgbClr val="0063A1"/>
                  </a:solidFill>
                  <a:latin typeface="Nirmala UI" panose="020B0502040204020203" charset="0"/>
                  <a:cs typeface="Nirmala UI" panose="020B0502040204020203" charset="0"/>
                </a:rPr>
                <a:t>1.1.1</a:t>
              </a:r>
              <a:endParaRPr lang="en-US" sz="6600" b="1" u="none" strike="noStrike" spc="220" dirty="0">
                <a:solidFill>
                  <a:srgbClr val="0063A1"/>
                </a:solidFill>
                <a:latin typeface="Nirmala UI" panose="020B0502040204020203" charset="0"/>
                <a:cs typeface="Nirmala UI" panose="020B0502040204020203" charset="0"/>
              </a:endParaRPr>
            </a:p>
          </p:txBody>
        </p:sp>
      </p:grpSp>
      <p:sp>
        <p:nvSpPr>
          <p:cNvPr id="34" name="Freeform 9">
            <a:extLst>
              <a:ext uri="{FF2B5EF4-FFF2-40B4-BE49-F238E27FC236}">
                <a16:creationId xmlns:a16="http://schemas.microsoft.com/office/drawing/2014/main" id="{EC208A91-41AE-8CD2-973D-0B41A335196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10800000">
            <a:off x="11147041" y="7488384"/>
            <a:ext cx="4799330" cy="638175"/>
          </a:xfrm>
          <a:custGeom>
            <a:avLst/>
            <a:gdLst/>
            <a:ahLst/>
            <a:cxnLst/>
            <a:rect l="l" t="t" r="r" b="b"/>
            <a:pathLst>
              <a:path w="3988366" h="473147">
                <a:moveTo>
                  <a:pt x="0" y="0"/>
                </a:moveTo>
                <a:lnTo>
                  <a:pt x="3988366" y="0"/>
                </a:lnTo>
                <a:lnTo>
                  <a:pt x="3988366" y="473147"/>
                </a:lnTo>
                <a:lnTo>
                  <a:pt x="0" y="47314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89000"/>
            </a:blip>
            <a:stretch>
              <a:fillRect b="-14234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12">
            <a:extLst>
              <a:ext uri="{FF2B5EF4-FFF2-40B4-BE49-F238E27FC236}">
                <a16:creationId xmlns:a16="http://schemas.microsoft.com/office/drawing/2014/main" id="{086F50FC-74B1-9672-291F-09419E5CBC72}"/>
              </a:ext>
            </a:extLst>
          </p:cNvPr>
          <p:cNvGrpSpPr/>
          <p:nvPr/>
        </p:nvGrpSpPr>
        <p:grpSpPr>
          <a:xfrm>
            <a:off x="11309983" y="3405324"/>
            <a:ext cx="4600575" cy="3930830"/>
            <a:chOff x="0" y="-47625"/>
            <a:chExt cx="1320076" cy="1229758"/>
          </a:xfrm>
        </p:grpSpPr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DB39922A-BDD2-551C-D336-3D63C3ABA6F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320076" cy="1182133"/>
            </a:xfrm>
            <a:custGeom>
              <a:avLst/>
              <a:gdLst/>
              <a:ahLst/>
              <a:cxnLst/>
              <a:rect l="l" t="t" r="r" b="b"/>
              <a:pathLst>
                <a:path w="1320076" h="1182133">
                  <a:moveTo>
                    <a:pt x="68386" y="0"/>
                  </a:moveTo>
                  <a:lnTo>
                    <a:pt x="1251690" y="0"/>
                  </a:lnTo>
                  <a:cubicBezTo>
                    <a:pt x="1289459" y="0"/>
                    <a:pt x="1320076" y="30618"/>
                    <a:pt x="1320076" y="68386"/>
                  </a:cubicBezTo>
                  <a:lnTo>
                    <a:pt x="1320076" y="1113746"/>
                  </a:lnTo>
                  <a:cubicBezTo>
                    <a:pt x="1320076" y="1151515"/>
                    <a:pt x="1289459" y="1182133"/>
                    <a:pt x="1251690" y="1182133"/>
                  </a:cubicBezTo>
                  <a:lnTo>
                    <a:pt x="68386" y="1182133"/>
                  </a:lnTo>
                  <a:cubicBezTo>
                    <a:pt x="30618" y="1182133"/>
                    <a:pt x="0" y="1151515"/>
                    <a:pt x="0" y="1113746"/>
                  </a:cubicBezTo>
                  <a:lnTo>
                    <a:pt x="0" y="68386"/>
                  </a:lnTo>
                  <a:cubicBezTo>
                    <a:pt x="0" y="30618"/>
                    <a:pt x="30618" y="0"/>
                    <a:pt x="683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61925" cap="rnd">
              <a:gradFill>
                <a:gsLst>
                  <a:gs pos="0">
                    <a:srgbClr val="08377C">
                      <a:alpha val="100000"/>
                    </a:srgbClr>
                  </a:gs>
                  <a:gs pos="50000">
                    <a:srgbClr val="006BB6">
                      <a:alpha val="100000"/>
                    </a:srgbClr>
                  </a:gs>
                  <a:gs pos="100000">
                    <a:srgbClr val="C9E9F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4CB2B76C-26FC-3036-522A-D3BA6A0C42A9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0" y="-47625"/>
              <a:ext cx="1320076" cy="1229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9" name="Group 15">
            <a:extLst>
              <a:ext uri="{FF2B5EF4-FFF2-40B4-BE49-F238E27FC236}">
                <a16:creationId xmlns:a16="http://schemas.microsoft.com/office/drawing/2014/main" id="{B7BF8B00-7B71-75C5-EA5B-B014410E7DAE}"/>
              </a:ext>
            </a:extLst>
          </p:cNvPr>
          <p:cNvGrpSpPr/>
          <p:nvPr/>
        </p:nvGrpSpPr>
        <p:grpSpPr>
          <a:xfrm>
            <a:off x="12111828" y="2688815"/>
            <a:ext cx="2899571" cy="1882899"/>
            <a:chOff x="190539" y="-4567"/>
            <a:chExt cx="383867" cy="451947"/>
          </a:xfrm>
        </p:grpSpPr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29AEA1F5-1C97-F448-87F3-CB9B6F13D9E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90539" y="17106"/>
              <a:ext cx="383867" cy="430274"/>
            </a:xfrm>
            <a:custGeom>
              <a:avLst/>
              <a:gdLst/>
              <a:ahLst/>
              <a:cxnLst/>
              <a:rect l="l" t="t" r="r" b="b"/>
              <a:pathLst>
                <a:path w="435740" h="430274">
                  <a:moveTo>
                    <a:pt x="0" y="0"/>
                  </a:moveTo>
                  <a:lnTo>
                    <a:pt x="435740" y="0"/>
                  </a:lnTo>
                  <a:lnTo>
                    <a:pt x="435740" y="430274"/>
                  </a:lnTo>
                  <a:lnTo>
                    <a:pt x="0" y="430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TextBox 17">
              <a:extLst>
                <a:ext uri="{FF2B5EF4-FFF2-40B4-BE49-F238E27FC236}">
                  <a16:creationId xmlns:a16="http://schemas.microsoft.com/office/drawing/2014/main" id="{082ED494-A353-A3FF-81A0-5FC7AEDFB42F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217695" y="-4567"/>
              <a:ext cx="321557" cy="43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360"/>
                </a:lnSpc>
                <a:spcBef>
                  <a:spcPct val="0"/>
                </a:spcBef>
              </a:pPr>
              <a:r>
                <a:rPr lang="vi-VN" sz="6600" b="1" spc="220" dirty="0">
                  <a:solidFill>
                    <a:srgbClr val="0063A1"/>
                  </a:solidFill>
                  <a:latin typeface="Nirmala UI" panose="020B0502040204020203" charset="0"/>
                  <a:cs typeface="Nirmala UI" panose="020B0502040204020203" charset="0"/>
                </a:rPr>
                <a:t>1.1.2</a:t>
              </a:r>
              <a:endParaRPr lang="en-US" sz="6600" b="1" spc="220" dirty="0">
                <a:solidFill>
                  <a:srgbClr val="0063A1"/>
                </a:solidFill>
                <a:latin typeface="Nirmala UI" panose="020B0502040204020203" charset="0"/>
                <a:cs typeface="Nirmala UI" panose="020B0502040204020203" charset="0"/>
              </a:endParaRPr>
            </a:p>
          </p:txBody>
        </p:sp>
      </p:grpSp>
      <p:sp>
        <p:nvSpPr>
          <p:cNvPr id="43" name="TextBox 27">
            <a:extLst>
              <a:ext uri="{FF2B5EF4-FFF2-40B4-BE49-F238E27FC236}">
                <a16:creationId xmlns:a16="http://schemas.microsoft.com/office/drawing/2014/main" id="{2469523F-D735-1FF9-FA40-BF35B6CDFA7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85800" y="4076700"/>
            <a:ext cx="4600575" cy="391668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endParaRPr lang="en-US" altLang="en-US" sz="4500" u="none" strike="noStrike" spc="43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73A06192-52E4-F43F-CCBD-09B373FAEFA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2111828" y="4146842"/>
            <a:ext cx="3259460" cy="15201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vi-VN" sz="4500" u="none" strike="noStrike" spc="43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Mục tiêu giáo dục STEM ở Tiểu học</a:t>
            </a:r>
            <a:endParaRPr lang="en-US" sz="4500" u="none" strike="noStrike" spc="43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714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3" grpId="0"/>
      <p:bldP spid="43" grpId="1"/>
      <p:bldP spid="52" grpId="0"/>
      <p:bldP spid="5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DA51F-4B91-F540-EA8E-9DBFDB37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7;p3">
            <a:extLst>
              <a:ext uri="{FF2B5EF4-FFF2-40B4-BE49-F238E27FC236}">
                <a16:creationId xmlns:a16="http://schemas.microsoft.com/office/drawing/2014/main" id="{169D4E72-0EEC-DEA9-EAEA-46990EE847A7}"/>
              </a:ext>
            </a:extLst>
          </p:cNvPr>
          <p:cNvCxnSpPr/>
          <p:nvPr/>
        </p:nvCxnSpPr>
        <p:spPr>
          <a:xfrm>
            <a:off x="-9525000" y="1866900"/>
            <a:ext cx="0" cy="4800600"/>
          </a:xfrm>
          <a:prstGeom prst="straightConnector1">
            <a:avLst/>
          </a:prstGeom>
          <a:noFill/>
          <a:ln w="38100" cap="flat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Text Box 104">
            <a:extLst>
              <a:ext uri="{FF2B5EF4-FFF2-40B4-BE49-F238E27FC236}">
                <a16:creationId xmlns:a16="http://schemas.microsoft.com/office/drawing/2014/main" id="{7E9F3E9F-E4AB-312A-E6AC-9AC4F61CFA2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69620" y="466661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F9CD0D-2FCD-A1B1-D0D1-678EBA887264}"/>
              </a:ext>
            </a:extLst>
          </p:cNvPr>
          <p:cNvGrpSpPr/>
          <p:nvPr/>
        </p:nvGrpSpPr>
        <p:grpSpPr>
          <a:xfrm>
            <a:off x="5486400" y="-419100"/>
            <a:ext cx="12801600" cy="1905000"/>
            <a:chOff x="9120" y="-660"/>
            <a:chExt cx="20160" cy="3000"/>
          </a:xfrm>
        </p:grpSpPr>
        <p:cxnSp>
          <p:nvCxnSpPr>
            <p:cNvPr id="4" name="Google Shape;117;p3">
              <a:extLst>
                <a:ext uri="{FF2B5EF4-FFF2-40B4-BE49-F238E27FC236}">
                  <a16:creationId xmlns:a16="http://schemas.microsoft.com/office/drawing/2014/main" id="{A6F071CB-870D-2D1F-4B99-3CF58C25B0F4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>
            <a:xfrm>
              <a:off x="9120" y="222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" name="Google Shape;117;p3">
              <a:extLst>
                <a:ext uri="{FF2B5EF4-FFF2-40B4-BE49-F238E27FC236}">
                  <a16:creationId xmlns:a16="http://schemas.microsoft.com/office/drawing/2014/main" id="{225FB359-DA3B-697F-50DC-F2A6568275AE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>
            <a:xfrm flipV="1">
              <a:off x="912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9" name="Text Box 68">
            <a:extLst>
              <a:ext uri="{FF2B5EF4-FFF2-40B4-BE49-F238E27FC236}">
                <a16:creationId xmlns:a16="http://schemas.microsoft.com/office/drawing/2014/main" id="{DC072A15-5D59-CFB1-3482-26EACB43FE0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579610" y="2667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endParaRPr lang="en-US" sz="7200" b="1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DD9164-1CFF-D530-0AEB-F30CC9DFA210}"/>
              </a:ext>
            </a:extLst>
          </p:cNvPr>
          <p:cNvGrpSpPr/>
          <p:nvPr/>
        </p:nvGrpSpPr>
        <p:grpSpPr>
          <a:xfrm>
            <a:off x="228600" y="114935"/>
            <a:ext cx="5485765" cy="1286510"/>
            <a:chOff x="27600" y="432"/>
            <a:chExt cx="8639" cy="2026"/>
          </a:xfrm>
        </p:grpSpPr>
        <p:sp>
          <p:nvSpPr>
            <p:cNvPr id="18" name="Freeform 61">
              <a:extLst>
                <a:ext uri="{FF2B5EF4-FFF2-40B4-BE49-F238E27FC236}">
                  <a16:creationId xmlns:a16="http://schemas.microsoft.com/office/drawing/2014/main" id="{0B2BEC4A-C92E-F6E4-61CE-15C29C21EBFF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 rot="10800000">
              <a:off x="27600" y="432"/>
              <a:ext cx="8639" cy="2026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EC69ED21-0C0A-2C1E-825C-B6DFE4C124EF}"/>
                </a:ext>
              </a:extLst>
            </p:cNvPr>
            <p:cNvSpPr txBox="1"/>
            <p:nvPr>
              <p:custDataLst>
                <p:tags r:id="rId23"/>
              </p:custDataLst>
            </p:nvPr>
          </p:nvSpPr>
          <p:spPr>
            <a:xfrm>
              <a:off x="27960" y="67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326A3146-5618-E1FA-BE85-5AA84FD23B8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 cstate="print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65" y="200025"/>
            <a:ext cx="1133475" cy="1133475"/>
          </a:xfrm>
          <a:prstGeom prst="rect">
            <a:avLst/>
          </a:prstGeom>
        </p:spPr>
      </p:pic>
      <p:sp>
        <p:nvSpPr>
          <p:cNvPr id="27" name="Text Box 26">
            <a:extLst>
              <a:ext uri="{FF2B5EF4-FFF2-40B4-BE49-F238E27FC236}">
                <a16:creationId xmlns:a16="http://schemas.microsoft.com/office/drawing/2014/main" id="{4B47C5BE-737E-CC63-05B5-8DEDEBFAA7B3}"/>
              </a:ext>
            </a:extLst>
          </p:cNvPr>
          <p:cNvSpPr txBox="1"/>
          <p:nvPr/>
        </p:nvSpPr>
        <p:spPr>
          <a:xfrm>
            <a:off x="914400" y="1995805"/>
            <a:ext cx="16683990" cy="1209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ctr" defTabSz="266700">
              <a:lnSpc>
                <a:spcPct val="100000"/>
              </a:lnSpc>
              <a:spcAft>
                <a:spcPts val="1000"/>
              </a:spcAft>
            </a:pPr>
            <a:r>
              <a:rPr lang="vi-VN" sz="4500" b="1" dirty="0">
                <a:solidFill>
                  <a:srgbClr val="FF0000"/>
                </a:solidFill>
                <a:latin typeface="Times New Roman" panose="02020603050405020304"/>
                <a:ea typeface="Calibri" panose="020F0502020204030204"/>
              </a:rPr>
              <a:t>1.2 Đặc điểm, nội dung và mục tiêu dạy học hình học lớp 3 theo chương trình GDPT 2018</a:t>
            </a:r>
            <a:endParaRPr lang="en-US" sz="4500" b="1" dirty="0">
              <a:solidFill>
                <a:srgbClr val="FF0000"/>
              </a:solidFill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C047DC61-8B31-D8F1-CBDC-115715503E7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022975" y="434169"/>
            <a:ext cx="1226502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CƠ SỞ LÝ LUẬN</a:t>
            </a:r>
            <a:r>
              <a:rPr lang="vi-VN" sz="36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VÀ THỰC TIỄN</a:t>
            </a:r>
            <a:r>
              <a:rPr lang="en-US" sz="36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sz="36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vi-VN" sz="36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Freeform 2">
            <a:extLst>
              <a:ext uri="{FF2B5EF4-FFF2-40B4-BE49-F238E27FC236}">
                <a16:creationId xmlns:a16="http://schemas.microsoft.com/office/drawing/2014/main" id="{6F0F22FE-F7D7-A471-D956-3EA2D7544C2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10800000">
            <a:off x="487045" y="8407984"/>
            <a:ext cx="4799330" cy="638175"/>
          </a:xfrm>
          <a:custGeom>
            <a:avLst/>
            <a:gdLst/>
            <a:ahLst/>
            <a:cxnLst/>
            <a:rect l="l" t="t" r="r" b="b"/>
            <a:pathLst>
              <a:path w="3988366" h="473147">
                <a:moveTo>
                  <a:pt x="0" y="0"/>
                </a:moveTo>
                <a:lnTo>
                  <a:pt x="3988366" y="0"/>
                </a:lnTo>
                <a:lnTo>
                  <a:pt x="3988366" y="473147"/>
                </a:lnTo>
                <a:lnTo>
                  <a:pt x="0" y="47314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alphaModFix amt="89000"/>
            </a:blip>
            <a:stretch>
              <a:fillRect b="-1423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4">
            <a:extLst>
              <a:ext uri="{FF2B5EF4-FFF2-40B4-BE49-F238E27FC236}">
                <a16:creationId xmlns:a16="http://schemas.microsoft.com/office/drawing/2014/main" id="{88C937F3-3FB9-7C87-908F-418C7A38EE8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87045" y="4630597"/>
            <a:ext cx="4904105" cy="3751851"/>
          </a:xfrm>
          <a:custGeom>
            <a:avLst/>
            <a:gdLst/>
            <a:ahLst/>
            <a:cxnLst/>
            <a:rect l="l" t="t" r="r" b="b"/>
            <a:pathLst>
              <a:path w="1320076" h="1182133">
                <a:moveTo>
                  <a:pt x="68386" y="0"/>
                </a:moveTo>
                <a:lnTo>
                  <a:pt x="1251690" y="0"/>
                </a:lnTo>
                <a:cubicBezTo>
                  <a:pt x="1289459" y="0"/>
                  <a:pt x="1320076" y="30618"/>
                  <a:pt x="1320076" y="68386"/>
                </a:cubicBezTo>
                <a:lnTo>
                  <a:pt x="1320076" y="1113746"/>
                </a:lnTo>
                <a:cubicBezTo>
                  <a:pt x="1320076" y="1151515"/>
                  <a:pt x="1289459" y="1182133"/>
                  <a:pt x="1251690" y="1182133"/>
                </a:cubicBezTo>
                <a:lnTo>
                  <a:pt x="68386" y="1182133"/>
                </a:lnTo>
                <a:cubicBezTo>
                  <a:pt x="30618" y="1182133"/>
                  <a:pt x="0" y="1151515"/>
                  <a:pt x="0" y="1113746"/>
                </a:cubicBezTo>
                <a:lnTo>
                  <a:pt x="0" y="68386"/>
                </a:lnTo>
                <a:cubicBezTo>
                  <a:pt x="0" y="30618"/>
                  <a:pt x="30618" y="0"/>
                  <a:pt x="6838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61925" cap="rnd">
            <a:gradFill>
              <a:gsLst>
                <a:gs pos="0">
                  <a:srgbClr val="08377C">
                    <a:alpha val="100000"/>
                  </a:srgbClr>
                </a:gs>
                <a:gs pos="50000">
                  <a:srgbClr val="006BB6">
                    <a:alpha val="100000"/>
                  </a:srgbClr>
                </a:gs>
                <a:gs pos="100000">
                  <a:srgbClr val="C9E9FF">
                    <a:alpha val="10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/>
          <a:lstStyle/>
          <a:p>
            <a:endParaRPr lang="vi-VN" sz="44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/>
              <a:ea typeface="Calibri" panose="020F0502020204030204"/>
            </a:endParaRPr>
          </a:p>
          <a:p>
            <a:pPr algn="ctr"/>
            <a:r>
              <a:rPr lang="vi-VN" sz="4400" dirty="0"/>
              <a:t>Đặc điểm của học sinh lớp 3</a:t>
            </a:r>
          </a:p>
        </p:txBody>
      </p:sp>
      <p:grpSp>
        <p:nvGrpSpPr>
          <p:cNvPr id="31" name="Group 6">
            <a:extLst>
              <a:ext uri="{FF2B5EF4-FFF2-40B4-BE49-F238E27FC236}">
                <a16:creationId xmlns:a16="http://schemas.microsoft.com/office/drawing/2014/main" id="{D4B96BDA-F4B7-AE37-C061-916B93B89827}"/>
              </a:ext>
            </a:extLst>
          </p:cNvPr>
          <p:cNvGrpSpPr/>
          <p:nvPr/>
        </p:nvGrpSpPr>
        <p:grpSpPr>
          <a:xfrm>
            <a:off x="1829593" y="3457345"/>
            <a:ext cx="2387376" cy="2125413"/>
            <a:chOff x="-206037" y="141388"/>
            <a:chExt cx="642443" cy="510157"/>
          </a:xfrm>
        </p:grpSpPr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AC637CA1-4B30-02C2-6A50-2667D30F7A3B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-206037" y="141388"/>
              <a:ext cx="642443" cy="430274"/>
            </a:xfrm>
            <a:custGeom>
              <a:avLst/>
              <a:gdLst/>
              <a:ahLst/>
              <a:cxnLst/>
              <a:rect l="l" t="t" r="r" b="b"/>
              <a:pathLst>
                <a:path w="435740" h="430274">
                  <a:moveTo>
                    <a:pt x="0" y="0"/>
                  </a:moveTo>
                  <a:lnTo>
                    <a:pt x="435740" y="0"/>
                  </a:lnTo>
                  <a:lnTo>
                    <a:pt x="435740" y="430274"/>
                  </a:lnTo>
                  <a:lnTo>
                    <a:pt x="0" y="430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8">
              <a:extLst>
                <a:ext uri="{FF2B5EF4-FFF2-40B4-BE49-F238E27FC236}">
                  <a16:creationId xmlns:a16="http://schemas.microsoft.com/office/drawing/2014/main" id="{118585CA-A8F1-A8C4-681C-27D4B1E1D408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-196341" y="211746"/>
              <a:ext cx="595173" cy="43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360"/>
                </a:lnSpc>
                <a:spcBef>
                  <a:spcPct val="0"/>
                </a:spcBef>
              </a:pPr>
              <a:r>
                <a:rPr lang="vi-VN" sz="6600" b="1" spc="220" dirty="0">
                  <a:solidFill>
                    <a:srgbClr val="0063A1"/>
                  </a:solidFill>
                  <a:latin typeface="Nirmala UI" panose="020B0502040204020203" charset="0"/>
                  <a:cs typeface="Nirmala UI" panose="020B0502040204020203" charset="0"/>
                </a:rPr>
                <a:t>1.2.1</a:t>
              </a:r>
              <a:endParaRPr lang="en-US" sz="6600" b="1" u="none" strike="noStrike" spc="220" dirty="0">
                <a:solidFill>
                  <a:srgbClr val="0063A1"/>
                </a:solidFill>
                <a:latin typeface="Nirmala UI" panose="020B0502040204020203" charset="0"/>
                <a:cs typeface="Nirmala UI" panose="020B0502040204020203" charset="0"/>
              </a:endParaRPr>
            </a:p>
          </p:txBody>
        </p:sp>
      </p:grpSp>
      <p:sp>
        <p:nvSpPr>
          <p:cNvPr id="34" name="Freeform 9">
            <a:extLst>
              <a:ext uri="{FF2B5EF4-FFF2-40B4-BE49-F238E27FC236}">
                <a16:creationId xmlns:a16="http://schemas.microsoft.com/office/drawing/2014/main" id="{54A7F548-B271-8BFC-29D2-8872FD743BF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10800000">
            <a:off x="6629400" y="8506781"/>
            <a:ext cx="4799330" cy="638175"/>
          </a:xfrm>
          <a:custGeom>
            <a:avLst/>
            <a:gdLst/>
            <a:ahLst/>
            <a:cxnLst/>
            <a:rect l="l" t="t" r="r" b="b"/>
            <a:pathLst>
              <a:path w="3988366" h="473147">
                <a:moveTo>
                  <a:pt x="0" y="0"/>
                </a:moveTo>
                <a:lnTo>
                  <a:pt x="3988366" y="0"/>
                </a:lnTo>
                <a:lnTo>
                  <a:pt x="3988366" y="473147"/>
                </a:lnTo>
                <a:lnTo>
                  <a:pt x="0" y="47314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alphaModFix amt="89000"/>
            </a:blip>
            <a:stretch>
              <a:fillRect b="-14234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12">
            <a:extLst>
              <a:ext uri="{FF2B5EF4-FFF2-40B4-BE49-F238E27FC236}">
                <a16:creationId xmlns:a16="http://schemas.microsoft.com/office/drawing/2014/main" id="{73191424-80E6-4394-4407-43CE7A55F447}"/>
              </a:ext>
            </a:extLst>
          </p:cNvPr>
          <p:cNvGrpSpPr/>
          <p:nvPr/>
        </p:nvGrpSpPr>
        <p:grpSpPr>
          <a:xfrm>
            <a:off x="6728776" y="4521103"/>
            <a:ext cx="4600575" cy="3930830"/>
            <a:chOff x="0" y="-47625"/>
            <a:chExt cx="1320076" cy="1229758"/>
          </a:xfrm>
        </p:grpSpPr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7C6116F5-E324-FE2E-E530-BA13BF5246D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320076" cy="1182133"/>
            </a:xfrm>
            <a:custGeom>
              <a:avLst/>
              <a:gdLst/>
              <a:ahLst/>
              <a:cxnLst/>
              <a:rect l="l" t="t" r="r" b="b"/>
              <a:pathLst>
                <a:path w="1320076" h="1182133">
                  <a:moveTo>
                    <a:pt x="68386" y="0"/>
                  </a:moveTo>
                  <a:lnTo>
                    <a:pt x="1251690" y="0"/>
                  </a:lnTo>
                  <a:cubicBezTo>
                    <a:pt x="1289459" y="0"/>
                    <a:pt x="1320076" y="30618"/>
                    <a:pt x="1320076" y="68386"/>
                  </a:cubicBezTo>
                  <a:lnTo>
                    <a:pt x="1320076" y="1113746"/>
                  </a:lnTo>
                  <a:cubicBezTo>
                    <a:pt x="1320076" y="1151515"/>
                    <a:pt x="1289459" y="1182133"/>
                    <a:pt x="1251690" y="1182133"/>
                  </a:cubicBezTo>
                  <a:lnTo>
                    <a:pt x="68386" y="1182133"/>
                  </a:lnTo>
                  <a:cubicBezTo>
                    <a:pt x="30618" y="1182133"/>
                    <a:pt x="0" y="1151515"/>
                    <a:pt x="0" y="1113746"/>
                  </a:cubicBezTo>
                  <a:lnTo>
                    <a:pt x="0" y="68386"/>
                  </a:lnTo>
                  <a:cubicBezTo>
                    <a:pt x="0" y="30618"/>
                    <a:pt x="30618" y="0"/>
                    <a:pt x="683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61925" cap="rnd">
              <a:gradFill>
                <a:gsLst>
                  <a:gs pos="0">
                    <a:srgbClr val="08377C">
                      <a:alpha val="100000"/>
                    </a:srgbClr>
                  </a:gs>
                  <a:gs pos="50000">
                    <a:srgbClr val="006BB6">
                      <a:alpha val="100000"/>
                    </a:srgbClr>
                  </a:gs>
                  <a:gs pos="100000">
                    <a:srgbClr val="C9E9F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TextBox 14">
              <a:extLst>
                <a:ext uri="{FF2B5EF4-FFF2-40B4-BE49-F238E27FC236}">
                  <a16:creationId xmlns:a16="http://schemas.microsoft.com/office/drawing/2014/main" id="{CA8F2F5E-CCCE-9192-8E12-B0EBE72BF075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0" y="-47625"/>
              <a:ext cx="1320076" cy="1229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9" name="Group 15">
            <a:extLst>
              <a:ext uri="{FF2B5EF4-FFF2-40B4-BE49-F238E27FC236}">
                <a16:creationId xmlns:a16="http://schemas.microsoft.com/office/drawing/2014/main" id="{EA25B26E-B4BE-29FE-569C-8F61D978EC8B}"/>
              </a:ext>
            </a:extLst>
          </p:cNvPr>
          <p:cNvGrpSpPr/>
          <p:nvPr/>
        </p:nvGrpSpPr>
        <p:grpSpPr>
          <a:xfrm>
            <a:off x="7543801" y="3498473"/>
            <a:ext cx="3048000" cy="2106236"/>
            <a:chOff x="-776316" y="189773"/>
            <a:chExt cx="435740" cy="505554"/>
          </a:xfrm>
        </p:grpSpPr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73375AFD-67FC-AD33-379F-DC8AAE4DD39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-745470" y="189773"/>
              <a:ext cx="383867" cy="430274"/>
            </a:xfrm>
            <a:custGeom>
              <a:avLst/>
              <a:gdLst/>
              <a:ahLst/>
              <a:cxnLst/>
              <a:rect l="l" t="t" r="r" b="b"/>
              <a:pathLst>
                <a:path w="435740" h="430274">
                  <a:moveTo>
                    <a:pt x="0" y="0"/>
                  </a:moveTo>
                  <a:lnTo>
                    <a:pt x="435740" y="0"/>
                  </a:lnTo>
                  <a:lnTo>
                    <a:pt x="435740" y="430274"/>
                  </a:lnTo>
                  <a:lnTo>
                    <a:pt x="0" y="430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TextBox 17">
              <a:extLst>
                <a:ext uri="{FF2B5EF4-FFF2-40B4-BE49-F238E27FC236}">
                  <a16:creationId xmlns:a16="http://schemas.microsoft.com/office/drawing/2014/main" id="{B64518AF-9711-4B0D-6259-1C37CC31D68B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776316" y="255528"/>
              <a:ext cx="435740" cy="43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360"/>
                </a:lnSpc>
                <a:spcBef>
                  <a:spcPct val="0"/>
                </a:spcBef>
              </a:pPr>
              <a:r>
                <a:rPr lang="vi-VN" sz="6600" b="1" spc="220" dirty="0">
                  <a:solidFill>
                    <a:srgbClr val="0063A1"/>
                  </a:solidFill>
                  <a:latin typeface="Nirmala UI" panose="020B0502040204020203" charset="0"/>
                  <a:cs typeface="Nirmala UI" panose="020B0502040204020203" charset="0"/>
                </a:rPr>
                <a:t>1.2.2</a:t>
              </a:r>
              <a:endParaRPr lang="en-US" sz="6600" b="1" spc="220" dirty="0">
                <a:solidFill>
                  <a:srgbClr val="0063A1"/>
                </a:solidFill>
                <a:latin typeface="Nirmala UI" panose="020B0502040204020203" charset="0"/>
                <a:cs typeface="Nirmala UI" panose="020B0502040204020203" charset="0"/>
              </a:endParaRPr>
            </a:p>
          </p:txBody>
        </p:sp>
      </p:grpSp>
      <p:sp>
        <p:nvSpPr>
          <p:cNvPr id="43" name="TextBox 27">
            <a:extLst>
              <a:ext uri="{FF2B5EF4-FFF2-40B4-BE49-F238E27FC236}">
                <a16:creationId xmlns:a16="http://schemas.microsoft.com/office/drawing/2014/main" id="{D6D4891D-15C1-987E-3F32-AF0A8351B2E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85800" y="4076700"/>
            <a:ext cx="4600575" cy="391668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endParaRPr lang="en-US" altLang="en-US" sz="4500" u="none" strike="noStrike" spc="43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C262CE95-D0B4-C5B2-C910-BC18FD81BAD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233160" y="4997771"/>
            <a:ext cx="3516633" cy="15201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spcBef>
                <a:spcPct val="0"/>
              </a:spcBef>
            </a:pPr>
            <a:r>
              <a:rPr lang="en-US" sz="4500" dirty="0" err="1">
                <a:latin typeface="Times New Roman" panose="02020603050405020304"/>
                <a:ea typeface="Calibri" panose="020F0502020204030204"/>
              </a:rPr>
              <a:t>Nội</a:t>
            </a:r>
            <a:r>
              <a:rPr lang="vi-VN" sz="4500" dirty="0">
                <a:latin typeface="Times New Roman" panose="02020603050405020304"/>
                <a:ea typeface="Calibri" panose="020F0502020204030204"/>
              </a:rPr>
              <a:t> </a:t>
            </a:r>
            <a:r>
              <a:rPr lang="en-US" sz="4500" dirty="0">
                <a:latin typeface="Times New Roman" panose="02020603050405020304"/>
                <a:ea typeface="Calibri" panose="020F0502020204030204"/>
              </a:rPr>
              <a:t>dung </a:t>
            </a:r>
            <a:r>
              <a:rPr lang="en-US" sz="4500" dirty="0" err="1">
                <a:latin typeface="Times New Roman" panose="02020603050405020304"/>
                <a:ea typeface="Calibri" panose="020F0502020204030204"/>
              </a:rPr>
              <a:t>dạy</a:t>
            </a:r>
            <a:r>
              <a:rPr lang="en-US" sz="4500" dirty="0">
                <a:latin typeface="Times New Roman" panose="02020603050405020304"/>
                <a:ea typeface="Calibri" panose="020F0502020204030204"/>
              </a:rPr>
              <a:t> </a:t>
            </a:r>
            <a:r>
              <a:rPr lang="en-US" sz="4500" dirty="0" err="1">
                <a:latin typeface="Times New Roman" panose="02020603050405020304"/>
                <a:ea typeface="Calibri" panose="020F0502020204030204"/>
              </a:rPr>
              <a:t>học</a:t>
            </a:r>
            <a:r>
              <a:rPr lang="en-US" sz="4500" dirty="0">
                <a:latin typeface="Times New Roman" panose="02020603050405020304"/>
                <a:ea typeface="Calibri" panose="020F0502020204030204"/>
              </a:rPr>
              <a:t> </a:t>
            </a:r>
            <a:r>
              <a:rPr lang="en-US" sz="4500" dirty="0" err="1">
                <a:latin typeface="Times New Roman" panose="02020603050405020304"/>
                <a:ea typeface="Calibri" panose="020F0502020204030204"/>
              </a:rPr>
              <a:t>hình</a:t>
            </a:r>
            <a:r>
              <a:rPr lang="en-US" sz="4500" dirty="0">
                <a:latin typeface="Times New Roman" panose="02020603050405020304"/>
                <a:ea typeface="Calibri" panose="020F0502020204030204"/>
              </a:rPr>
              <a:t> </a:t>
            </a:r>
            <a:r>
              <a:rPr lang="en-US" sz="4500" dirty="0" err="1">
                <a:latin typeface="Times New Roman" panose="02020603050405020304"/>
                <a:ea typeface="Calibri" panose="020F0502020204030204"/>
              </a:rPr>
              <a:t>học</a:t>
            </a:r>
            <a:r>
              <a:rPr lang="en-US" sz="4500" dirty="0">
                <a:latin typeface="Times New Roman" panose="02020603050405020304"/>
                <a:ea typeface="Calibri" panose="020F0502020204030204"/>
              </a:rPr>
              <a:t> </a:t>
            </a:r>
            <a:r>
              <a:rPr lang="en-US" sz="4500" dirty="0" err="1">
                <a:latin typeface="Times New Roman" panose="02020603050405020304"/>
                <a:ea typeface="Calibri" panose="020F0502020204030204"/>
              </a:rPr>
              <a:t>lớp</a:t>
            </a:r>
            <a:r>
              <a:rPr lang="en-US" sz="4500" dirty="0">
                <a:latin typeface="Times New Roman" panose="02020603050405020304"/>
                <a:ea typeface="Calibri" panose="020F0502020204030204"/>
              </a:rPr>
              <a:t> 3</a:t>
            </a:r>
            <a:endParaRPr lang="en-US" sz="4500" u="none" strike="noStrike" spc="43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977D5A50-3FD8-06B2-DC94-02623C6CBEE7}"/>
              </a:ext>
            </a:extLst>
          </p:cNvPr>
          <p:cNvGrpSpPr/>
          <p:nvPr/>
        </p:nvGrpSpPr>
        <p:grpSpPr>
          <a:xfrm>
            <a:off x="12520850" y="4470620"/>
            <a:ext cx="5280105" cy="3930830"/>
            <a:chOff x="0" y="-47625"/>
            <a:chExt cx="1320076" cy="1229758"/>
          </a:xfrm>
        </p:grpSpPr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6CAABC3A-643B-E588-42AD-A3B0401683F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320076" cy="1182133"/>
            </a:xfrm>
            <a:custGeom>
              <a:avLst/>
              <a:gdLst/>
              <a:ahLst/>
              <a:cxnLst/>
              <a:rect l="l" t="t" r="r" b="b"/>
              <a:pathLst>
                <a:path w="1320076" h="1182133">
                  <a:moveTo>
                    <a:pt x="68386" y="0"/>
                  </a:moveTo>
                  <a:lnTo>
                    <a:pt x="1251690" y="0"/>
                  </a:lnTo>
                  <a:cubicBezTo>
                    <a:pt x="1289459" y="0"/>
                    <a:pt x="1320076" y="30618"/>
                    <a:pt x="1320076" y="68386"/>
                  </a:cubicBezTo>
                  <a:lnTo>
                    <a:pt x="1320076" y="1113746"/>
                  </a:lnTo>
                  <a:cubicBezTo>
                    <a:pt x="1320076" y="1151515"/>
                    <a:pt x="1289459" y="1182133"/>
                    <a:pt x="1251690" y="1182133"/>
                  </a:cubicBezTo>
                  <a:lnTo>
                    <a:pt x="68386" y="1182133"/>
                  </a:lnTo>
                  <a:cubicBezTo>
                    <a:pt x="30618" y="1182133"/>
                    <a:pt x="0" y="1151515"/>
                    <a:pt x="0" y="1113746"/>
                  </a:cubicBezTo>
                  <a:lnTo>
                    <a:pt x="0" y="68386"/>
                  </a:lnTo>
                  <a:cubicBezTo>
                    <a:pt x="0" y="30618"/>
                    <a:pt x="30618" y="0"/>
                    <a:pt x="683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61925" cap="rnd">
              <a:gradFill>
                <a:gsLst>
                  <a:gs pos="0">
                    <a:srgbClr val="08377C">
                      <a:alpha val="100000"/>
                    </a:srgbClr>
                  </a:gs>
                  <a:gs pos="50000">
                    <a:srgbClr val="006BB6">
                      <a:alpha val="100000"/>
                    </a:srgbClr>
                  </a:gs>
                  <a:gs pos="100000">
                    <a:srgbClr val="C9E9F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TextBox 14">
              <a:extLst>
                <a:ext uri="{FF2B5EF4-FFF2-40B4-BE49-F238E27FC236}">
                  <a16:creationId xmlns:a16="http://schemas.microsoft.com/office/drawing/2014/main" id="{587B99BB-E918-8202-21D7-FD795E8310E7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0" y="-47625"/>
              <a:ext cx="1320076" cy="1229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0" name="Freeform 9">
            <a:extLst>
              <a:ext uri="{FF2B5EF4-FFF2-40B4-BE49-F238E27FC236}">
                <a16:creationId xmlns:a16="http://schemas.microsoft.com/office/drawing/2014/main" id="{C6B9773F-6234-0005-60E0-7B648CE7B85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 rot="10800000">
            <a:off x="12792738" y="8451933"/>
            <a:ext cx="4799330" cy="638175"/>
          </a:xfrm>
          <a:custGeom>
            <a:avLst/>
            <a:gdLst/>
            <a:ahLst/>
            <a:cxnLst/>
            <a:rect l="l" t="t" r="r" b="b"/>
            <a:pathLst>
              <a:path w="3988366" h="473147">
                <a:moveTo>
                  <a:pt x="0" y="0"/>
                </a:moveTo>
                <a:lnTo>
                  <a:pt x="3988366" y="0"/>
                </a:lnTo>
                <a:lnTo>
                  <a:pt x="3988366" y="473147"/>
                </a:lnTo>
                <a:lnTo>
                  <a:pt x="0" y="47314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alphaModFix amt="89000"/>
            </a:blip>
            <a:stretch>
              <a:fillRect b="-14234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5">
            <a:extLst>
              <a:ext uri="{FF2B5EF4-FFF2-40B4-BE49-F238E27FC236}">
                <a16:creationId xmlns:a16="http://schemas.microsoft.com/office/drawing/2014/main" id="{E0D7EF47-FDEA-D2DE-54D6-36C4653D7736}"/>
              </a:ext>
            </a:extLst>
          </p:cNvPr>
          <p:cNvGrpSpPr/>
          <p:nvPr/>
        </p:nvGrpSpPr>
        <p:grpSpPr>
          <a:xfrm>
            <a:off x="13586778" y="3524586"/>
            <a:ext cx="2868131" cy="2106236"/>
            <a:chOff x="-776316" y="189773"/>
            <a:chExt cx="414713" cy="505554"/>
          </a:xfrm>
        </p:grpSpPr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BB173A63-06E4-AF5A-99B7-EFA91062097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-745470" y="189773"/>
              <a:ext cx="383867" cy="430274"/>
            </a:xfrm>
            <a:custGeom>
              <a:avLst/>
              <a:gdLst/>
              <a:ahLst/>
              <a:cxnLst/>
              <a:rect l="l" t="t" r="r" b="b"/>
              <a:pathLst>
                <a:path w="435740" h="430274">
                  <a:moveTo>
                    <a:pt x="0" y="0"/>
                  </a:moveTo>
                  <a:lnTo>
                    <a:pt x="435740" y="0"/>
                  </a:lnTo>
                  <a:lnTo>
                    <a:pt x="435740" y="430274"/>
                  </a:lnTo>
                  <a:lnTo>
                    <a:pt x="0" y="430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45033ADC-04A4-9503-759C-E704C2E27847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-776316" y="255528"/>
              <a:ext cx="414713" cy="43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360"/>
                </a:lnSpc>
                <a:spcBef>
                  <a:spcPct val="0"/>
                </a:spcBef>
              </a:pPr>
              <a:r>
                <a:rPr lang="vi-VN" sz="6600" b="1" spc="220" dirty="0">
                  <a:solidFill>
                    <a:srgbClr val="0063A1"/>
                  </a:solidFill>
                  <a:latin typeface="Nirmala UI" panose="020B0502040204020203" charset="0"/>
                  <a:cs typeface="Nirmala UI" panose="020B0502040204020203" charset="0"/>
                </a:rPr>
                <a:t>1.2.3</a:t>
              </a:r>
              <a:endParaRPr lang="en-US" sz="6600" b="1" spc="220" dirty="0">
                <a:solidFill>
                  <a:srgbClr val="0063A1"/>
                </a:solidFill>
                <a:latin typeface="Nirmala UI" panose="020B0502040204020203" charset="0"/>
                <a:cs typeface="Nirmala UI" panose="020B0502040204020203" charset="0"/>
              </a:endParaRPr>
            </a:p>
          </p:txBody>
        </p:sp>
      </p:grpSp>
      <p:sp>
        <p:nvSpPr>
          <p:cNvPr id="15" name="TextBox 27">
            <a:extLst>
              <a:ext uri="{FF2B5EF4-FFF2-40B4-BE49-F238E27FC236}">
                <a16:creationId xmlns:a16="http://schemas.microsoft.com/office/drawing/2014/main" id="{17BC87F5-7374-0427-A2A5-3A212318FBC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2946380" y="4997569"/>
            <a:ext cx="4600575" cy="15201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spcBef>
                <a:spcPct val="0"/>
              </a:spcBef>
            </a:pPr>
            <a:r>
              <a:rPr lang="vi-VN" sz="4500" u="none" strike="noStrike" spc="43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Mục tiêu dạy học hình học lớp 3 theo CT GDPT 2018</a:t>
            </a:r>
            <a:endParaRPr lang="en-US" sz="4500" u="none" strike="noStrike" spc="43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4004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3" grpId="0"/>
      <p:bldP spid="43" grpId="1"/>
      <p:bldP spid="52" grpId="0"/>
      <p:bldP spid="52" grpId="1"/>
      <p:bldP spid="15" grpId="0"/>
      <p:bldP spid="1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7;p3"/>
          <p:cNvCxnSpPr/>
          <p:nvPr/>
        </p:nvCxnSpPr>
        <p:spPr>
          <a:xfrm>
            <a:off x="-9525000" y="1866900"/>
            <a:ext cx="0" cy="4800600"/>
          </a:xfrm>
          <a:prstGeom prst="straightConnector1">
            <a:avLst/>
          </a:prstGeom>
          <a:noFill/>
          <a:ln w="38100" cap="flat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Text Box 104"/>
          <p:cNvSpPr txBox="1"/>
          <p:nvPr>
            <p:custDataLst>
              <p:tags r:id="rId1"/>
            </p:custDataLst>
          </p:nvPr>
        </p:nvSpPr>
        <p:spPr>
          <a:xfrm>
            <a:off x="769620" y="466661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5486400" y="-419100"/>
            <a:ext cx="12801600" cy="1905000"/>
            <a:chOff x="9120" y="-660"/>
            <a:chExt cx="20160" cy="3000"/>
          </a:xfrm>
        </p:grpSpPr>
        <p:cxnSp>
          <p:nvCxnSpPr>
            <p:cNvPr id="4" name="Google Shape;117;p3"/>
            <p:cNvCxnSpPr/>
            <p:nvPr>
              <p:custDataLst>
                <p:tags r:id="rId24"/>
              </p:custDataLst>
            </p:nvPr>
          </p:nvCxnSpPr>
          <p:spPr>
            <a:xfrm>
              <a:off x="9120" y="222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" name="Google Shape;117;p3"/>
            <p:cNvCxnSpPr/>
            <p:nvPr>
              <p:custDataLst>
                <p:tags r:id="rId25"/>
              </p:custDataLst>
            </p:nvPr>
          </p:nvCxnSpPr>
          <p:spPr>
            <a:xfrm flipV="1">
              <a:off x="912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9" name="Text Box 68"/>
          <p:cNvSpPr txBox="1"/>
          <p:nvPr>
            <p:custDataLst>
              <p:tags r:id="rId2"/>
            </p:custDataLst>
          </p:nvPr>
        </p:nvSpPr>
        <p:spPr>
          <a:xfrm>
            <a:off x="9579610" y="2667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endParaRPr lang="en-US" sz="7200" b="1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28600" y="114935"/>
            <a:ext cx="5485765" cy="1286510"/>
            <a:chOff x="27600" y="432"/>
            <a:chExt cx="8639" cy="2026"/>
          </a:xfrm>
        </p:grpSpPr>
        <p:sp>
          <p:nvSpPr>
            <p:cNvPr id="18" name="Freeform 61"/>
            <p:cNvSpPr/>
            <p:nvPr>
              <p:custDataLst>
                <p:tags r:id="rId22"/>
              </p:custDataLst>
            </p:nvPr>
          </p:nvSpPr>
          <p:spPr>
            <a:xfrm rot="10800000">
              <a:off x="27600" y="432"/>
              <a:ext cx="8639" cy="2026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 Box 18"/>
            <p:cNvSpPr txBox="1"/>
            <p:nvPr>
              <p:custDataLst>
                <p:tags r:id="rId23"/>
              </p:custDataLst>
            </p:nvPr>
          </p:nvSpPr>
          <p:spPr>
            <a:xfrm>
              <a:off x="27960" y="67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 cstate="print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65" y="200025"/>
            <a:ext cx="1133475" cy="1133475"/>
          </a:xfrm>
          <a:prstGeom prst="rect">
            <a:avLst/>
          </a:prstGeom>
        </p:spPr>
      </p:pic>
      <p:sp>
        <p:nvSpPr>
          <p:cNvPr id="27" name="Text Box 26"/>
          <p:cNvSpPr txBox="1"/>
          <p:nvPr/>
        </p:nvSpPr>
        <p:spPr>
          <a:xfrm>
            <a:off x="914400" y="1995805"/>
            <a:ext cx="16683990" cy="12096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ctr" defTabSz="266700">
              <a:lnSpc>
                <a:spcPct val="100000"/>
              </a:lnSpc>
              <a:spcAft>
                <a:spcPts val="1000"/>
              </a:spcAft>
            </a:pPr>
            <a:endParaRPr lang="en-US" sz="4500" b="1" dirty="0">
              <a:solidFill>
                <a:schemeClr val="tx1"/>
              </a:solidFill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6" name="Text Box 5"/>
          <p:cNvSpPr txBox="1"/>
          <p:nvPr>
            <p:custDataLst>
              <p:tags r:id="rId4"/>
            </p:custDataLst>
          </p:nvPr>
        </p:nvSpPr>
        <p:spPr>
          <a:xfrm>
            <a:off x="6022975" y="395444"/>
            <a:ext cx="1226502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CƠ SỞ LÝ LUẬN</a:t>
            </a:r>
            <a:r>
              <a:rPr lang="vi-VN" sz="36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VÀ THỰC TIỄN</a:t>
            </a:r>
            <a:endParaRPr lang="en-US" sz="36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36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Freeform 2"/>
          <p:cNvSpPr/>
          <p:nvPr>
            <p:custDataLst>
              <p:tags r:id="rId5"/>
            </p:custDataLst>
          </p:nvPr>
        </p:nvSpPr>
        <p:spPr>
          <a:xfrm rot="10800000">
            <a:off x="783907" y="9709945"/>
            <a:ext cx="4799330" cy="638175"/>
          </a:xfrm>
          <a:custGeom>
            <a:avLst/>
            <a:gdLst/>
            <a:ahLst/>
            <a:cxnLst/>
            <a:rect l="l" t="t" r="r" b="b"/>
            <a:pathLst>
              <a:path w="3988366" h="473147">
                <a:moveTo>
                  <a:pt x="0" y="0"/>
                </a:moveTo>
                <a:lnTo>
                  <a:pt x="3988366" y="0"/>
                </a:lnTo>
                <a:lnTo>
                  <a:pt x="3988366" y="473147"/>
                </a:lnTo>
                <a:lnTo>
                  <a:pt x="0" y="47314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alphaModFix amt="89000"/>
            </a:blip>
            <a:stretch>
              <a:fillRect b="-1423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4"/>
          <p:cNvSpPr/>
          <p:nvPr>
            <p:custDataLst>
              <p:tags r:id="rId6"/>
            </p:custDataLst>
          </p:nvPr>
        </p:nvSpPr>
        <p:spPr>
          <a:xfrm>
            <a:off x="457201" y="3695700"/>
            <a:ext cx="5089996" cy="5974080"/>
          </a:xfrm>
          <a:custGeom>
            <a:avLst/>
            <a:gdLst/>
            <a:ahLst/>
            <a:cxnLst/>
            <a:rect l="l" t="t" r="r" b="b"/>
            <a:pathLst>
              <a:path w="1320076" h="1182133">
                <a:moveTo>
                  <a:pt x="68386" y="0"/>
                </a:moveTo>
                <a:lnTo>
                  <a:pt x="1251690" y="0"/>
                </a:lnTo>
                <a:cubicBezTo>
                  <a:pt x="1289459" y="0"/>
                  <a:pt x="1320076" y="30618"/>
                  <a:pt x="1320076" y="68386"/>
                </a:cubicBezTo>
                <a:lnTo>
                  <a:pt x="1320076" y="1113746"/>
                </a:lnTo>
                <a:cubicBezTo>
                  <a:pt x="1320076" y="1151515"/>
                  <a:pt x="1289459" y="1182133"/>
                  <a:pt x="1251690" y="1182133"/>
                </a:cubicBezTo>
                <a:lnTo>
                  <a:pt x="68386" y="1182133"/>
                </a:lnTo>
                <a:cubicBezTo>
                  <a:pt x="30618" y="1182133"/>
                  <a:pt x="0" y="1151515"/>
                  <a:pt x="0" y="1113746"/>
                </a:cubicBezTo>
                <a:lnTo>
                  <a:pt x="0" y="68386"/>
                </a:lnTo>
                <a:cubicBezTo>
                  <a:pt x="0" y="30618"/>
                  <a:pt x="30618" y="0"/>
                  <a:pt x="6838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61925" cap="rnd">
            <a:gradFill>
              <a:gsLst>
                <a:gs pos="0">
                  <a:srgbClr val="08377C">
                    <a:alpha val="100000"/>
                  </a:srgbClr>
                </a:gs>
                <a:gs pos="50000">
                  <a:srgbClr val="006BB6">
                    <a:alpha val="100000"/>
                  </a:srgbClr>
                </a:gs>
                <a:gs pos="100000">
                  <a:srgbClr val="C9E9FF">
                    <a:alpha val="100000"/>
                  </a:srgbClr>
                </a:gs>
              </a:gsLst>
              <a:lin ang="2700000"/>
            </a:gra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31" name="Group 6"/>
          <p:cNvGrpSpPr/>
          <p:nvPr/>
        </p:nvGrpSpPr>
        <p:grpSpPr>
          <a:xfrm>
            <a:off x="2595245" y="2868295"/>
            <a:ext cx="1619250" cy="1792605"/>
            <a:chOff x="0" y="0"/>
            <a:chExt cx="435740" cy="430274"/>
          </a:xfrm>
        </p:grpSpPr>
        <p:sp>
          <p:nvSpPr>
            <p:cNvPr id="32" name="Freeform 7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435740" cy="430274"/>
            </a:xfrm>
            <a:custGeom>
              <a:avLst/>
              <a:gdLst/>
              <a:ahLst/>
              <a:cxnLst/>
              <a:rect l="l" t="t" r="r" b="b"/>
              <a:pathLst>
                <a:path w="435740" h="430274">
                  <a:moveTo>
                    <a:pt x="0" y="0"/>
                  </a:moveTo>
                  <a:lnTo>
                    <a:pt x="435740" y="0"/>
                  </a:lnTo>
                  <a:lnTo>
                    <a:pt x="435740" y="430274"/>
                  </a:lnTo>
                  <a:lnTo>
                    <a:pt x="0" y="430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8"/>
            <p:cNvSpPr txBox="1"/>
            <p:nvPr>
              <p:custDataLst>
                <p:tags r:id="rId21"/>
              </p:custDataLst>
            </p:nvPr>
          </p:nvSpPr>
          <p:spPr>
            <a:xfrm>
              <a:off x="0" y="-9525"/>
              <a:ext cx="435740" cy="43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360"/>
                </a:lnSpc>
                <a:spcBef>
                  <a:spcPct val="0"/>
                </a:spcBef>
              </a:pPr>
              <a:r>
                <a:rPr lang="en-US" sz="6600" b="1" u="none" strike="noStrike" spc="220">
                  <a:solidFill>
                    <a:srgbClr val="0063A1"/>
                  </a:solidFill>
                  <a:latin typeface="Nirmala UI" panose="020B0502040204020203" charset="0"/>
                  <a:cs typeface="Nirmala UI" panose="020B0502040204020203" charset="0"/>
                </a:rPr>
                <a:t>01</a:t>
              </a:r>
            </a:p>
          </p:txBody>
        </p:sp>
      </p:grpSp>
      <p:sp>
        <p:nvSpPr>
          <p:cNvPr id="34" name="Freeform 9"/>
          <p:cNvSpPr/>
          <p:nvPr>
            <p:custDataLst>
              <p:tags r:id="rId7"/>
            </p:custDataLst>
          </p:nvPr>
        </p:nvSpPr>
        <p:spPr>
          <a:xfrm rot="10800000">
            <a:off x="6706232" y="9788051"/>
            <a:ext cx="4799330" cy="638175"/>
          </a:xfrm>
          <a:custGeom>
            <a:avLst/>
            <a:gdLst/>
            <a:ahLst/>
            <a:cxnLst/>
            <a:rect l="l" t="t" r="r" b="b"/>
            <a:pathLst>
              <a:path w="3988366" h="473147">
                <a:moveTo>
                  <a:pt x="0" y="0"/>
                </a:moveTo>
                <a:lnTo>
                  <a:pt x="3988366" y="0"/>
                </a:lnTo>
                <a:lnTo>
                  <a:pt x="3988366" y="473147"/>
                </a:lnTo>
                <a:lnTo>
                  <a:pt x="0" y="47314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alphaModFix amt="89000"/>
            </a:blip>
            <a:stretch>
              <a:fillRect b="-142346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6" name="Group 12"/>
          <p:cNvGrpSpPr/>
          <p:nvPr/>
        </p:nvGrpSpPr>
        <p:grpSpPr>
          <a:xfrm>
            <a:off x="6317935" y="3731895"/>
            <a:ext cx="5472425" cy="5979321"/>
            <a:chOff x="0" y="0"/>
            <a:chExt cx="1320076" cy="1182133"/>
          </a:xfrm>
        </p:grpSpPr>
        <p:sp>
          <p:nvSpPr>
            <p:cNvPr id="37" name="Freeform 13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320076" cy="1182133"/>
            </a:xfrm>
            <a:custGeom>
              <a:avLst/>
              <a:gdLst/>
              <a:ahLst/>
              <a:cxnLst/>
              <a:rect l="l" t="t" r="r" b="b"/>
              <a:pathLst>
                <a:path w="1320076" h="1182133">
                  <a:moveTo>
                    <a:pt x="68386" y="0"/>
                  </a:moveTo>
                  <a:lnTo>
                    <a:pt x="1251690" y="0"/>
                  </a:lnTo>
                  <a:cubicBezTo>
                    <a:pt x="1289459" y="0"/>
                    <a:pt x="1320076" y="30618"/>
                    <a:pt x="1320076" y="68386"/>
                  </a:cubicBezTo>
                  <a:lnTo>
                    <a:pt x="1320076" y="1113746"/>
                  </a:lnTo>
                  <a:cubicBezTo>
                    <a:pt x="1320076" y="1151515"/>
                    <a:pt x="1289459" y="1182133"/>
                    <a:pt x="1251690" y="1182133"/>
                  </a:cubicBezTo>
                  <a:lnTo>
                    <a:pt x="68386" y="1182133"/>
                  </a:lnTo>
                  <a:cubicBezTo>
                    <a:pt x="30618" y="1182133"/>
                    <a:pt x="0" y="1151515"/>
                    <a:pt x="0" y="1113746"/>
                  </a:cubicBezTo>
                  <a:lnTo>
                    <a:pt x="0" y="68386"/>
                  </a:lnTo>
                  <a:cubicBezTo>
                    <a:pt x="0" y="30618"/>
                    <a:pt x="30618" y="0"/>
                    <a:pt x="683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61925" cap="rnd">
              <a:gradFill>
                <a:gsLst>
                  <a:gs pos="0">
                    <a:srgbClr val="08377C">
                      <a:alpha val="100000"/>
                    </a:srgbClr>
                  </a:gs>
                  <a:gs pos="50000">
                    <a:srgbClr val="006BB6">
                      <a:alpha val="100000"/>
                    </a:srgbClr>
                  </a:gs>
                  <a:gs pos="100000">
                    <a:srgbClr val="C9E9F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14"/>
            <p:cNvSpPr txBox="1"/>
            <p:nvPr>
              <p:custDataLst>
                <p:tags r:id="rId19"/>
              </p:custDataLst>
            </p:nvPr>
          </p:nvSpPr>
          <p:spPr>
            <a:xfrm>
              <a:off x="0" y="-47625"/>
              <a:ext cx="1320076" cy="1229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9" name="Group 15"/>
          <p:cNvGrpSpPr/>
          <p:nvPr/>
        </p:nvGrpSpPr>
        <p:grpSpPr>
          <a:xfrm>
            <a:off x="8260715" y="2868295"/>
            <a:ext cx="1619250" cy="1792605"/>
            <a:chOff x="0" y="0"/>
            <a:chExt cx="435740" cy="430274"/>
          </a:xfrm>
        </p:grpSpPr>
        <p:sp>
          <p:nvSpPr>
            <p:cNvPr id="41" name="Freeform 16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435740" cy="430274"/>
            </a:xfrm>
            <a:custGeom>
              <a:avLst/>
              <a:gdLst/>
              <a:ahLst/>
              <a:cxnLst/>
              <a:rect l="l" t="t" r="r" b="b"/>
              <a:pathLst>
                <a:path w="435740" h="430274">
                  <a:moveTo>
                    <a:pt x="0" y="0"/>
                  </a:moveTo>
                  <a:lnTo>
                    <a:pt x="435740" y="0"/>
                  </a:lnTo>
                  <a:lnTo>
                    <a:pt x="435740" y="430274"/>
                  </a:lnTo>
                  <a:lnTo>
                    <a:pt x="0" y="430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17"/>
            <p:cNvSpPr txBox="1"/>
            <p:nvPr>
              <p:custDataLst>
                <p:tags r:id="rId17"/>
              </p:custDataLst>
            </p:nvPr>
          </p:nvSpPr>
          <p:spPr>
            <a:xfrm>
              <a:off x="0" y="-9525"/>
              <a:ext cx="435740" cy="43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360"/>
                </a:lnSpc>
                <a:spcBef>
                  <a:spcPct val="0"/>
                </a:spcBef>
              </a:pPr>
              <a:r>
                <a:rPr lang="en-US" sz="6600" b="1" spc="220">
                  <a:solidFill>
                    <a:srgbClr val="0063A1"/>
                  </a:solidFill>
                  <a:latin typeface="Nirmala UI" panose="020B0502040204020203" charset="0"/>
                  <a:cs typeface="Nirmala UI" panose="020B0502040204020203" charset="0"/>
                </a:rPr>
                <a:t>02</a:t>
              </a:r>
            </a:p>
          </p:txBody>
        </p:sp>
      </p:grpSp>
      <p:sp>
        <p:nvSpPr>
          <p:cNvPr id="43" name="TextBox 27"/>
          <p:cNvSpPr txBox="1"/>
          <p:nvPr>
            <p:custDataLst>
              <p:tags r:id="rId8"/>
            </p:custDataLst>
          </p:nvPr>
        </p:nvSpPr>
        <p:spPr>
          <a:xfrm>
            <a:off x="662305" y="4641850"/>
            <a:ext cx="4600575" cy="391668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vi-VN" sz="3600" i="1" dirty="0">
                <a:latin typeface="+mj-lt"/>
              </a:rPr>
              <a:t>Kỹ thuật:</a:t>
            </a:r>
            <a:r>
              <a:rPr lang="vi-VN" sz="3600" dirty="0">
                <a:latin typeface="+mj-lt"/>
              </a:rPr>
              <a:t> thiết kế, chế tạo các sản phẩm như lồng đèn, tháp giấy, cầu nối, nhà lắp ghép </a:t>
            </a:r>
            <a:r>
              <a:rPr lang="vi-VN" sz="3600" dirty="0" err="1">
                <a:latin typeface="+mj-lt"/>
              </a:rPr>
              <a:t>mini</a:t>
            </a:r>
            <a:r>
              <a:rPr lang="vi-VN" sz="3600" dirty="0">
                <a:latin typeface="+mj-lt"/>
              </a:rPr>
              <a:t>…</a:t>
            </a:r>
            <a:endParaRPr lang="en-US" altLang="en-US" sz="7200" u="none" strike="noStrike" spc="43" dirty="0">
              <a:solidFill>
                <a:schemeClr val="tx1"/>
              </a:solidFill>
              <a:latin typeface="+mj-lt"/>
              <a:cs typeface="Times New Roman" panose="02020603050405020304" charset="0"/>
            </a:endParaRPr>
          </a:p>
        </p:txBody>
      </p:sp>
      <p:sp>
        <p:nvSpPr>
          <p:cNvPr id="44" name="Freeform 9"/>
          <p:cNvSpPr/>
          <p:nvPr>
            <p:custDataLst>
              <p:tags r:id="rId9"/>
            </p:custDataLst>
          </p:nvPr>
        </p:nvSpPr>
        <p:spPr>
          <a:xfrm rot="10800000">
            <a:off x="12817003" y="9744553"/>
            <a:ext cx="4799330" cy="638175"/>
          </a:xfrm>
          <a:custGeom>
            <a:avLst/>
            <a:gdLst/>
            <a:ahLst/>
            <a:cxnLst/>
            <a:rect l="l" t="t" r="r" b="b"/>
            <a:pathLst>
              <a:path w="3988366" h="473147">
                <a:moveTo>
                  <a:pt x="0" y="0"/>
                </a:moveTo>
                <a:lnTo>
                  <a:pt x="3988366" y="0"/>
                </a:lnTo>
                <a:lnTo>
                  <a:pt x="3988366" y="473147"/>
                </a:lnTo>
                <a:lnTo>
                  <a:pt x="0" y="47314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alphaModFix amt="89000"/>
            </a:blip>
            <a:stretch>
              <a:fillRect b="-14234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5" name="Group 12"/>
          <p:cNvGrpSpPr/>
          <p:nvPr/>
        </p:nvGrpSpPr>
        <p:grpSpPr>
          <a:xfrm>
            <a:off x="12090080" y="3744756"/>
            <a:ext cx="5828030" cy="5966460"/>
            <a:chOff x="0" y="0"/>
            <a:chExt cx="1320076" cy="1182133"/>
          </a:xfrm>
        </p:grpSpPr>
        <p:sp>
          <p:nvSpPr>
            <p:cNvPr id="46" name="Freeform 13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320076" cy="1182133"/>
            </a:xfrm>
            <a:custGeom>
              <a:avLst/>
              <a:gdLst/>
              <a:ahLst/>
              <a:cxnLst/>
              <a:rect l="l" t="t" r="r" b="b"/>
              <a:pathLst>
                <a:path w="1320076" h="1182133">
                  <a:moveTo>
                    <a:pt x="68386" y="0"/>
                  </a:moveTo>
                  <a:lnTo>
                    <a:pt x="1251690" y="0"/>
                  </a:lnTo>
                  <a:cubicBezTo>
                    <a:pt x="1289459" y="0"/>
                    <a:pt x="1320076" y="30618"/>
                    <a:pt x="1320076" y="68386"/>
                  </a:cubicBezTo>
                  <a:lnTo>
                    <a:pt x="1320076" y="1113746"/>
                  </a:lnTo>
                  <a:cubicBezTo>
                    <a:pt x="1320076" y="1151515"/>
                    <a:pt x="1289459" y="1182133"/>
                    <a:pt x="1251690" y="1182133"/>
                  </a:cubicBezTo>
                  <a:lnTo>
                    <a:pt x="68386" y="1182133"/>
                  </a:lnTo>
                  <a:cubicBezTo>
                    <a:pt x="30618" y="1182133"/>
                    <a:pt x="0" y="1151515"/>
                    <a:pt x="0" y="1113746"/>
                  </a:cubicBezTo>
                  <a:lnTo>
                    <a:pt x="0" y="68386"/>
                  </a:lnTo>
                  <a:cubicBezTo>
                    <a:pt x="0" y="30618"/>
                    <a:pt x="30618" y="0"/>
                    <a:pt x="683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61925" cap="rnd">
              <a:gradFill>
                <a:gsLst>
                  <a:gs pos="0">
                    <a:srgbClr val="08377C">
                      <a:alpha val="100000"/>
                    </a:srgbClr>
                  </a:gs>
                  <a:gs pos="50000">
                    <a:srgbClr val="006BB6">
                      <a:alpha val="100000"/>
                    </a:srgbClr>
                  </a:gs>
                  <a:gs pos="100000">
                    <a:srgbClr val="C9E9F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47" name="TextBox 14"/>
            <p:cNvSpPr txBox="1"/>
            <p:nvPr>
              <p:custDataLst>
                <p:tags r:id="rId15"/>
              </p:custDataLst>
            </p:nvPr>
          </p:nvSpPr>
          <p:spPr>
            <a:xfrm>
              <a:off x="0" y="-47625"/>
              <a:ext cx="1320076" cy="1229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sz="2800"/>
            </a:p>
          </p:txBody>
        </p:sp>
      </p:grpSp>
      <p:grpSp>
        <p:nvGrpSpPr>
          <p:cNvPr id="48" name="Group 6"/>
          <p:cNvGrpSpPr/>
          <p:nvPr/>
        </p:nvGrpSpPr>
        <p:grpSpPr>
          <a:xfrm>
            <a:off x="14076045" y="2919095"/>
            <a:ext cx="1619250" cy="1792605"/>
            <a:chOff x="0" y="0"/>
            <a:chExt cx="435740" cy="430274"/>
          </a:xfrm>
        </p:grpSpPr>
        <p:sp>
          <p:nvSpPr>
            <p:cNvPr id="49" name="Freeform 7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435740" cy="430274"/>
            </a:xfrm>
            <a:custGeom>
              <a:avLst/>
              <a:gdLst/>
              <a:ahLst/>
              <a:cxnLst/>
              <a:rect l="l" t="t" r="r" b="b"/>
              <a:pathLst>
                <a:path w="435740" h="430274">
                  <a:moveTo>
                    <a:pt x="0" y="0"/>
                  </a:moveTo>
                  <a:lnTo>
                    <a:pt x="435740" y="0"/>
                  </a:lnTo>
                  <a:lnTo>
                    <a:pt x="435740" y="430274"/>
                  </a:lnTo>
                  <a:lnTo>
                    <a:pt x="0" y="430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8"/>
            <p:cNvSpPr txBox="1"/>
            <p:nvPr>
              <p:custDataLst>
                <p:tags r:id="rId13"/>
              </p:custDataLst>
            </p:nvPr>
          </p:nvSpPr>
          <p:spPr>
            <a:xfrm>
              <a:off x="0" y="-9525"/>
              <a:ext cx="435740" cy="439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360"/>
                </a:lnSpc>
                <a:spcBef>
                  <a:spcPct val="0"/>
                </a:spcBef>
              </a:pPr>
              <a:r>
                <a:rPr lang="en-US" sz="6600" b="1" u="none" strike="noStrike" spc="220">
                  <a:solidFill>
                    <a:srgbClr val="0063A1"/>
                  </a:solidFill>
                  <a:latin typeface="Nirmala UI" panose="020B0502040204020203" charset="0"/>
                  <a:cs typeface="Nirmala UI" panose="020B0502040204020203" charset="0"/>
                </a:rPr>
                <a:t>03</a:t>
              </a:r>
            </a:p>
          </p:txBody>
        </p:sp>
      </p:grpSp>
      <p:sp>
        <p:nvSpPr>
          <p:cNvPr id="51" name="TextBox 27"/>
          <p:cNvSpPr txBox="1"/>
          <p:nvPr>
            <p:custDataLst>
              <p:tags r:id="rId10"/>
            </p:custDataLst>
          </p:nvPr>
        </p:nvSpPr>
        <p:spPr>
          <a:xfrm>
            <a:off x="12318519" y="4046752"/>
            <a:ext cx="5451155" cy="381444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vi-VN" sz="3600" i="1" dirty="0">
                <a:latin typeface="+mj-lt"/>
              </a:rPr>
              <a:t>Khoa học:</a:t>
            </a:r>
            <a:r>
              <a:rPr lang="vi-VN" sz="3600" dirty="0">
                <a:latin typeface="+mj-lt"/>
              </a:rPr>
              <a:t> giải thích cấu trúc của các vật thể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vi-VN" sz="3600" dirty="0">
                <a:latin typeface="+mj-lt"/>
              </a:rPr>
              <a:t>Ví dụ: cấu trúc tổ ong, hình dạng tinh thể, kiến trúc nhà ở…. thực hiện các thí nghiệm đơn giản như đo đạc, so sánh thể tích,...</a:t>
            </a:r>
            <a:endParaRPr lang="en-US" sz="3600" dirty="0">
              <a:latin typeface="+mj-lt"/>
            </a:endParaRPr>
          </a:p>
        </p:txBody>
      </p:sp>
      <p:sp>
        <p:nvSpPr>
          <p:cNvPr id="52" name="TextBox 27"/>
          <p:cNvSpPr txBox="1"/>
          <p:nvPr>
            <p:custDataLst>
              <p:tags r:id="rId11"/>
            </p:custDataLst>
          </p:nvPr>
        </p:nvSpPr>
        <p:spPr>
          <a:xfrm>
            <a:off x="6826250" y="3951605"/>
            <a:ext cx="4600575" cy="152019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vi-VN" sz="3600" i="1" dirty="0">
                <a:latin typeface="+mj-lt"/>
              </a:rPr>
              <a:t>Công nghệ: </a:t>
            </a:r>
            <a:r>
              <a:rPr lang="vi-VN" sz="3600" dirty="0">
                <a:latin typeface="+mj-lt"/>
              </a:rPr>
              <a:t>thiết kế sơ đồ, vẽ mô hình, lựa chọn kích </a:t>
            </a:r>
            <a:r>
              <a:rPr lang="vi-VN" sz="3600" dirty="0" err="1">
                <a:latin typeface="+mj-lt"/>
              </a:rPr>
              <a:t>thuớc</a:t>
            </a:r>
            <a:r>
              <a:rPr lang="vi-VN" sz="3600" dirty="0">
                <a:latin typeface="+mj-lt"/>
              </a:rPr>
              <a:t>,...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vi-VN" sz="3600" dirty="0">
                <a:latin typeface="+mj-lt"/>
              </a:rPr>
              <a:t>Ví dụ: thiết kế vườn cây </a:t>
            </a:r>
            <a:r>
              <a:rPr lang="vi-VN" sz="3600" dirty="0" err="1">
                <a:latin typeface="+mj-lt"/>
              </a:rPr>
              <a:t>mini</a:t>
            </a:r>
            <a:r>
              <a:rPr lang="vi-VN" sz="3600" dirty="0">
                <a:latin typeface="+mj-lt"/>
              </a:rPr>
              <a:t>, bố trí mặt bằng lớp học, thiết kế bao bì sản phẩm…</a:t>
            </a:r>
            <a:endParaRPr lang="en-US" sz="7200" u="none" strike="noStrike" spc="43" dirty="0">
              <a:solidFill>
                <a:schemeClr val="tx1"/>
              </a:solidFill>
              <a:latin typeface="+mj-lt"/>
              <a:cs typeface="Times New Roman" panose="020206030504050203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869E07-FD9A-7FD5-B8C6-045646BA6519}"/>
              </a:ext>
            </a:extLst>
          </p:cNvPr>
          <p:cNvSpPr txBox="1"/>
          <p:nvPr/>
        </p:nvSpPr>
        <p:spPr>
          <a:xfrm>
            <a:off x="1219199" y="1707787"/>
            <a:ext cx="1577339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1.3.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khoa </a:t>
            </a:r>
            <a:r>
              <a:rPr 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3" grpId="0"/>
      <p:bldP spid="43" grpId="1"/>
      <p:bldP spid="51" grpId="0"/>
      <p:bldP spid="51" grpId="1"/>
      <p:bldP spid="52" grpId="0"/>
      <p:bldP spid="5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/>
          <p:cNvSpPr/>
          <p:nvPr>
            <p:custDataLst>
              <p:tags r:id="rId1"/>
            </p:custDataLst>
          </p:nvPr>
        </p:nvSpPr>
        <p:spPr>
          <a:xfrm>
            <a:off x="5016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2" name="Group 121"/>
          <p:cNvGrpSpPr/>
          <p:nvPr/>
        </p:nvGrpSpPr>
        <p:grpSpPr>
          <a:xfrm>
            <a:off x="5486400" y="-419100"/>
            <a:ext cx="12801600" cy="1905000"/>
            <a:chOff x="9120" y="-660"/>
            <a:chExt cx="20160" cy="3000"/>
          </a:xfrm>
        </p:grpSpPr>
        <p:cxnSp>
          <p:nvCxnSpPr>
            <p:cNvPr id="117" name="Google Shape;117;p3"/>
            <p:cNvCxnSpPr/>
            <p:nvPr>
              <p:custDataLst>
                <p:tags r:id="rId7"/>
              </p:custDataLst>
            </p:nvPr>
          </p:nvCxnSpPr>
          <p:spPr>
            <a:xfrm>
              <a:off x="9120" y="222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17;p3"/>
            <p:cNvCxnSpPr/>
            <p:nvPr>
              <p:custDataLst>
                <p:tags r:id="rId8"/>
              </p:custDataLst>
            </p:nvPr>
          </p:nvCxnSpPr>
          <p:spPr>
            <a:xfrm flipV="1">
              <a:off x="912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" name="Group 120"/>
          <p:cNvGrpSpPr/>
          <p:nvPr/>
        </p:nvGrpSpPr>
        <p:grpSpPr>
          <a:xfrm>
            <a:off x="228600" y="114935"/>
            <a:ext cx="5485765" cy="1286510"/>
            <a:chOff x="27600" y="432"/>
            <a:chExt cx="8639" cy="2026"/>
          </a:xfrm>
        </p:grpSpPr>
        <p:sp>
          <p:nvSpPr>
            <p:cNvPr id="103" name="Freeform 61"/>
            <p:cNvSpPr/>
            <p:nvPr>
              <p:custDataLst>
                <p:tags r:id="rId5"/>
              </p:custDataLst>
            </p:nvPr>
          </p:nvSpPr>
          <p:spPr>
            <a:xfrm rot="10800000">
              <a:off x="27600" y="432"/>
              <a:ext cx="8639" cy="2026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 Box 1"/>
            <p:cNvSpPr txBox="1"/>
            <p:nvPr>
              <p:custDataLst>
                <p:tags r:id="rId6"/>
              </p:custDataLst>
            </p:nvPr>
          </p:nvSpPr>
          <p:spPr>
            <a:xfrm>
              <a:off x="27960" y="67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36" name="Picture 3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65" y="200025"/>
            <a:ext cx="1133475" cy="1133475"/>
          </a:xfrm>
          <a:prstGeom prst="rect">
            <a:avLst/>
          </a:prstGeom>
        </p:spPr>
      </p:pic>
      <p:sp>
        <p:nvSpPr>
          <p:cNvPr id="69" name="Text Box 68"/>
          <p:cNvSpPr txBox="1"/>
          <p:nvPr>
            <p:custDataLst>
              <p:tags r:id="rId3"/>
            </p:custDataLst>
          </p:nvPr>
        </p:nvSpPr>
        <p:spPr>
          <a:xfrm>
            <a:off x="9579610" y="2667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endParaRPr lang="en-US" sz="7200" b="1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>
            <p:custDataLst>
              <p:tags r:id="rId4"/>
            </p:custDataLst>
          </p:nvPr>
        </p:nvSpPr>
        <p:spPr>
          <a:xfrm>
            <a:off x="5867400" y="307340"/>
            <a:ext cx="1226502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CƠ SỞ LÝ LUẬN</a:t>
            </a:r>
            <a:r>
              <a:rPr lang="vi-VN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VÀ THỰC TIỄN</a:t>
            </a:r>
            <a:endParaRPr lang="en-US" sz="45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45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838200" y="1638300"/>
            <a:ext cx="17230725" cy="2156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266700">
              <a:lnSpc>
                <a:spcPct val="114000"/>
              </a:lnSpc>
              <a:spcAft>
                <a:spcPts val="1000"/>
              </a:spcAft>
            </a:pPr>
            <a:r>
              <a:rPr lang="vi-VN" sz="4500" b="1" dirty="0">
                <a:solidFill>
                  <a:srgbClr val="FF0000"/>
                </a:solidFill>
                <a:latin typeface="+mj-lt"/>
              </a:rPr>
              <a:t>1.4. Thực trạng dạy học STEM ở trường Tiểu học Quang Trung</a:t>
            </a:r>
            <a:endParaRPr lang="en-US" sz="4500" b="1" dirty="0">
              <a:solidFill>
                <a:srgbClr val="FF0000"/>
              </a:solidFill>
              <a:latin typeface="+mj-lt"/>
            </a:endParaRPr>
          </a:p>
          <a:p>
            <a:pPr indent="457200" algn="l" defTabSz="266700">
              <a:lnSpc>
                <a:spcPct val="114000"/>
              </a:lnSpc>
              <a:spcAft>
                <a:spcPts val="1000"/>
              </a:spcAft>
            </a:pPr>
            <a:endParaRPr lang="en-US" sz="7200" dirty="0">
              <a:solidFill>
                <a:srgbClr val="FF0000"/>
              </a:solidFill>
              <a:effectLst/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833245" y="2558329"/>
            <a:ext cx="14721840" cy="3386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lnSpc>
                <a:spcPct val="150000"/>
              </a:lnSpc>
              <a:spcAft>
                <a:spcPts val="800"/>
              </a:spcAft>
            </a:pPr>
            <a:r>
              <a:rPr lang="en-US" altLang="vi-VN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vi-VN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T</a:t>
            </a:r>
            <a:r>
              <a:rPr lang="en-US" altLang="vi-VN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rường</a:t>
            </a:r>
            <a:r>
              <a:rPr lang="en-US" altLang="vi-VN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vi-VN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Tiểu</a:t>
            </a:r>
            <a:r>
              <a:rPr lang="en-US" altLang="vi-VN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vi-VN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học</a:t>
            </a:r>
            <a:r>
              <a:rPr lang="en-US" altLang="vi-VN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Quang Trung </a:t>
            </a:r>
            <a:r>
              <a:rPr lang="en-US" altLang="vi-VN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có</a:t>
            </a:r>
            <a:r>
              <a:rPr lang="en-US" altLang="vi-VN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1335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học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sinh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cùng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với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tổng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số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53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giáo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viên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đang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công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tác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và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giảng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dạy</a:t>
            </a:r>
            <a:r>
              <a:rPr lang="en-US" altLang="en-US" sz="4800" b="1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.</a:t>
            </a:r>
            <a:endParaRPr lang="vi-VN" altLang="en-US" sz="4800" b="1" dirty="0"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algn="just" defTabSz="266700">
              <a:lnSpc>
                <a:spcPct val="150000"/>
              </a:lnSpc>
              <a:spcAft>
                <a:spcPts val="800"/>
              </a:spcAft>
            </a:pPr>
            <a:endParaRPr sz="4500" dirty="0"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358900" y="5178531"/>
            <a:ext cx="7315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4500" dirty="0"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=&gt; Khối lớp 3 được chia thành </a:t>
            </a:r>
            <a:r>
              <a:rPr lang="vi-VN" sz="4500" b="1" dirty="0"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8 lớp</a:t>
            </a:r>
            <a:r>
              <a:rPr lang="vi-VN" sz="4500" dirty="0"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, có 8 giáo viên chủ nhiệm trực tiếp giảng dạy và có hơn 240 học sinh</a:t>
            </a:r>
            <a:endParaRPr sz="4500" dirty="0">
              <a:latin typeface="Times New Roman" panose="02020603050405020304" charset="0"/>
              <a:ea typeface="Calibri" panose="020F0502020204030204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6604000" y="9005410"/>
            <a:ext cx="5080000" cy="78359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sz="2100"/>
          </a:p>
          <a:p>
            <a:pPr algn="just" defTabSz="266700">
              <a:lnSpc>
                <a:spcPct val="150000"/>
              </a:lnSpc>
              <a:spcAft>
                <a:spcPts val="800"/>
              </a:spcAft>
            </a:pPr>
            <a:r>
              <a:rPr sz="1600">
                <a:latin typeface="Times New Roman" panose="02020603050405020304"/>
                <a:ea typeface="Calibri" panose="020F0502020204030204"/>
              </a:rPr>
              <a:t>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9A71DC-C783-EB84-825F-3022536A14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00540" y="4982572"/>
            <a:ext cx="7628890" cy="4762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F0542-BE4E-1EF1-9D90-912263B1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7633248E-5F0E-CD83-D25A-F343CDBD1DE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102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D31365C5-0237-E64B-676E-A3BBC50E8CEC}"/>
              </a:ext>
            </a:extLst>
          </p:cNvPr>
          <p:cNvGrpSpPr/>
          <p:nvPr/>
        </p:nvGrpSpPr>
        <p:grpSpPr>
          <a:xfrm rot="960000">
            <a:off x="-4759656" y="3109333"/>
            <a:ext cx="23834725" cy="9062720"/>
            <a:chOff x="-512423" y="3092920"/>
            <a:chExt cx="10315353" cy="2970488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5B1CC749-0BB4-8252-9EEE-E97081529B9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-345285" y="3092920"/>
              <a:ext cx="10148215" cy="2869130"/>
            </a:xfrm>
            <a:custGeom>
              <a:avLst/>
              <a:gdLst/>
              <a:ahLst/>
              <a:cxnLst/>
              <a:rect l="l" t="t" r="r" b="b"/>
              <a:pathLst>
                <a:path w="9441680" h="2510865">
                  <a:moveTo>
                    <a:pt x="0" y="0"/>
                  </a:moveTo>
                  <a:lnTo>
                    <a:pt x="9441680" y="0"/>
                  </a:lnTo>
                  <a:lnTo>
                    <a:pt x="944168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3B7F79EF-ECE2-3239-DBF8-045328C2B3D2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 rot="1200000">
              <a:off x="-512423" y="3514408"/>
              <a:ext cx="9893802" cy="254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3DCCD81-8DED-E288-3482-168FE1D5CE89}"/>
              </a:ext>
            </a:extLst>
          </p:cNvPr>
          <p:cNvGrpSpPr/>
          <p:nvPr/>
        </p:nvGrpSpPr>
        <p:grpSpPr>
          <a:xfrm>
            <a:off x="-76200" y="-419100"/>
            <a:ext cx="13487400" cy="1838325"/>
            <a:chOff x="-120" y="-660"/>
            <a:chExt cx="21240" cy="2895"/>
          </a:xfrm>
        </p:grpSpPr>
        <p:cxnSp>
          <p:nvCxnSpPr>
            <p:cNvPr id="117" name="Google Shape;117;p3">
              <a:extLst>
                <a:ext uri="{FF2B5EF4-FFF2-40B4-BE49-F238E27FC236}">
                  <a16:creationId xmlns:a16="http://schemas.microsoft.com/office/drawing/2014/main" id="{454EF439-F641-4371-46AA-58C2252503D2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>
            <a:xfrm>
              <a:off x="-120" y="210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17;p3">
              <a:extLst>
                <a:ext uri="{FF2B5EF4-FFF2-40B4-BE49-F238E27FC236}">
                  <a16:creationId xmlns:a16="http://schemas.microsoft.com/office/drawing/2014/main" id="{08B9D99D-6149-8FFB-44BD-8E340D01AFCB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>
            <a:xfrm flipV="1">
              <a:off x="2004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3D2298E-F611-EE56-6A91-642604D2EDF4}"/>
              </a:ext>
            </a:extLst>
          </p:cNvPr>
          <p:cNvGrpSpPr/>
          <p:nvPr/>
        </p:nvGrpSpPr>
        <p:grpSpPr>
          <a:xfrm>
            <a:off x="13106400" y="114300"/>
            <a:ext cx="4928235" cy="1217930"/>
            <a:chOff x="20640" y="180"/>
            <a:chExt cx="7761" cy="1918"/>
          </a:xfrm>
        </p:grpSpPr>
        <p:sp>
          <p:nvSpPr>
            <p:cNvPr id="103" name="Freeform 61">
              <a:extLst>
                <a:ext uri="{FF2B5EF4-FFF2-40B4-BE49-F238E27FC236}">
                  <a16:creationId xmlns:a16="http://schemas.microsoft.com/office/drawing/2014/main" id="{3EE5B976-3097-7478-DE2D-73581A9E8B3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20640" y="180"/>
              <a:ext cx="7761" cy="1918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 Box 1">
              <a:extLst>
                <a:ext uri="{FF2B5EF4-FFF2-40B4-BE49-F238E27FC236}">
                  <a16:creationId xmlns:a16="http://schemas.microsoft.com/office/drawing/2014/main" id="{27C34730-312C-3032-8507-A30B0FBD88E3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21120" y="31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B5FFB19B-ADE5-FB50-F96C-AA84B9A1F34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1560" y="114300"/>
            <a:ext cx="1133475" cy="1133475"/>
          </a:xfrm>
          <a:prstGeom prst="rect">
            <a:avLst/>
          </a:prstGeom>
        </p:spPr>
      </p:pic>
      <p:sp>
        <p:nvSpPr>
          <p:cNvPr id="69" name="Text Box 68">
            <a:extLst>
              <a:ext uri="{FF2B5EF4-FFF2-40B4-BE49-F238E27FC236}">
                <a16:creationId xmlns:a16="http://schemas.microsoft.com/office/drawing/2014/main" id="{61196F79-0E9B-5D07-E9A8-E92ED88A126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8760" y="190500"/>
            <a:ext cx="1226502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5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CƠ SỞ LÝ LUẬN</a:t>
            </a:r>
            <a:r>
              <a:rPr lang="vi-VN" sz="45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VÀ THỰC TIỄN</a:t>
            </a:r>
            <a:r>
              <a:rPr lang="en-US" sz="45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sz="45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45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Freeform 59">
            <a:extLst>
              <a:ext uri="{FF2B5EF4-FFF2-40B4-BE49-F238E27FC236}">
                <a16:creationId xmlns:a16="http://schemas.microsoft.com/office/drawing/2014/main" id="{212D6A8C-0801-7041-4658-EB4950769DE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734310" y="8328660"/>
            <a:ext cx="571500" cy="591185"/>
          </a:xfrm>
          <a:custGeom>
            <a:avLst/>
            <a:gdLst/>
            <a:ahLst/>
            <a:cxnLst/>
            <a:rect l="l" t="t" r="r" b="b"/>
            <a:pathLst>
              <a:path w="505996" h="515665">
                <a:moveTo>
                  <a:pt x="0" y="0"/>
                </a:moveTo>
                <a:lnTo>
                  <a:pt x="505996" y="0"/>
                </a:lnTo>
                <a:lnTo>
                  <a:pt x="505996" y="515666"/>
                </a:lnTo>
                <a:lnTo>
                  <a:pt x="0" y="515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1EC9FD2-4B65-DECE-F0C8-97598181C3CE}"/>
              </a:ext>
            </a:extLst>
          </p:cNvPr>
          <p:cNvGrpSpPr/>
          <p:nvPr/>
        </p:nvGrpSpPr>
        <p:grpSpPr>
          <a:xfrm>
            <a:off x="-381000" y="1526540"/>
            <a:ext cx="955040" cy="8760460"/>
            <a:chOff x="-120" y="2404"/>
            <a:chExt cx="1504" cy="13796"/>
          </a:xfrm>
        </p:grpSpPr>
        <p:grpSp>
          <p:nvGrpSpPr>
            <p:cNvPr id="25" name="Group 7">
              <a:extLst>
                <a:ext uri="{FF2B5EF4-FFF2-40B4-BE49-F238E27FC236}">
                  <a16:creationId xmlns:a16="http://schemas.microsoft.com/office/drawing/2014/main" id="{5B06E4CC-E43F-DF27-2A72-77D5A4F59692}"/>
                </a:ext>
              </a:extLst>
            </p:cNvPr>
            <p:cNvGrpSpPr/>
            <p:nvPr/>
          </p:nvGrpSpPr>
          <p:grpSpPr>
            <a:xfrm>
              <a:off x="-120" y="2404"/>
              <a:ext cx="1489" cy="10006"/>
              <a:chOff x="0" y="0"/>
              <a:chExt cx="248964" cy="1869420"/>
            </a:xfr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</p:grpSpPr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14516F5C-9F8A-E823-A171-AB0B20956F07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0" y="0"/>
                <a:ext cx="248964" cy="1869420"/>
              </a:xfrm>
              <a:custGeom>
                <a:avLst/>
                <a:gdLst/>
                <a:ahLst/>
                <a:cxnLst/>
                <a:rect l="l" t="t" r="r" b="b"/>
                <a:pathLst>
                  <a:path w="248964" h="1869420">
                    <a:moveTo>
                      <a:pt x="0" y="0"/>
                    </a:moveTo>
                    <a:lnTo>
                      <a:pt x="248964" y="0"/>
                    </a:lnTo>
                    <a:lnTo>
                      <a:pt x="248964" y="1869420"/>
                    </a:lnTo>
                    <a:lnTo>
                      <a:pt x="0" y="186942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9">
                <a:extLst>
                  <a:ext uri="{FF2B5EF4-FFF2-40B4-BE49-F238E27FC236}">
                    <a16:creationId xmlns:a16="http://schemas.microsoft.com/office/drawing/2014/main" id="{9EAAA890-E0C5-EFE8-9710-1DAD435F90C6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0" y="-57150"/>
                <a:ext cx="248964" cy="192657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8" name="Group 10">
              <a:extLst>
                <a:ext uri="{FF2B5EF4-FFF2-40B4-BE49-F238E27FC236}">
                  <a16:creationId xmlns:a16="http://schemas.microsoft.com/office/drawing/2014/main" id="{26AE85F7-F5E3-CA1D-F552-AA7797FEA45E}"/>
                </a:ext>
              </a:extLst>
            </p:cNvPr>
            <p:cNvGrpSpPr/>
            <p:nvPr/>
          </p:nvGrpSpPr>
          <p:grpSpPr>
            <a:xfrm>
              <a:off x="-120" y="11178"/>
              <a:ext cx="1504" cy="5022"/>
              <a:chOff x="0" y="0"/>
              <a:chExt cx="248964" cy="839913"/>
            </a:xfrm>
          </p:grpSpPr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0147D4FA-05D8-B967-D01A-C66A115350E5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0" y="0"/>
                <a:ext cx="248964" cy="839913"/>
              </a:xfrm>
              <a:custGeom>
                <a:avLst/>
                <a:gdLst/>
                <a:ahLst/>
                <a:cxnLst/>
                <a:rect l="l" t="t" r="r" b="b"/>
                <a:pathLst>
                  <a:path w="248964" h="839913">
                    <a:moveTo>
                      <a:pt x="0" y="0"/>
                    </a:moveTo>
                    <a:lnTo>
                      <a:pt x="248964" y="0"/>
                    </a:lnTo>
                    <a:lnTo>
                      <a:pt x="248964" y="839913"/>
                    </a:lnTo>
                    <a:lnTo>
                      <a:pt x="0" y="839913"/>
                    </a:lnTo>
                    <a:close/>
                  </a:path>
                </a:pathLst>
              </a:custGeom>
              <a:solidFill>
                <a:srgbClr val="22222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12">
                <a:extLst>
                  <a:ext uri="{FF2B5EF4-FFF2-40B4-BE49-F238E27FC236}">
                    <a16:creationId xmlns:a16="http://schemas.microsoft.com/office/drawing/2014/main" id="{32225BF5-B6EA-57C1-9438-D85C51B4AFF1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0" y="-57150"/>
                <a:ext cx="248964" cy="897063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290" name="Google Shape;1290;p54">
            <a:extLst>
              <a:ext uri="{FF2B5EF4-FFF2-40B4-BE49-F238E27FC236}">
                <a16:creationId xmlns:a16="http://schemas.microsoft.com/office/drawing/2014/main" id="{BE94A881-04C8-1F2E-C03A-5737D759FB22}"/>
              </a:ext>
            </a:extLst>
          </p:cNvPr>
          <p:cNvSpPr txBox="1"/>
          <p:nvPr/>
        </p:nvSpPr>
        <p:spPr>
          <a:xfrm>
            <a:off x="3148330" y="6959385"/>
            <a:ext cx="1195386" cy="512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22850" rIns="22850" bIns="22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 panose="020B0604020202020204"/>
              <a:buNone/>
            </a:pPr>
            <a:endParaRPr lang="en-US" sz="36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92" name="Google Shape;1292;p54">
            <a:extLst>
              <a:ext uri="{FF2B5EF4-FFF2-40B4-BE49-F238E27FC236}">
                <a16:creationId xmlns:a16="http://schemas.microsoft.com/office/drawing/2014/main" id="{233C4514-411E-B6A9-9E57-7E8444049C3A}"/>
              </a:ext>
            </a:extLst>
          </p:cNvPr>
          <p:cNvSpPr txBox="1"/>
          <p:nvPr/>
        </p:nvSpPr>
        <p:spPr>
          <a:xfrm>
            <a:off x="4343716" y="6504524"/>
            <a:ext cx="10285128" cy="100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6025" tIns="22850" rIns="22850" bIns="22850" anchor="ctr" anchorCtr="0">
            <a:noAutofit/>
          </a:bodyPr>
          <a:lstStyle/>
          <a:p>
            <a:pPr marL="285750" marR="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Char char="•"/>
            </a:pPr>
            <a:endParaRPr lang="en-US" sz="3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96" name="Google Shape;1296;p54">
            <a:extLst>
              <a:ext uri="{FF2B5EF4-FFF2-40B4-BE49-F238E27FC236}">
                <a16:creationId xmlns:a16="http://schemas.microsoft.com/office/drawing/2014/main" id="{A43AE95C-A0A3-7110-309C-498225666393}"/>
              </a:ext>
            </a:extLst>
          </p:cNvPr>
          <p:cNvSpPr txBox="1"/>
          <p:nvPr/>
        </p:nvSpPr>
        <p:spPr>
          <a:xfrm>
            <a:off x="4343716" y="8099334"/>
            <a:ext cx="10285128" cy="100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6025" tIns="22850" rIns="22850" bIns="22850" anchor="ctr" anchorCtr="0">
            <a:noAutofit/>
          </a:bodyPr>
          <a:lstStyle/>
          <a:p>
            <a:pPr marL="285750" marR="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Char char="•"/>
            </a:pPr>
            <a:endParaRPr lang="en-US" sz="3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" name="Google Shape;1242;p53">
            <a:extLst>
              <a:ext uri="{FF2B5EF4-FFF2-40B4-BE49-F238E27FC236}">
                <a16:creationId xmlns:a16="http://schemas.microsoft.com/office/drawing/2014/main" id="{33FFC998-3BCC-58C6-9D23-88B18027C2D2}"/>
              </a:ext>
            </a:extLst>
          </p:cNvPr>
          <p:cNvGrpSpPr/>
          <p:nvPr/>
        </p:nvGrpSpPr>
        <p:grpSpPr>
          <a:xfrm>
            <a:off x="1947287" y="2425588"/>
            <a:ext cx="15332075" cy="5231006"/>
            <a:chOff x="-410497" y="2304235"/>
            <a:chExt cx="15332075" cy="5231006"/>
          </a:xfrm>
        </p:grpSpPr>
        <p:sp>
          <p:nvSpPr>
            <p:cNvPr id="5" name="Google Shape;1243;p53">
              <a:extLst>
                <a:ext uri="{FF2B5EF4-FFF2-40B4-BE49-F238E27FC236}">
                  <a16:creationId xmlns:a16="http://schemas.microsoft.com/office/drawing/2014/main" id="{9E7EF12A-DB08-4BBC-7292-A2D2D885FDE2}"/>
                </a:ext>
              </a:extLst>
            </p:cNvPr>
            <p:cNvSpPr/>
            <p:nvPr/>
          </p:nvSpPr>
          <p:spPr>
            <a:xfrm rot="5400000">
              <a:off x="275503" y="4004300"/>
              <a:ext cx="1264520" cy="2636520"/>
            </a:xfrm>
            <a:prstGeom prst="corner">
              <a:avLst>
                <a:gd name="adj1" fmla="val 16120"/>
                <a:gd name="adj2" fmla="val 16110"/>
              </a:avLst>
            </a:prstGeom>
            <a:gradFill>
              <a:gsLst>
                <a:gs pos="0">
                  <a:srgbClr val="759336"/>
                </a:gs>
                <a:gs pos="80000">
                  <a:srgbClr val="99C247"/>
                </a:gs>
                <a:gs pos="100000">
                  <a:srgbClr val="9BC545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44;p53">
              <a:extLst>
                <a:ext uri="{FF2B5EF4-FFF2-40B4-BE49-F238E27FC236}">
                  <a16:creationId xmlns:a16="http://schemas.microsoft.com/office/drawing/2014/main" id="{C855C947-793A-5800-4DFC-AC359A21EEBF}"/>
                </a:ext>
              </a:extLst>
            </p:cNvPr>
            <p:cNvSpPr/>
            <p:nvPr/>
          </p:nvSpPr>
          <p:spPr>
            <a:xfrm>
              <a:off x="0" y="5175642"/>
              <a:ext cx="2581948" cy="166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45;p53">
              <a:extLst>
                <a:ext uri="{FF2B5EF4-FFF2-40B4-BE49-F238E27FC236}">
                  <a16:creationId xmlns:a16="http://schemas.microsoft.com/office/drawing/2014/main" id="{DA50278C-36A4-7F6E-6DC3-5BF82005D3E6}"/>
                </a:ext>
              </a:extLst>
            </p:cNvPr>
            <p:cNvSpPr txBox="1"/>
            <p:nvPr/>
          </p:nvSpPr>
          <p:spPr>
            <a:xfrm>
              <a:off x="-3369" y="5189434"/>
              <a:ext cx="2581948" cy="166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800"/>
                <a:buFont typeface="Nunito Sans"/>
                <a:buNone/>
              </a:pPr>
              <a:r>
                <a:rPr lang="vi-VN" sz="4000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Khoảng </a:t>
              </a: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800"/>
                <a:buFont typeface="Nunito Sans"/>
                <a:buNone/>
              </a:pPr>
              <a:r>
                <a:rPr lang="vi-VN" sz="4000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2 - 3 tiết STEM mỗi học kỳ </a:t>
              </a:r>
              <a:endParaRPr lang="en-US" sz="4000" dirty="0">
                <a:solidFill>
                  <a:srgbClr val="002060"/>
                </a:solidFill>
                <a:latin typeface="Times New Roman" panose="02020603050405020304" charset="0"/>
                <a:ea typeface="Nunito Sans"/>
                <a:cs typeface="Times New Roman" panose="02020603050405020304" charset="0"/>
                <a:sym typeface="Nunito Sans"/>
              </a:endParaRPr>
            </a:p>
          </p:txBody>
        </p:sp>
        <p:sp>
          <p:nvSpPr>
            <p:cNvPr id="11" name="Google Shape;1246;p53">
              <a:extLst>
                <a:ext uri="{FF2B5EF4-FFF2-40B4-BE49-F238E27FC236}">
                  <a16:creationId xmlns:a16="http://schemas.microsoft.com/office/drawing/2014/main" id="{DE4BAD76-EE45-303F-0188-1EEAFCC97F54}"/>
                </a:ext>
              </a:extLst>
            </p:cNvPr>
            <p:cNvSpPr/>
            <p:nvPr/>
          </p:nvSpPr>
          <p:spPr>
            <a:xfrm>
              <a:off x="2020982" y="4030584"/>
              <a:ext cx="358419" cy="358419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rgbClr val="4F9036"/>
                </a:gs>
                <a:gs pos="80000">
                  <a:srgbClr val="68BE48"/>
                </a:gs>
                <a:gs pos="100000">
                  <a:srgbClr val="67C046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47;p53">
              <a:extLst>
                <a:ext uri="{FF2B5EF4-FFF2-40B4-BE49-F238E27FC236}">
                  <a16:creationId xmlns:a16="http://schemas.microsoft.com/office/drawing/2014/main" id="{E1D211AA-B6CD-FCCF-4692-47917F8D8CE0}"/>
                </a:ext>
              </a:extLst>
            </p:cNvPr>
            <p:cNvSpPr/>
            <p:nvPr/>
          </p:nvSpPr>
          <p:spPr>
            <a:xfrm rot="5400000">
              <a:off x="3284128" y="3425791"/>
              <a:ext cx="1264520" cy="2510167"/>
            </a:xfrm>
            <a:prstGeom prst="corner">
              <a:avLst>
                <a:gd name="adj1" fmla="val 16120"/>
                <a:gd name="adj2" fmla="val 16110"/>
              </a:avLst>
            </a:prstGeom>
            <a:gradFill>
              <a:gsLst>
                <a:gs pos="0">
                  <a:srgbClr val="388D3F"/>
                </a:gs>
                <a:gs pos="80000">
                  <a:srgbClr val="49BB54"/>
                </a:gs>
                <a:gs pos="100000">
                  <a:srgbClr val="47BE53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48;p53">
              <a:extLst>
                <a:ext uri="{FF2B5EF4-FFF2-40B4-BE49-F238E27FC236}">
                  <a16:creationId xmlns:a16="http://schemas.microsoft.com/office/drawing/2014/main" id="{8B68E718-2704-F641-8FA5-489BD2183725}"/>
                </a:ext>
              </a:extLst>
            </p:cNvPr>
            <p:cNvSpPr/>
            <p:nvPr/>
          </p:nvSpPr>
          <p:spPr>
            <a:xfrm>
              <a:off x="2842630" y="4168906"/>
              <a:ext cx="2450095" cy="166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49;p53">
              <a:extLst>
                <a:ext uri="{FF2B5EF4-FFF2-40B4-BE49-F238E27FC236}">
                  <a16:creationId xmlns:a16="http://schemas.microsoft.com/office/drawing/2014/main" id="{316D94A0-182B-AC26-0432-3CF63EDE5472}"/>
                </a:ext>
              </a:extLst>
            </p:cNvPr>
            <p:cNvSpPr txBox="1"/>
            <p:nvPr/>
          </p:nvSpPr>
          <p:spPr>
            <a:xfrm>
              <a:off x="2936474" y="4457396"/>
              <a:ext cx="2617470" cy="30778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285750" marR="0" lvl="1" indent="-107950" algn="l" rtl="0">
                <a:lnSpc>
                  <a:spcPct val="90000"/>
                </a:lnSpc>
                <a:spcBef>
                  <a:spcPts val="98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 panose="020F0502020204030204"/>
                <a:buNone/>
              </a:pPr>
              <a:r>
                <a:rPr lang="en-US" sz="4000" b="0" i="0" u="none" strike="noStrike" cap="none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Học </a:t>
              </a:r>
              <a:r>
                <a:rPr lang="en-US" sz="4000" b="0" i="0" u="none" strike="noStrike" cap="none" dirty="0" err="1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sinh</a:t>
              </a:r>
              <a:r>
                <a:rPr lang="en-US" sz="4000" b="0" i="0" u="none" strike="noStrike" cap="none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 </a:t>
              </a:r>
              <a:r>
                <a:rPr lang="en-US" sz="4000" b="0" i="0" u="none" strike="noStrike" cap="none" dirty="0" err="1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hứng</a:t>
              </a:r>
              <a:r>
                <a:rPr lang="en-US" sz="4000" b="0" i="0" u="none" strike="noStrike" cap="none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 </a:t>
              </a:r>
              <a:r>
                <a:rPr lang="en-US" sz="4000" b="0" i="0" u="none" strike="noStrike" cap="none" dirty="0" err="1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thú</a:t>
              </a:r>
              <a:r>
                <a:rPr lang="en-US" sz="4000" b="0" i="0" u="none" strike="noStrike" cap="none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, </a:t>
              </a:r>
              <a:r>
                <a:rPr lang="en-US" sz="4000" b="0" i="0" u="none" strike="noStrike" cap="none" dirty="0" err="1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tích</a:t>
              </a:r>
              <a:r>
                <a:rPr lang="en-US" sz="4000" b="0" i="0" u="none" strike="noStrike" cap="none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 </a:t>
              </a:r>
              <a:r>
                <a:rPr lang="en-US" sz="4000" b="0" i="0" u="none" strike="noStrike" cap="none" dirty="0" err="1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cực</a:t>
              </a:r>
              <a:r>
                <a:rPr lang="en-US" sz="4000" b="0" i="0" u="none" strike="noStrike" cap="none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 </a:t>
              </a:r>
              <a:r>
                <a:rPr lang="en-US" sz="4000" b="0" i="0" u="none" strike="noStrike" cap="none" dirty="0" err="1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tham</a:t>
              </a:r>
              <a:r>
                <a:rPr lang="en-US" sz="4000" b="0" i="0" u="none" strike="noStrike" cap="none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 </a:t>
              </a:r>
              <a:r>
                <a:rPr lang="en-US" sz="4000" b="0" i="0" u="none" strike="noStrike" cap="none" dirty="0" err="1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gia</a:t>
              </a:r>
              <a:r>
                <a:rPr lang="en-US" sz="4000" b="0" i="0" u="none" strike="noStrike" cap="none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 </a:t>
              </a:r>
              <a:r>
                <a:rPr lang="en-US" sz="4000" b="0" i="0" u="none" strike="noStrike" cap="none" dirty="0" err="1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các</a:t>
              </a:r>
              <a:r>
                <a:rPr lang="en-US" sz="4000" b="0" i="0" u="none" strike="noStrike" cap="none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 </a:t>
              </a:r>
              <a:r>
                <a:rPr lang="en-US" sz="4000" b="0" i="0" u="none" strike="noStrike" cap="none" dirty="0" err="1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hoạt</a:t>
              </a:r>
              <a:r>
                <a:rPr lang="en-US" sz="4000" b="0" i="0" u="none" strike="noStrike" cap="none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 </a:t>
              </a:r>
              <a:r>
                <a:rPr lang="en-US" sz="4000" b="0" i="0" u="none" strike="noStrike" cap="none" dirty="0" err="1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động</a:t>
              </a:r>
              <a:r>
                <a:rPr lang="en-US" sz="4000" b="0" i="0" u="none" strike="noStrike" cap="none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 STEM</a:t>
              </a:r>
            </a:p>
          </p:txBody>
        </p:sp>
        <p:sp>
          <p:nvSpPr>
            <p:cNvPr id="32" name="Google Shape;1250;p53">
              <a:extLst>
                <a:ext uri="{FF2B5EF4-FFF2-40B4-BE49-F238E27FC236}">
                  <a16:creationId xmlns:a16="http://schemas.microsoft.com/office/drawing/2014/main" id="{947C8990-5013-C3C8-5DC9-4D895CBCE93F}"/>
                </a:ext>
              </a:extLst>
            </p:cNvPr>
            <p:cNvSpPr/>
            <p:nvPr/>
          </p:nvSpPr>
          <p:spPr>
            <a:xfrm>
              <a:off x="4890672" y="3455134"/>
              <a:ext cx="358419" cy="358419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rgbClr val="398B61"/>
                </a:gs>
                <a:gs pos="80000">
                  <a:srgbClr val="4CB780"/>
                </a:gs>
                <a:gs pos="100000">
                  <a:srgbClr val="4ABA8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51;p53">
              <a:extLst>
                <a:ext uri="{FF2B5EF4-FFF2-40B4-BE49-F238E27FC236}">
                  <a16:creationId xmlns:a16="http://schemas.microsoft.com/office/drawing/2014/main" id="{456B0B5A-2755-48BE-EA6E-BAF002FF53AC}"/>
                </a:ext>
              </a:extLst>
            </p:cNvPr>
            <p:cNvSpPr/>
            <p:nvPr/>
          </p:nvSpPr>
          <p:spPr>
            <a:xfrm rot="5400000">
              <a:off x="6381525" y="2613483"/>
              <a:ext cx="1264520" cy="2929331"/>
            </a:xfrm>
            <a:prstGeom prst="corner">
              <a:avLst>
                <a:gd name="adj1" fmla="val 16120"/>
                <a:gd name="adj2" fmla="val 16110"/>
              </a:avLst>
            </a:prstGeom>
            <a:gradFill>
              <a:gsLst>
                <a:gs pos="0">
                  <a:srgbClr val="3A897F"/>
                </a:gs>
                <a:gs pos="80000">
                  <a:srgbClr val="4DB3A8"/>
                </a:gs>
                <a:gs pos="100000">
                  <a:srgbClr val="4CB6AA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52;p53">
              <a:extLst>
                <a:ext uri="{FF2B5EF4-FFF2-40B4-BE49-F238E27FC236}">
                  <a16:creationId xmlns:a16="http://schemas.microsoft.com/office/drawing/2014/main" id="{D3281636-A6B3-08FA-3342-A6857B1091F4}"/>
                </a:ext>
              </a:extLst>
            </p:cNvPr>
            <p:cNvSpPr/>
            <p:nvPr/>
          </p:nvSpPr>
          <p:spPr>
            <a:xfrm>
              <a:off x="5654300" y="3848305"/>
              <a:ext cx="3227782" cy="166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53;p53">
              <a:extLst>
                <a:ext uri="{FF2B5EF4-FFF2-40B4-BE49-F238E27FC236}">
                  <a16:creationId xmlns:a16="http://schemas.microsoft.com/office/drawing/2014/main" id="{C0FF2968-BA65-8E37-40B7-EA1B57B39AC5}"/>
                </a:ext>
              </a:extLst>
            </p:cNvPr>
            <p:cNvSpPr txBox="1"/>
            <p:nvPr/>
          </p:nvSpPr>
          <p:spPr>
            <a:xfrm>
              <a:off x="6002541" y="3897737"/>
              <a:ext cx="2817495" cy="16649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800"/>
                <a:buFont typeface="Nunito Sans"/>
                <a:buNone/>
              </a:pPr>
              <a:r>
                <a:rPr lang="vi-VN" sz="4000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GV cố gắng kết hợp kiến thức giữa các môn để tạo ra những bài học gần gũi</a:t>
              </a:r>
              <a:endParaRPr lang="en-US" sz="4000" dirty="0">
                <a:solidFill>
                  <a:srgbClr val="002060"/>
                </a:solidFill>
                <a:latin typeface="Times New Roman" panose="02020603050405020304" charset="0"/>
                <a:ea typeface="Nunito Sans"/>
                <a:cs typeface="Times New Roman" panose="02020603050405020304" charset="0"/>
                <a:sym typeface="Nunito Sans"/>
              </a:endParaRPr>
            </a:p>
          </p:txBody>
        </p:sp>
        <p:sp>
          <p:nvSpPr>
            <p:cNvPr id="37" name="Google Shape;1254;p53">
              <a:extLst>
                <a:ext uri="{FF2B5EF4-FFF2-40B4-BE49-F238E27FC236}">
                  <a16:creationId xmlns:a16="http://schemas.microsoft.com/office/drawing/2014/main" id="{F36EC3F5-20E1-1D1B-99D5-FD3CC790D63D}"/>
                </a:ext>
              </a:extLst>
            </p:cNvPr>
            <p:cNvSpPr/>
            <p:nvPr/>
          </p:nvSpPr>
          <p:spPr>
            <a:xfrm>
              <a:off x="8075874" y="2879684"/>
              <a:ext cx="358419" cy="358419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rgbClr val="3C7085"/>
                </a:gs>
                <a:gs pos="80000">
                  <a:srgbClr val="5094AE"/>
                </a:gs>
                <a:gs pos="100000">
                  <a:srgbClr val="4F95B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55;p53">
              <a:extLst>
                <a:ext uri="{FF2B5EF4-FFF2-40B4-BE49-F238E27FC236}">
                  <a16:creationId xmlns:a16="http://schemas.microsoft.com/office/drawing/2014/main" id="{702D0988-B957-022B-E6FE-FA08B8DF5A8E}"/>
                </a:ext>
              </a:extLst>
            </p:cNvPr>
            <p:cNvSpPr/>
            <p:nvPr/>
          </p:nvSpPr>
          <p:spPr>
            <a:xfrm rot="5400000">
              <a:off x="9632105" y="2066302"/>
              <a:ext cx="1264520" cy="2889816"/>
            </a:xfrm>
            <a:prstGeom prst="corner">
              <a:avLst>
                <a:gd name="adj1" fmla="val 16120"/>
                <a:gd name="adj2" fmla="val 16110"/>
              </a:avLst>
            </a:prstGeom>
            <a:gradFill>
              <a:gsLst>
                <a:gs pos="0">
                  <a:srgbClr val="3E5582"/>
                </a:gs>
                <a:gs pos="80000">
                  <a:srgbClr val="5170AC"/>
                </a:gs>
                <a:gs pos="100000">
                  <a:srgbClr val="506FA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256;p53">
              <a:extLst>
                <a:ext uri="{FF2B5EF4-FFF2-40B4-BE49-F238E27FC236}">
                  <a16:creationId xmlns:a16="http://schemas.microsoft.com/office/drawing/2014/main" id="{CA191E0E-DB57-5023-37BA-7C9392430D1A}"/>
                </a:ext>
              </a:extLst>
            </p:cNvPr>
            <p:cNvSpPr/>
            <p:nvPr/>
          </p:nvSpPr>
          <p:spPr>
            <a:xfrm>
              <a:off x="8931720" y="3009065"/>
              <a:ext cx="3134758" cy="166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57;p53">
              <a:extLst>
                <a:ext uri="{FF2B5EF4-FFF2-40B4-BE49-F238E27FC236}">
                  <a16:creationId xmlns:a16="http://schemas.microsoft.com/office/drawing/2014/main" id="{79CB723B-6DF9-3337-CF3D-55A08AC717DD}"/>
                </a:ext>
              </a:extLst>
            </p:cNvPr>
            <p:cNvSpPr txBox="1"/>
            <p:nvPr/>
          </p:nvSpPr>
          <p:spPr>
            <a:xfrm>
              <a:off x="9354562" y="3236289"/>
              <a:ext cx="2804795" cy="16649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800"/>
                <a:buFont typeface="Nunito Sans"/>
                <a:buNone/>
              </a:pPr>
              <a:r>
                <a:rPr lang="vi-VN" sz="4000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Có yếu tố thực hành đơn giản như thí nghiệm cơ bản, quan sát hiện tượng tự nhiên </a:t>
              </a:r>
              <a:endParaRPr lang="en-US" sz="4000" dirty="0">
                <a:solidFill>
                  <a:srgbClr val="002060"/>
                </a:solidFill>
                <a:latin typeface="Times New Roman" panose="02020603050405020304" charset="0"/>
                <a:ea typeface="Nunito Sans"/>
                <a:cs typeface="Times New Roman" panose="02020603050405020304" charset="0"/>
                <a:sym typeface="Nunito Sans"/>
              </a:endParaRPr>
            </a:p>
          </p:txBody>
        </p:sp>
        <p:sp>
          <p:nvSpPr>
            <p:cNvPr id="41" name="Google Shape;1258;p53">
              <a:extLst>
                <a:ext uri="{FF2B5EF4-FFF2-40B4-BE49-F238E27FC236}">
                  <a16:creationId xmlns:a16="http://schemas.microsoft.com/office/drawing/2014/main" id="{21D1ADD8-871B-0A1D-2DFB-808A03751FC2}"/>
                </a:ext>
              </a:extLst>
            </p:cNvPr>
            <p:cNvSpPr/>
            <p:nvPr/>
          </p:nvSpPr>
          <p:spPr>
            <a:xfrm>
              <a:off x="10962229" y="2304235"/>
              <a:ext cx="358419" cy="358419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rgbClr val="43407F"/>
                </a:gs>
                <a:gs pos="80000">
                  <a:srgbClr val="5854A7"/>
                </a:gs>
                <a:gs pos="100000">
                  <a:srgbClr val="5753AA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260;p53">
              <a:extLst>
                <a:ext uri="{FF2B5EF4-FFF2-40B4-BE49-F238E27FC236}">
                  <a16:creationId xmlns:a16="http://schemas.microsoft.com/office/drawing/2014/main" id="{D8D3B8DE-C8B8-383C-AFE1-2E9986BA690F}"/>
                </a:ext>
              </a:extLst>
            </p:cNvPr>
            <p:cNvSpPr/>
            <p:nvPr/>
          </p:nvSpPr>
          <p:spPr>
            <a:xfrm>
              <a:off x="12151940" y="2340102"/>
              <a:ext cx="2769555" cy="166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61;p53">
              <a:extLst>
                <a:ext uri="{FF2B5EF4-FFF2-40B4-BE49-F238E27FC236}">
                  <a16:creationId xmlns:a16="http://schemas.microsoft.com/office/drawing/2014/main" id="{168CEF6D-F6E3-1CE2-9DF3-A012427DB217}"/>
                </a:ext>
              </a:extLst>
            </p:cNvPr>
            <p:cNvSpPr txBox="1"/>
            <p:nvPr/>
          </p:nvSpPr>
          <p:spPr>
            <a:xfrm>
              <a:off x="12216478" y="2523242"/>
              <a:ext cx="2705100" cy="16649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800"/>
                <a:buFont typeface="Nunito Sans"/>
                <a:buNone/>
              </a:pPr>
              <a:endParaRPr lang="en-US" sz="4000" dirty="0">
                <a:solidFill>
                  <a:srgbClr val="002060"/>
                </a:solidFill>
                <a:latin typeface="Times New Roman" panose="02020603050405020304" charset="0"/>
                <a:ea typeface="Nunito Sans"/>
                <a:cs typeface="Times New Roman" panose="02020603050405020304" charset="0"/>
                <a:sym typeface="Nunito Sans"/>
              </a:endParaRPr>
            </a:p>
          </p:txBody>
        </p:sp>
      </p:grpSp>
      <p:cxnSp>
        <p:nvCxnSpPr>
          <p:cNvPr id="45" name="Google Shape;1262;p53">
            <a:extLst>
              <a:ext uri="{FF2B5EF4-FFF2-40B4-BE49-F238E27FC236}">
                <a16:creationId xmlns:a16="http://schemas.microsoft.com/office/drawing/2014/main" id="{40FBF836-C038-E039-0262-91D318907220}"/>
              </a:ext>
            </a:extLst>
          </p:cNvPr>
          <p:cNvCxnSpPr>
            <a:cxnSpLocks/>
          </p:cNvCxnSpPr>
          <p:nvPr/>
        </p:nvCxnSpPr>
        <p:spPr>
          <a:xfrm>
            <a:off x="14396183" y="3312557"/>
            <a:ext cx="0" cy="6631543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47" name="Google Shape;1264;p53">
            <a:extLst>
              <a:ext uri="{FF2B5EF4-FFF2-40B4-BE49-F238E27FC236}">
                <a16:creationId xmlns:a16="http://schemas.microsoft.com/office/drawing/2014/main" id="{79C8066E-F9D3-808F-8D64-BE223F38A063}"/>
              </a:ext>
            </a:extLst>
          </p:cNvPr>
          <p:cNvCxnSpPr/>
          <p:nvPr/>
        </p:nvCxnSpPr>
        <p:spPr>
          <a:xfrm>
            <a:off x="11332783" y="4815723"/>
            <a:ext cx="0" cy="44196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48" name="Google Shape;1265;p53">
            <a:extLst>
              <a:ext uri="{FF2B5EF4-FFF2-40B4-BE49-F238E27FC236}">
                <a16:creationId xmlns:a16="http://schemas.microsoft.com/office/drawing/2014/main" id="{1252E85B-3B8F-4918-4DAE-84A457030C9C}"/>
              </a:ext>
            </a:extLst>
          </p:cNvPr>
          <p:cNvCxnSpPr/>
          <p:nvPr/>
        </p:nvCxnSpPr>
        <p:spPr>
          <a:xfrm>
            <a:off x="8005035" y="5186221"/>
            <a:ext cx="0" cy="3810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49" name="Google Shape;1266;p53">
            <a:extLst>
              <a:ext uri="{FF2B5EF4-FFF2-40B4-BE49-F238E27FC236}">
                <a16:creationId xmlns:a16="http://schemas.microsoft.com/office/drawing/2014/main" id="{C3CC5127-83F5-111D-7715-6975F82DC916}"/>
              </a:ext>
            </a:extLst>
          </p:cNvPr>
          <p:cNvCxnSpPr/>
          <p:nvPr/>
        </p:nvCxnSpPr>
        <p:spPr>
          <a:xfrm>
            <a:off x="5062682" y="5507310"/>
            <a:ext cx="0" cy="32131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6" name="Text Box 32">
            <a:extLst>
              <a:ext uri="{FF2B5EF4-FFF2-40B4-BE49-F238E27FC236}">
                <a16:creationId xmlns:a16="http://schemas.microsoft.com/office/drawing/2014/main" id="{BC247692-6047-3E3E-4716-F01EBBBC0302}"/>
              </a:ext>
            </a:extLst>
          </p:cNvPr>
          <p:cNvSpPr txBox="1"/>
          <p:nvPr/>
        </p:nvSpPr>
        <p:spPr>
          <a:xfrm>
            <a:off x="581830" y="1696264"/>
            <a:ext cx="17230725" cy="2156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266700">
              <a:lnSpc>
                <a:spcPct val="114000"/>
              </a:lnSpc>
              <a:spcAft>
                <a:spcPts val="1000"/>
              </a:spcAft>
            </a:pPr>
            <a:r>
              <a:rPr lang="vi-VN" sz="4500" b="1" dirty="0">
                <a:solidFill>
                  <a:srgbClr val="FF0000"/>
                </a:solidFill>
                <a:latin typeface="+mj-lt"/>
              </a:rPr>
              <a:t>1.4. Thực trạng dạy học STEM ở trường Tiểu học Quang Trung</a:t>
            </a:r>
            <a:endParaRPr lang="en-US" sz="4500" b="1" dirty="0">
              <a:latin typeface="+mj-lt"/>
            </a:endParaRPr>
          </a:p>
          <a:p>
            <a:pPr indent="457200" algn="l" defTabSz="266700">
              <a:lnSpc>
                <a:spcPct val="114000"/>
              </a:lnSpc>
              <a:spcAft>
                <a:spcPts val="1000"/>
              </a:spcAft>
            </a:pPr>
            <a:endParaRPr lang="en-US" sz="7200" dirty="0">
              <a:solidFill>
                <a:srgbClr val="FF0000"/>
              </a:solidFill>
              <a:effectLst/>
              <a:latin typeface="Times New Roman" panose="02020603050405020304"/>
              <a:ea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60130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45FBB-FB11-3170-3BF9-BC56B86C4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C2BBE9EA-AE02-110F-16A7-74C823C0AFF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-180055" y="-1905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D6A12AF2-5263-BF6B-0C62-8A0859330698}"/>
              </a:ext>
            </a:extLst>
          </p:cNvPr>
          <p:cNvGrpSpPr/>
          <p:nvPr/>
        </p:nvGrpSpPr>
        <p:grpSpPr>
          <a:xfrm rot="960000">
            <a:off x="-4759656" y="3109333"/>
            <a:ext cx="23834725" cy="9062720"/>
            <a:chOff x="-512423" y="3092920"/>
            <a:chExt cx="10315353" cy="2970488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002A057A-419A-EED0-CC65-E10EAD7476A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-345285" y="3092920"/>
              <a:ext cx="10148215" cy="2869130"/>
            </a:xfrm>
            <a:custGeom>
              <a:avLst/>
              <a:gdLst/>
              <a:ahLst/>
              <a:cxnLst/>
              <a:rect l="l" t="t" r="r" b="b"/>
              <a:pathLst>
                <a:path w="9441680" h="2510865">
                  <a:moveTo>
                    <a:pt x="0" y="0"/>
                  </a:moveTo>
                  <a:lnTo>
                    <a:pt x="9441680" y="0"/>
                  </a:lnTo>
                  <a:lnTo>
                    <a:pt x="944168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C1A4C51E-4255-477F-ACFA-DC72C00E7AB8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 rot="1200000">
              <a:off x="-512423" y="3514408"/>
              <a:ext cx="9893802" cy="254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49F02C8-EE4D-CFEA-07F8-73C9D300C832}"/>
              </a:ext>
            </a:extLst>
          </p:cNvPr>
          <p:cNvGrpSpPr/>
          <p:nvPr/>
        </p:nvGrpSpPr>
        <p:grpSpPr>
          <a:xfrm>
            <a:off x="-76200" y="-419100"/>
            <a:ext cx="13487400" cy="1838325"/>
            <a:chOff x="-120" y="-660"/>
            <a:chExt cx="21240" cy="2895"/>
          </a:xfrm>
        </p:grpSpPr>
        <p:cxnSp>
          <p:nvCxnSpPr>
            <p:cNvPr id="117" name="Google Shape;117;p3">
              <a:extLst>
                <a:ext uri="{FF2B5EF4-FFF2-40B4-BE49-F238E27FC236}">
                  <a16:creationId xmlns:a16="http://schemas.microsoft.com/office/drawing/2014/main" id="{F056D1B7-50F4-4698-105B-394F43B56B3F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>
            <a:xfrm>
              <a:off x="-120" y="210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17;p3">
              <a:extLst>
                <a:ext uri="{FF2B5EF4-FFF2-40B4-BE49-F238E27FC236}">
                  <a16:creationId xmlns:a16="http://schemas.microsoft.com/office/drawing/2014/main" id="{03EE79E1-47FA-4EE9-0076-0E726BF33764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>
            <a:xfrm flipV="1">
              <a:off x="2004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FD4B369-C8AA-B9D4-BAA1-B039D61F02EF}"/>
              </a:ext>
            </a:extLst>
          </p:cNvPr>
          <p:cNvGrpSpPr/>
          <p:nvPr/>
        </p:nvGrpSpPr>
        <p:grpSpPr>
          <a:xfrm>
            <a:off x="13106400" y="114300"/>
            <a:ext cx="4928235" cy="1217930"/>
            <a:chOff x="20640" y="180"/>
            <a:chExt cx="7761" cy="1918"/>
          </a:xfrm>
        </p:grpSpPr>
        <p:sp>
          <p:nvSpPr>
            <p:cNvPr id="103" name="Freeform 61">
              <a:extLst>
                <a:ext uri="{FF2B5EF4-FFF2-40B4-BE49-F238E27FC236}">
                  <a16:creationId xmlns:a16="http://schemas.microsoft.com/office/drawing/2014/main" id="{D5942D9C-9C5F-812A-14C8-C3763B84B97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20640" y="180"/>
              <a:ext cx="7761" cy="1918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 Box 1">
              <a:extLst>
                <a:ext uri="{FF2B5EF4-FFF2-40B4-BE49-F238E27FC236}">
                  <a16:creationId xmlns:a16="http://schemas.microsoft.com/office/drawing/2014/main" id="{A1FEB66B-D788-41CB-3A88-76C78055BCE0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21120" y="31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10B2E07A-AB79-B47D-B0CE-3B5EC9B5E99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1560" y="114300"/>
            <a:ext cx="1133475" cy="1133475"/>
          </a:xfrm>
          <a:prstGeom prst="rect">
            <a:avLst/>
          </a:prstGeom>
        </p:spPr>
      </p:pic>
      <p:sp>
        <p:nvSpPr>
          <p:cNvPr id="69" name="Text Box 68">
            <a:extLst>
              <a:ext uri="{FF2B5EF4-FFF2-40B4-BE49-F238E27FC236}">
                <a16:creationId xmlns:a16="http://schemas.microsoft.com/office/drawing/2014/main" id="{29B35F4B-125D-DFD5-08A4-4E90F014F23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8760" y="190500"/>
            <a:ext cx="1226502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5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CƠ SỞ LÝ LUẬN</a:t>
            </a:r>
            <a:r>
              <a:rPr lang="vi-VN" sz="45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VÀ THỰC TIỄN</a:t>
            </a:r>
            <a:r>
              <a:rPr lang="en-US" sz="45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sz="45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45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Freeform 59">
            <a:extLst>
              <a:ext uri="{FF2B5EF4-FFF2-40B4-BE49-F238E27FC236}">
                <a16:creationId xmlns:a16="http://schemas.microsoft.com/office/drawing/2014/main" id="{8A938512-060B-FD62-7E8C-94C5AC8B7D1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734310" y="8328660"/>
            <a:ext cx="571500" cy="591185"/>
          </a:xfrm>
          <a:custGeom>
            <a:avLst/>
            <a:gdLst/>
            <a:ahLst/>
            <a:cxnLst/>
            <a:rect l="l" t="t" r="r" b="b"/>
            <a:pathLst>
              <a:path w="505996" h="515665">
                <a:moveTo>
                  <a:pt x="0" y="0"/>
                </a:moveTo>
                <a:lnTo>
                  <a:pt x="505996" y="0"/>
                </a:lnTo>
                <a:lnTo>
                  <a:pt x="505996" y="515666"/>
                </a:lnTo>
                <a:lnTo>
                  <a:pt x="0" y="515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E10C5C0-B894-71A4-B8B1-039707677A58}"/>
              </a:ext>
            </a:extLst>
          </p:cNvPr>
          <p:cNvGrpSpPr/>
          <p:nvPr/>
        </p:nvGrpSpPr>
        <p:grpSpPr>
          <a:xfrm>
            <a:off x="-381000" y="1526540"/>
            <a:ext cx="955040" cy="8760460"/>
            <a:chOff x="-120" y="2404"/>
            <a:chExt cx="1504" cy="13796"/>
          </a:xfrm>
        </p:grpSpPr>
        <p:grpSp>
          <p:nvGrpSpPr>
            <p:cNvPr id="25" name="Group 7">
              <a:extLst>
                <a:ext uri="{FF2B5EF4-FFF2-40B4-BE49-F238E27FC236}">
                  <a16:creationId xmlns:a16="http://schemas.microsoft.com/office/drawing/2014/main" id="{66442FDC-6F5E-73FF-D865-F927AB287D83}"/>
                </a:ext>
              </a:extLst>
            </p:cNvPr>
            <p:cNvGrpSpPr/>
            <p:nvPr/>
          </p:nvGrpSpPr>
          <p:grpSpPr>
            <a:xfrm>
              <a:off x="-120" y="2404"/>
              <a:ext cx="1489" cy="10006"/>
              <a:chOff x="0" y="0"/>
              <a:chExt cx="248964" cy="1869420"/>
            </a:xfrm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</p:grpSpPr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79960B43-8FD8-4842-5D3E-A426434BCCDF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0" y="0"/>
                <a:ext cx="248964" cy="1869420"/>
              </a:xfrm>
              <a:custGeom>
                <a:avLst/>
                <a:gdLst/>
                <a:ahLst/>
                <a:cxnLst/>
                <a:rect l="l" t="t" r="r" b="b"/>
                <a:pathLst>
                  <a:path w="248964" h="1869420">
                    <a:moveTo>
                      <a:pt x="0" y="0"/>
                    </a:moveTo>
                    <a:lnTo>
                      <a:pt x="248964" y="0"/>
                    </a:lnTo>
                    <a:lnTo>
                      <a:pt x="248964" y="1869420"/>
                    </a:lnTo>
                    <a:lnTo>
                      <a:pt x="0" y="186942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9">
                <a:extLst>
                  <a:ext uri="{FF2B5EF4-FFF2-40B4-BE49-F238E27FC236}">
                    <a16:creationId xmlns:a16="http://schemas.microsoft.com/office/drawing/2014/main" id="{188E93F6-3306-607B-18E4-2EAC220B01FB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0" y="-57150"/>
                <a:ext cx="248964" cy="192657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8" name="Group 10">
              <a:extLst>
                <a:ext uri="{FF2B5EF4-FFF2-40B4-BE49-F238E27FC236}">
                  <a16:creationId xmlns:a16="http://schemas.microsoft.com/office/drawing/2014/main" id="{CB9AE394-6E22-55B3-8185-6E8488CAA8E1}"/>
                </a:ext>
              </a:extLst>
            </p:cNvPr>
            <p:cNvGrpSpPr/>
            <p:nvPr/>
          </p:nvGrpSpPr>
          <p:grpSpPr>
            <a:xfrm>
              <a:off x="-120" y="11178"/>
              <a:ext cx="1504" cy="5022"/>
              <a:chOff x="0" y="0"/>
              <a:chExt cx="248964" cy="839913"/>
            </a:xfrm>
          </p:grpSpPr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620B95B2-747B-B1E4-4234-BB58327D459D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0" y="0"/>
                <a:ext cx="248964" cy="839913"/>
              </a:xfrm>
              <a:custGeom>
                <a:avLst/>
                <a:gdLst/>
                <a:ahLst/>
                <a:cxnLst/>
                <a:rect l="l" t="t" r="r" b="b"/>
                <a:pathLst>
                  <a:path w="248964" h="839913">
                    <a:moveTo>
                      <a:pt x="0" y="0"/>
                    </a:moveTo>
                    <a:lnTo>
                      <a:pt x="248964" y="0"/>
                    </a:lnTo>
                    <a:lnTo>
                      <a:pt x="248964" y="839913"/>
                    </a:lnTo>
                    <a:lnTo>
                      <a:pt x="0" y="839913"/>
                    </a:lnTo>
                    <a:close/>
                  </a:path>
                </a:pathLst>
              </a:custGeom>
              <a:solidFill>
                <a:srgbClr val="22222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12">
                <a:extLst>
                  <a:ext uri="{FF2B5EF4-FFF2-40B4-BE49-F238E27FC236}">
                    <a16:creationId xmlns:a16="http://schemas.microsoft.com/office/drawing/2014/main" id="{CF70594A-5D40-6D9B-92AD-D341FDE5D0B5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0" y="-57150"/>
                <a:ext cx="248964" cy="897063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290" name="Google Shape;1290;p54">
            <a:extLst>
              <a:ext uri="{FF2B5EF4-FFF2-40B4-BE49-F238E27FC236}">
                <a16:creationId xmlns:a16="http://schemas.microsoft.com/office/drawing/2014/main" id="{76B814D3-2453-B999-F80B-D336CF5B3BC5}"/>
              </a:ext>
            </a:extLst>
          </p:cNvPr>
          <p:cNvSpPr txBox="1"/>
          <p:nvPr/>
        </p:nvSpPr>
        <p:spPr>
          <a:xfrm>
            <a:off x="3148330" y="6959385"/>
            <a:ext cx="1195386" cy="512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22850" rIns="22850" bIns="22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 panose="020B0604020202020204"/>
              <a:buNone/>
            </a:pPr>
            <a:endParaRPr lang="en-US" sz="360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92" name="Google Shape;1292;p54">
            <a:extLst>
              <a:ext uri="{FF2B5EF4-FFF2-40B4-BE49-F238E27FC236}">
                <a16:creationId xmlns:a16="http://schemas.microsoft.com/office/drawing/2014/main" id="{C7A1961E-CAD2-150A-2B65-7B7E8D3A692E}"/>
              </a:ext>
            </a:extLst>
          </p:cNvPr>
          <p:cNvSpPr txBox="1"/>
          <p:nvPr/>
        </p:nvSpPr>
        <p:spPr>
          <a:xfrm>
            <a:off x="4343716" y="6504524"/>
            <a:ext cx="10285128" cy="100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6025" tIns="22850" rIns="22850" bIns="22850" anchor="ctr" anchorCtr="0">
            <a:noAutofit/>
          </a:bodyPr>
          <a:lstStyle/>
          <a:p>
            <a:pPr marL="285750" marR="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Char char="•"/>
            </a:pPr>
            <a:endParaRPr lang="en-US" sz="3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96" name="Google Shape;1296;p54">
            <a:extLst>
              <a:ext uri="{FF2B5EF4-FFF2-40B4-BE49-F238E27FC236}">
                <a16:creationId xmlns:a16="http://schemas.microsoft.com/office/drawing/2014/main" id="{214EB084-6D5E-0605-264B-56DEAD57BBA4}"/>
              </a:ext>
            </a:extLst>
          </p:cNvPr>
          <p:cNvSpPr txBox="1"/>
          <p:nvPr/>
        </p:nvSpPr>
        <p:spPr>
          <a:xfrm>
            <a:off x="4343716" y="8099334"/>
            <a:ext cx="10285128" cy="1001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6025" tIns="22850" rIns="22850" bIns="22850" anchor="ctr" anchorCtr="0">
            <a:noAutofit/>
          </a:bodyPr>
          <a:lstStyle/>
          <a:p>
            <a:pPr marL="285750" marR="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Char char="•"/>
            </a:pPr>
            <a:endParaRPr lang="en-US" sz="3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" name="Google Shape;1242;p53">
            <a:extLst>
              <a:ext uri="{FF2B5EF4-FFF2-40B4-BE49-F238E27FC236}">
                <a16:creationId xmlns:a16="http://schemas.microsoft.com/office/drawing/2014/main" id="{B958EB5F-6A0C-1DFA-003B-46AE73B94CC1}"/>
              </a:ext>
            </a:extLst>
          </p:cNvPr>
          <p:cNvGrpSpPr/>
          <p:nvPr/>
        </p:nvGrpSpPr>
        <p:grpSpPr>
          <a:xfrm>
            <a:off x="1677328" y="3449864"/>
            <a:ext cx="15543691" cy="5497195"/>
            <a:chOff x="-410497" y="2008892"/>
            <a:chExt cx="15543691" cy="5497195"/>
          </a:xfrm>
        </p:grpSpPr>
        <p:sp>
          <p:nvSpPr>
            <p:cNvPr id="5" name="Google Shape;1243;p53">
              <a:extLst>
                <a:ext uri="{FF2B5EF4-FFF2-40B4-BE49-F238E27FC236}">
                  <a16:creationId xmlns:a16="http://schemas.microsoft.com/office/drawing/2014/main" id="{99169803-1ADD-9123-622D-7BEBAEB9FECA}"/>
                </a:ext>
              </a:extLst>
            </p:cNvPr>
            <p:cNvSpPr/>
            <p:nvPr/>
          </p:nvSpPr>
          <p:spPr>
            <a:xfrm rot="5400000">
              <a:off x="275503" y="4004300"/>
              <a:ext cx="1264520" cy="2636520"/>
            </a:xfrm>
            <a:prstGeom prst="corner">
              <a:avLst>
                <a:gd name="adj1" fmla="val 16120"/>
                <a:gd name="adj2" fmla="val 16110"/>
              </a:avLst>
            </a:prstGeom>
            <a:gradFill>
              <a:gsLst>
                <a:gs pos="0">
                  <a:srgbClr val="759336"/>
                </a:gs>
                <a:gs pos="80000">
                  <a:srgbClr val="99C247"/>
                </a:gs>
                <a:gs pos="100000">
                  <a:srgbClr val="9BC545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44;p53">
              <a:extLst>
                <a:ext uri="{FF2B5EF4-FFF2-40B4-BE49-F238E27FC236}">
                  <a16:creationId xmlns:a16="http://schemas.microsoft.com/office/drawing/2014/main" id="{C8A4A3A7-11FF-0689-AE2B-C0510C1C5AFE}"/>
                </a:ext>
              </a:extLst>
            </p:cNvPr>
            <p:cNvSpPr/>
            <p:nvPr/>
          </p:nvSpPr>
          <p:spPr>
            <a:xfrm>
              <a:off x="0" y="5175642"/>
              <a:ext cx="2581948" cy="166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45;p53">
              <a:extLst>
                <a:ext uri="{FF2B5EF4-FFF2-40B4-BE49-F238E27FC236}">
                  <a16:creationId xmlns:a16="http://schemas.microsoft.com/office/drawing/2014/main" id="{E53977CD-F0A3-DCC0-543B-23AAEC64728C}"/>
                </a:ext>
              </a:extLst>
            </p:cNvPr>
            <p:cNvSpPr txBox="1"/>
            <p:nvPr/>
          </p:nvSpPr>
          <p:spPr>
            <a:xfrm>
              <a:off x="-90170" y="5190247"/>
              <a:ext cx="2581948" cy="166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800"/>
                <a:buFont typeface="Nunito Sans"/>
                <a:buNone/>
              </a:pPr>
              <a:r>
                <a:rPr lang="vi-VN" sz="4000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Chưa có sự “Chương trình hóa” giáo dục STEM rõ ràng</a:t>
              </a:r>
              <a:endParaRPr lang="en-US" sz="4000" dirty="0">
                <a:solidFill>
                  <a:srgbClr val="002060"/>
                </a:solidFill>
                <a:latin typeface="Times New Roman" panose="02020603050405020304" charset="0"/>
                <a:ea typeface="Nunito Sans"/>
                <a:cs typeface="Times New Roman" panose="02020603050405020304" charset="0"/>
                <a:sym typeface="Nunito Sans"/>
              </a:endParaRPr>
            </a:p>
          </p:txBody>
        </p:sp>
        <p:sp>
          <p:nvSpPr>
            <p:cNvPr id="11" name="Google Shape;1246;p53">
              <a:extLst>
                <a:ext uri="{FF2B5EF4-FFF2-40B4-BE49-F238E27FC236}">
                  <a16:creationId xmlns:a16="http://schemas.microsoft.com/office/drawing/2014/main" id="{42A30DAA-EE84-1CEA-04B9-818124DAF465}"/>
                </a:ext>
              </a:extLst>
            </p:cNvPr>
            <p:cNvSpPr/>
            <p:nvPr/>
          </p:nvSpPr>
          <p:spPr>
            <a:xfrm>
              <a:off x="2020982" y="4030584"/>
              <a:ext cx="358419" cy="358419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rgbClr val="4F9036"/>
                </a:gs>
                <a:gs pos="80000">
                  <a:srgbClr val="68BE48"/>
                </a:gs>
                <a:gs pos="100000">
                  <a:srgbClr val="67C046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47;p53">
              <a:extLst>
                <a:ext uri="{FF2B5EF4-FFF2-40B4-BE49-F238E27FC236}">
                  <a16:creationId xmlns:a16="http://schemas.microsoft.com/office/drawing/2014/main" id="{2578FC0A-CECA-8E0E-38D2-CDB1D0F1D1B9}"/>
                </a:ext>
              </a:extLst>
            </p:cNvPr>
            <p:cNvSpPr/>
            <p:nvPr/>
          </p:nvSpPr>
          <p:spPr>
            <a:xfrm rot="5400000">
              <a:off x="3284128" y="3425791"/>
              <a:ext cx="1264520" cy="2510167"/>
            </a:xfrm>
            <a:prstGeom prst="corner">
              <a:avLst>
                <a:gd name="adj1" fmla="val 16120"/>
                <a:gd name="adj2" fmla="val 16110"/>
              </a:avLst>
            </a:prstGeom>
            <a:gradFill>
              <a:gsLst>
                <a:gs pos="0">
                  <a:srgbClr val="388D3F"/>
                </a:gs>
                <a:gs pos="80000">
                  <a:srgbClr val="49BB54"/>
                </a:gs>
                <a:gs pos="100000">
                  <a:srgbClr val="47BE53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48;p53">
              <a:extLst>
                <a:ext uri="{FF2B5EF4-FFF2-40B4-BE49-F238E27FC236}">
                  <a16:creationId xmlns:a16="http://schemas.microsoft.com/office/drawing/2014/main" id="{4243F795-C2CC-D076-0099-3BAF2BFDF7A6}"/>
                </a:ext>
              </a:extLst>
            </p:cNvPr>
            <p:cNvSpPr/>
            <p:nvPr/>
          </p:nvSpPr>
          <p:spPr>
            <a:xfrm>
              <a:off x="2842630" y="4168906"/>
              <a:ext cx="2450095" cy="166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49;p53">
              <a:extLst>
                <a:ext uri="{FF2B5EF4-FFF2-40B4-BE49-F238E27FC236}">
                  <a16:creationId xmlns:a16="http://schemas.microsoft.com/office/drawing/2014/main" id="{5C59A773-B1F8-9347-8644-87DEB260B347}"/>
                </a:ext>
              </a:extLst>
            </p:cNvPr>
            <p:cNvSpPr txBox="1"/>
            <p:nvPr/>
          </p:nvSpPr>
          <p:spPr>
            <a:xfrm>
              <a:off x="2805778" y="4428242"/>
              <a:ext cx="2617470" cy="30778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285750" marR="0" lvl="1" indent="-107950" algn="l" rtl="0">
                <a:lnSpc>
                  <a:spcPct val="90000"/>
                </a:lnSpc>
                <a:spcBef>
                  <a:spcPts val="98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 panose="020F0502020204030204"/>
                <a:buNone/>
              </a:pPr>
              <a:r>
                <a:rPr lang="vi-VN" sz="4000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N</a:t>
              </a:r>
              <a:r>
                <a:rPr lang="vi-VN" sz="4000" b="0" i="0" u="none" strike="noStrike" cap="none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ăng lực giáo viên chưa đáp ứng yêu cầu</a:t>
              </a:r>
              <a:endParaRPr lang="en-US" sz="4000" b="0" i="0" u="none" strike="noStrike" cap="none" dirty="0">
                <a:solidFill>
                  <a:srgbClr val="002060"/>
                </a:solidFill>
                <a:latin typeface="Times New Roman" panose="02020603050405020304" charset="0"/>
                <a:ea typeface="Nunito Sans"/>
                <a:cs typeface="Times New Roman" panose="02020603050405020304" charset="0"/>
                <a:sym typeface="Nunito Sans"/>
              </a:endParaRPr>
            </a:p>
          </p:txBody>
        </p:sp>
        <p:sp>
          <p:nvSpPr>
            <p:cNvPr id="32" name="Google Shape;1250;p53">
              <a:extLst>
                <a:ext uri="{FF2B5EF4-FFF2-40B4-BE49-F238E27FC236}">
                  <a16:creationId xmlns:a16="http://schemas.microsoft.com/office/drawing/2014/main" id="{9DAFB49A-7959-ED9B-2956-9921CA86F1A6}"/>
                </a:ext>
              </a:extLst>
            </p:cNvPr>
            <p:cNvSpPr/>
            <p:nvPr/>
          </p:nvSpPr>
          <p:spPr>
            <a:xfrm>
              <a:off x="4890672" y="3455134"/>
              <a:ext cx="358419" cy="358419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rgbClr val="398B61"/>
                </a:gs>
                <a:gs pos="80000">
                  <a:srgbClr val="4CB780"/>
                </a:gs>
                <a:gs pos="100000">
                  <a:srgbClr val="4ABA8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51;p53">
              <a:extLst>
                <a:ext uri="{FF2B5EF4-FFF2-40B4-BE49-F238E27FC236}">
                  <a16:creationId xmlns:a16="http://schemas.microsoft.com/office/drawing/2014/main" id="{6524601D-AA5F-BB08-09AB-53C5B26FA848}"/>
                </a:ext>
              </a:extLst>
            </p:cNvPr>
            <p:cNvSpPr/>
            <p:nvPr/>
          </p:nvSpPr>
          <p:spPr>
            <a:xfrm rot="5400000">
              <a:off x="6381525" y="2613483"/>
              <a:ext cx="1264520" cy="2929331"/>
            </a:xfrm>
            <a:prstGeom prst="corner">
              <a:avLst>
                <a:gd name="adj1" fmla="val 16120"/>
                <a:gd name="adj2" fmla="val 16110"/>
              </a:avLst>
            </a:prstGeom>
            <a:gradFill>
              <a:gsLst>
                <a:gs pos="0">
                  <a:srgbClr val="3A897F"/>
                </a:gs>
                <a:gs pos="80000">
                  <a:srgbClr val="4DB3A8"/>
                </a:gs>
                <a:gs pos="100000">
                  <a:srgbClr val="4CB6AA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52;p53">
              <a:extLst>
                <a:ext uri="{FF2B5EF4-FFF2-40B4-BE49-F238E27FC236}">
                  <a16:creationId xmlns:a16="http://schemas.microsoft.com/office/drawing/2014/main" id="{9BAEA407-63A8-B46C-B445-82908D3F687E}"/>
                </a:ext>
              </a:extLst>
            </p:cNvPr>
            <p:cNvSpPr/>
            <p:nvPr/>
          </p:nvSpPr>
          <p:spPr>
            <a:xfrm>
              <a:off x="5654300" y="3848305"/>
              <a:ext cx="3227782" cy="166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53;p53">
              <a:extLst>
                <a:ext uri="{FF2B5EF4-FFF2-40B4-BE49-F238E27FC236}">
                  <a16:creationId xmlns:a16="http://schemas.microsoft.com/office/drawing/2014/main" id="{00225165-F67E-D130-B61A-E7DEDD01A8BB}"/>
                </a:ext>
              </a:extLst>
            </p:cNvPr>
            <p:cNvSpPr txBox="1"/>
            <p:nvPr/>
          </p:nvSpPr>
          <p:spPr>
            <a:xfrm>
              <a:off x="5828378" y="3894842"/>
              <a:ext cx="2817495" cy="16649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800"/>
                <a:buFont typeface="Nunito Sans"/>
                <a:buNone/>
              </a:pPr>
              <a:r>
                <a:rPr lang="vi-VN" sz="4000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Thiếu sự phối hợp liên kết với các đơn vị bên ngoài</a:t>
              </a:r>
              <a:endParaRPr lang="en-US" sz="4000" dirty="0">
                <a:solidFill>
                  <a:srgbClr val="002060"/>
                </a:solidFill>
                <a:latin typeface="Times New Roman" panose="02020603050405020304" charset="0"/>
                <a:ea typeface="Nunito Sans"/>
                <a:cs typeface="Times New Roman" panose="02020603050405020304" charset="0"/>
                <a:sym typeface="Nunito Sans"/>
              </a:endParaRPr>
            </a:p>
          </p:txBody>
        </p:sp>
        <p:sp>
          <p:nvSpPr>
            <p:cNvPr id="37" name="Google Shape;1254;p53">
              <a:extLst>
                <a:ext uri="{FF2B5EF4-FFF2-40B4-BE49-F238E27FC236}">
                  <a16:creationId xmlns:a16="http://schemas.microsoft.com/office/drawing/2014/main" id="{D75DABB7-5D02-2B5F-58ED-16BD77AAFB38}"/>
                </a:ext>
              </a:extLst>
            </p:cNvPr>
            <p:cNvSpPr/>
            <p:nvPr/>
          </p:nvSpPr>
          <p:spPr>
            <a:xfrm>
              <a:off x="8075874" y="2879684"/>
              <a:ext cx="358419" cy="358419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rgbClr val="3C7085"/>
                </a:gs>
                <a:gs pos="80000">
                  <a:srgbClr val="5094AE"/>
                </a:gs>
                <a:gs pos="100000">
                  <a:srgbClr val="4F95B1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55;p53">
              <a:extLst>
                <a:ext uri="{FF2B5EF4-FFF2-40B4-BE49-F238E27FC236}">
                  <a16:creationId xmlns:a16="http://schemas.microsoft.com/office/drawing/2014/main" id="{BF1DC0D0-A6C9-3E84-6248-C8648F387F8E}"/>
                </a:ext>
              </a:extLst>
            </p:cNvPr>
            <p:cNvSpPr/>
            <p:nvPr/>
          </p:nvSpPr>
          <p:spPr>
            <a:xfrm rot="5400000">
              <a:off x="9632105" y="2066302"/>
              <a:ext cx="1264520" cy="2889816"/>
            </a:xfrm>
            <a:prstGeom prst="corner">
              <a:avLst>
                <a:gd name="adj1" fmla="val 16120"/>
                <a:gd name="adj2" fmla="val 16110"/>
              </a:avLst>
            </a:prstGeom>
            <a:gradFill>
              <a:gsLst>
                <a:gs pos="0">
                  <a:srgbClr val="3E5582"/>
                </a:gs>
                <a:gs pos="80000">
                  <a:srgbClr val="5170AC"/>
                </a:gs>
                <a:gs pos="100000">
                  <a:srgbClr val="506FA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256;p53">
              <a:extLst>
                <a:ext uri="{FF2B5EF4-FFF2-40B4-BE49-F238E27FC236}">
                  <a16:creationId xmlns:a16="http://schemas.microsoft.com/office/drawing/2014/main" id="{EA3BFD1B-D5A2-AB14-7BC5-558351EEB91D}"/>
                </a:ext>
              </a:extLst>
            </p:cNvPr>
            <p:cNvSpPr/>
            <p:nvPr/>
          </p:nvSpPr>
          <p:spPr>
            <a:xfrm>
              <a:off x="8931720" y="3009065"/>
              <a:ext cx="3134758" cy="166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57;p53">
              <a:extLst>
                <a:ext uri="{FF2B5EF4-FFF2-40B4-BE49-F238E27FC236}">
                  <a16:creationId xmlns:a16="http://schemas.microsoft.com/office/drawing/2014/main" id="{EA48B6D5-8DAF-2C2D-0D48-4D16C73CE2F4}"/>
                </a:ext>
              </a:extLst>
            </p:cNvPr>
            <p:cNvSpPr txBox="1"/>
            <p:nvPr/>
          </p:nvSpPr>
          <p:spPr>
            <a:xfrm>
              <a:off x="9005102" y="3236673"/>
              <a:ext cx="2804795" cy="16649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800"/>
                <a:buFont typeface="Nunito Sans"/>
                <a:buNone/>
              </a:pPr>
              <a:r>
                <a:rPr lang="vi-VN" sz="4000" dirty="0">
                  <a:solidFill>
                    <a:srgbClr val="002060"/>
                  </a:solidFill>
                  <a:latin typeface="Times New Roman" panose="02020603050405020304" charset="0"/>
                  <a:ea typeface="Nunito Sans"/>
                  <a:cs typeface="Times New Roman" panose="02020603050405020304" charset="0"/>
                  <a:sym typeface="Nunito Sans"/>
                </a:rPr>
                <a:t>Cơ chế kiểm tra, đánh giá chưa đồng bộ</a:t>
              </a:r>
              <a:endParaRPr lang="en-US" sz="4000" dirty="0">
                <a:solidFill>
                  <a:srgbClr val="002060"/>
                </a:solidFill>
                <a:latin typeface="Times New Roman" panose="02020603050405020304" charset="0"/>
                <a:ea typeface="Nunito Sans"/>
                <a:cs typeface="Times New Roman" panose="02020603050405020304" charset="0"/>
                <a:sym typeface="Nunito Sans"/>
              </a:endParaRPr>
            </a:p>
          </p:txBody>
        </p:sp>
        <p:sp>
          <p:nvSpPr>
            <p:cNvPr id="41" name="Google Shape;1258;p53">
              <a:extLst>
                <a:ext uri="{FF2B5EF4-FFF2-40B4-BE49-F238E27FC236}">
                  <a16:creationId xmlns:a16="http://schemas.microsoft.com/office/drawing/2014/main" id="{93944367-7041-C3D2-D2FF-764CB77A633C}"/>
                </a:ext>
              </a:extLst>
            </p:cNvPr>
            <p:cNvSpPr/>
            <p:nvPr/>
          </p:nvSpPr>
          <p:spPr>
            <a:xfrm>
              <a:off x="10962229" y="2304235"/>
              <a:ext cx="358419" cy="358419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rgbClr val="43407F"/>
                </a:gs>
                <a:gs pos="80000">
                  <a:srgbClr val="5854A7"/>
                </a:gs>
                <a:gs pos="100000">
                  <a:srgbClr val="5753AA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259;p53">
              <a:extLst>
                <a:ext uri="{FF2B5EF4-FFF2-40B4-BE49-F238E27FC236}">
                  <a16:creationId xmlns:a16="http://schemas.microsoft.com/office/drawing/2014/main" id="{4ABEE12F-FDB3-722A-23E8-56D381EF16C4}"/>
                </a:ext>
              </a:extLst>
            </p:cNvPr>
            <p:cNvSpPr/>
            <p:nvPr/>
          </p:nvSpPr>
          <p:spPr>
            <a:xfrm rot="5400000">
              <a:off x="12910778" y="1050996"/>
              <a:ext cx="1264520" cy="3180312"/>
            </a:xfrm>
            <a:prstGeom prst="corner">
              <a:avLst>
                <a:gd name="adj1" fmla="val 16120"/>
                <a:gd name="adj2" fmla="val 16110"/>
              </a:avLst>
            </a:prstGeom>
            <a:gradFill>
              <a:gsLst>
                <a:gs pos="0">
                  <a:srgbClr val="5C417C"/>
                </a:gs>
                <a:gs pos="80000">
                  <a:srgbClr val="7955A4"/>
                </a:gs>
                <a:gs pos="100000">
                  <a:srgbClr val="7955A6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260;p53">
              <a:extLst>
                <a:ext uri="{FF2B5EF4-FFF2-40B4-BE49-F238E27FC236}">
                  <a16:creationId xmlns:a16="http://schemas.microsoft.com/office/drawing/2014/main" id="{26388706-F65A-2281-3BF8-A44302FB6A7A}"/>
                </a:ext>
              </a:extLst>
            </p:cNvPr>
            <p:cNvSpPr/>
            <p:nvPr/>
          </p:nvSpPr>
          <p:spPr>
            <a:xfrm>
              <a:off x="12151940" y="2340102"/>
              <a:ext cx="2769555" cy="1665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61;p53">
              <a:extLst>
                <a:ext uri="{FF2B5EF4-FFF2-40B4-BE49-F238E27FC236}">
                  <a16:creationId xmlns:a16="http://schemas.microsoft.com/office/drawing/2014/main" id="{9AF3E66A-1B4B-F591-72FC-D38FA4AECB8B}"/>
                </a:ext>
              </a:extLst>
            </p:cNvPr>
            <p:cNvSpPr txBox="1"/>
            <p:nvPr/>
          </p:nvSpPr>
          <p:spPr>
            <a:xfrm>
              <a:off x="12216478" y="2523242"/>
              <a:ext cx="2705100" cy="16649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800"/>
                <a:buFont typeface="Nunito Sans"/>
                <a:buNone/>
              </a:pPr>
              <a:endParaRPr lang="en-US" sz="4000" dirty="0">
                <a:solidFill>
                  <a:srgbClr val="002060"/>
                </a:solidFill>
                <a:latin typeface="Times New Roman" panose="02020603050405020304" charset="0"/>
                <a:ea typeface="Nunito Sans"/>
                <a:cs typeface="Times New Roman" panose="02020603050405020304" charset="0"/>
                <a:sym typeface="Nunito Sans"/>
              </a:endParaRPr>
            </a:p>
          </p:txBody>
        </p:sp>
      </p:grpSp>
      <p:cxnSp>
        <p:nvCxnSpPr>
          <p:cNvPr id="45" name="Google Shape;1262;p53">
            <a:extLst>
              <a:ext uri="{FF2B5EF4-FFF2-40B4-BE49-F238E27FC236}">
                <a16:creationId xmlns:a16="http://schemas.microsoft.com/office/drawing/2014/main" id="{5BCC3204-DE79-3EF5-74F2-CFA4E5D2CC26}"/>
              </a:ext>
            </a:extLst>
          </p:cNvPr>
          <p:cNvCxnSpPr/>
          <p:nvPr/>
        </p:nvCxnSpPr>
        <p:spPr>
          <a:xfrm>
            <a:off x="10972800" y="5143500"/>
            <a:ext cx="0" cy="487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46" name="Google Shape;1263;p53">
            <a:extLst>
              <a:ext uri="{FF2B5EF4-FFF2-40B4-BE49-F238E27FC236}">
                <a16:creationId xmlns:a16="http://schemas.microsoft.com/office/drawing/2014/main" id="{1B60C7CF-A377-E0B8-8A82-55F239190D6A}"/>
              </a:ext>
            </a:extLst>
          </p:cNvPr>
          <p:cNvCxnSpPr/>
          <p:nvPr/>
        </p:nvCxnSpPr>
        <p:spPr>
          <a:xfrm>
            <a:off x="14173200" y="4262156"/>
            <a:ext cx="0" cy="5486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47" name="Google Shape;1264;p53">
            <a:extLst>
              <a:ext uri="{FF2B5EF4-FFF2-40B4-BE49-F238E27FC236}">
                <a16:creationId xmlns:a16="http://schemas.microsoft.com/office/drawing/2014/main" id="{AEB30F9E-AB32-D2F9-C964-8FC4CB09E596}"/>
              </a:ext>
            </a:extLst>
          </p:cNvPr>
          <p:cNvCxnSpPr/>
          <p:nvPr/>
        </p:nvCxnSpPr>
        <p:spPr>
          <a:xfrm>
            <a:off x="7696200" y="5600700"/>
            <a:ext cx="0" cy="44196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48" name="Google Shape;1265;p53">
            <a:extLst>
              <a:ext uri="{FF2B5EF4-FFF2-40B4-BE49-F238E27FC236}">
                <a16:creationId xmlns:a16="http://schemas.microsoft.com/office/drawing/2014/main" id="{AA40046D-6D3F-D021-493B-FF64C4297B36}"/>
              </a:ext>
            </a:extLst>
          </p:cNvPr>
          <p:cNvCxnSpPr/>
          <p:nvPr/>
        </p:nvCxnSpPr>
        <p:spPr>
          <a:xfrm>
            <a:off x="4800600" y="6210300"/>
            <a:ext cx="0" cy="3810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49" name="Google Shape;1266;p53">
            <a:extLst>
              <a:ext uri="{FF2B5EF4-FFF2-40B4-BE49-F238E27FC236}">
                <a16:creationId xmlns:a16="http://schemas.microsoft.com/office/drawing/2014/main" id="{04EB4922-1A24-1B35-FCE8-D0FD0023CD9C}"/>
              </a:ext>
            </a:extLst>
          </p:cNvPr>
          <p:cNvCxnSpPr/>
          <p:nvPr/>
        </p:nvCxnSpPr>
        <p:spPr>
          <a:xfrm>
            <a:off x="1752600" y="6972300"/>
            <a:ext cx="0" cy="32131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6" name="Text Box 32">
            <a:extLst>
              <a:ext uri="{FF2B5EF4-FFF2-40B4-BE49-F238E27FC236}">
                <a16:creationId xmlns:a16="http://schemas.microsoft.com/office/drawing/2014/main" id="{EBF272F8-6437-B2FA-EB8E-B6C58A3204B8}"/>
              </a:ext>
            </a:extLst>
          </p:cNvPr>
          <p:cNvSpPr txBox="1"/>
          <p:nvPr/>
        </p:nvSpPr>
        <p:spPr>
          <a:xfrm>
            <a:off x="581830" y="1696264"/>
            <a:ext cx="17230725" cy="3833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266700">
              <a:lnSpc>
                <a:spcPct val="114000"/>
              </a:lnSpc>
              <a:spcAft>
                <a:spcPts val="1000"/>
              </a:spcAft>
            </a:pPr>
            <a:r>
              <a:rPr lang="vi-VN" sz="4500" b="1" dirty="0">
                <a:solidFill>
                  <a:srgbClr val="FF0000"/>
                </a:solidFill>
                <a:latin typeface="+mj-lt"/>
              </a:rPr>
              <a:t>1.4. Thực trạng dạy học STEM ở trường Tiểu học Quang Trung</a:t>
            </a:r>
          </a:p>
          <a:p>
            <a:pPr indent="457200" defTabSz="266700">
              <a:lnSpc>
                <a:spcPct val="114000"/>
              </a:lnSpc>
              <a:spcAft>
                <a:spcPts val="1000"/>
              </a:spcAft>
            </a:pPr>
            <a:endParaRPr lang="vi-VN" sz="4000" b="1" dirty="0">
              <a:solidFill>
                <a:srgbClr val="FF0000"/>
              </a:solidFill>
              <a:latin typeface="+mj-lt"/>
            </a:endParaRPr>
          </a:p>
          <a:p>
            <a:pPr indent="457200" defTabSz="266700">
              <a:lnSpc>
                <a:spcPct val="114000"/>
              </a:lnSpc>
              <a:spcAft>
                <a:spcPts val="1000"/>
              </a:spcAft>
            </a:pPr>
            <a:r>
              <a:rPr lang="vi-VN" sz="4000" b="1" dirty="0">
                <a:latin typeface="+mj-lt"/>
              </a:rPr>
              <a:t>* Khó khăn:</a:t>
            </a:r>
            <a:endParaRPr lang="en-US" sz="4000" b="1" dirty="0">
              <a:latin typeface="+mj-lt"/>
            </a:endParaRPr>
          </a:p>
          <a:p>
            <a:pPr indent="457200" algn="l" defTabSz="266700">
              <a:lnSpc>
                <a:spcPct val="114000"/>
              </a:lnSpc>
              <a:spcAft>
                <a:spcPts val="1000"/>
              </a:spcAft>
            </a:pPr>
            <a:endParaRPr lang="en-US" sz="7200" dirty="0">
              <a:solidFill>
                <a:srgbClr val="FF0000"/>
              </a:solidFill>
              <a:effectLst/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3" name="Google Shape;1257;p53">
            <a:extLst>
              <a:ext uri="{FF2B5EF4-FFF2-40B4-BE49-F238E27FC236}">
                <a16:creationId xmlns:a16="http://schemas.microsoft.com/office/drawing/2014/main" id="{B35DACDA-62EA-C3EB-ACCB-6C8B937BA25B}"/>
              </a:ext>
            </a:extLst>
          </p:cNvPr>
          <p:cNvSpPr txBox="1"/>
          <p:nvPr/>
        </p:nvSpPr>
        <p:spPr>
          <a:xfrm>
            <a:off x="14378183" y="3960387"/>
            <a:ext cx="2804795" cy="1664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675" tIns="106675" rIns="106675" bIns="1066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Nunito Sans"/>
              <a:buNone/>
            </a:pPr>
            <a:r>
              <a:rPr lang="vi-VN" sz="4000" dirty="0">
                <a:solidFill>
                  <a:srgbClr val="002060"/>
                </a:solidFill>
                <a:latin typeface="Times New Roman" panose="02020603050405020304" charset="0"/>
                <a:ea typeface="Nunito Sans"/>
                <a:cs typeface="Times New Roman" panose="02020603050405020304" charset="0"/>
                <a:sym typeface="Nunito Sans"/>
              </a:rPr>
              <a:t>Cơ sở vật chất và thiết bị chưa đáp ứng</a:t>
            </a:r>
            <a:endParaRPr lang="en-US" sz="4000" dirty="0">
              <a:solidFill>
                <a:srgbClr val="002060"/>
              </a:solidFill>
              <a:latin typeface="Times New Roman" panose="02020603050405020304" charset="0"/>
              <a:ea typeface="Nunito Sans"/>
              <a:cs typeface="Times New Roman" panose="02020603050405020304" charset="0"/>
              <a:sym typeface="Nunito Sans"/>
            </a:endParaRPr>
          </a:p>
        </p:txBody>
      </p:sp>
    </p:spTree>
    <p:extLst>
      <p:ext uri="{BB962C8B-B14F-4D97-AF65-F5344CB8AC3E}">
        <p14:creationId xmlns:p14="http://schemas.microsoft.com/office/powerpoint/2010/main" val="2568505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BD3"/>
            </a:gs>
            <a:gs pos="100000">
              <a:srgbClr val="03437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>
            <p:custDataLst>
              <p:tags r:id="rId1"/>
            </p:custDataLst>
          </p:nvPr>
        </p:nvSpPr>
        <p:spPr>
          <a:xfrm rot="-3552420">
            <a:off x="11146364" y="-4694982"/>
            <a:ext cx="7139112" cy="8541230"/>
          </a:xfrm>
          <a:custGeom>
            <a:avLst/>
            <a:gdLst/>
            <a:ahLst/>
            <a:cxnLst/>
            <a:rect l="l" t="t" r="r" b="b"/>
            <a:pathLst>
              <a:path w="7139112" h="8541230">
                <a:moveTo>
                  <a:pt x="0" y="0"/>
                </a:moveTo>
                <a:lnTo>
                  <a:pt x="7139112" y="0"/>
                </a:lnTo>
                <a:lnTo>
                  <a:pt x="7139112" y="8541230"/>
                </a:lnTo>
                <a:lnTo>
                  <a:pt x="0" y="8541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90576" r="-1029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9770781" y="-200175"/>
            <a:ext cx="7088469" cy="13622034"/>
          </a:xfrm>
          <a:custGeom>
            <a:avLst/>
            <a:gdLst/>
            <a:ahLst/>
            <a:cxnLst/>
            <a:rect l="l" t="t" r="r" b="b"/>
            <a:pathLst>
              <a:path w="8401149" h="16144633">
                <a:moveTo>
                  <a:pt x="0" y="0"/>
                </a:moveTo>
                <a:lnTo>
                  <a:pt x="8401149" y="0"/>
                </a:lnTo>
                <a:lnTo>
                  <a:pt x="8401149" y="16144633"/>
                </a:lnTo>
                <a:lnTo>
                  <a:pt x="0" y="161446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3124069" y="-2704980"/>
            <a:ext cx="7088469" cy="13622034"/>
          </a:xfrm>
          <a:custGeom>
            <a:avLst/>
            <a:gdLst/>
            <a:ahLst/>
            <a:cxnLst/>
            <a:rect l="l" t="t" r="r" b="b"/>
            <a:pathLst>
              <a:path w="8401149" h="16144633">
                <a:moveTo>
                  <a:pt x="8401149" y="0"/>
                </a:moveTo>
                <a:lnTo>
                  <a:pt x="0" y="0"/>
                </a:lnTo>
                <a:lnTo>
                  <a:pt x="0" y="16144632"/>
                </a:lnTo>
                <a:lnTo>
                  <a:pt x="8401149" y="16144632"/>
                </a:lnTo>
                <a:lnTo>
                  <a:pt x="8401149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1"/>
          <p:cNvSpPr/>
          <p:nvPr>
            <p:custDataLst>
              <p:tags r:id="rId2"/>
            </p:custDataLst>
          </p:nvPr>
        </p:nvSpPr>
        <p:spPr>
          <a:xfrm rot="-3552420">
            <a:off x="-1197988" y="6887754"/>
            <a:ext cx="7139112" cy="8541230"/>
          </a:xfrm>
          <a:custGeom>
            <a:avLst/>
            <a:gdLst/>
            <a:ahLst/>
            <a:cxnLst/>
            <a:rect l="l" t="t" r="r" b="b"/>
            <a:pathLst>
              <a:path w="7139112" h="8541230">
                <a:moveTo>
                  <a:pt x="0" y="0"/>
                </a:moveTo>
                <a:lnTo>
                  <a:pt x="7139112" y="0"/>
                </a:lnTo>
                <a:lnTo>
                  <a:pt x="7139112" y="8541230"/>
                </a:lnTo>
                <a:lnTo>
                  <a:pt x="0" y="8541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90576" r="-1029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779115" y="418975"/>
            <a:ext cx="2022234" cy="2000173"/>
          </a:xfrm>
          <a:custGeom>
            <a:avLst/>
            <a:gdLst/>
            <a:ahLst/>
            <a:cxnLst/>
            <a:rect l="l" t="t" r="r" b="b"/>
            <a:pathLst>
              <a:path w="2396722" h="2370575">
                <a:moveTo>
                  <a:pt x="0" y="0"/>
                </a:moveTo>
                <a:lnTo>
                  <a:pt x="2396722" y="0"/>
                </a:lnTo>
                <a:lnTo>
                  <a:pt x="2396722" y="2370575"/>
                </a:lnTo>
                <a:lnTo>
                  <a:pt x="0" y="2370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838200" y="7810577"/>
            <a:ext cx="2022234" cy="2000173"/>
          </a:xfrm>
          <a:custGeom>
            <a:avLst/>
            <a:gdLst/>
            <a:ahLst/>
            <a:cxnLst/>
            <a:rect l="l" t="t" r="r" b="b"/>
            <a:pathLst>
              <a:path w="2396722" h="2370575">
                <a:moveTo>
                  <a:pt x="2396722" y="2370575"/>
                </a:moveTo>
                <a:lnTo>
                  <a:pt x="0" y="2370575"/>
                </a:lnTo>
                <a:lnTo>
                  <a:pt x="0" y="0"/>
                </a:lnTo>
                <a:lnTo>
                  <a:pt x="2396722" y="0"/>
                </a:lnTo>
                <a:lnTo>
                  <a:pt x="2396722" y="237057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473710" y="4562475"/>
            <a:ext cx="12176125" cy="3538855"/>
            <a:chOff x="746" y="7185"/>
            <a:chExt cx="19175" cy="5573"/>
          </a:xfrm>
        </p:grpSpPr>
        <p:sp>
          <p:nvSpPr>
            <p:cNvPr id="4" name="Freeform 4"/>
            <p:cNvSpPr/>
            <p:nvPr/>
          </p:nvSpPr>
          <p:spPr>
            <a:xfrm>
              <a:off x="746" y="7185"/>
              <a:ext cx="19175" cy="5573"/>
            </a:xfrm>
            <a:custGeom>
              <a:avLst/>
              <a:gdLst/>
              <a:ahLst/>
              <a:cxnLst/>
              <a:rect l="l" t="t" r="r" b="b"/>
              <a:pathLst>
                <a:path w="5463368" h="2492504">
                  <a:moveTo>
                    <a:pt x="0" y="0"/>
                  </a:moveTo>
                  <a:lnTo>
                    <a:pt x="5463369" y="0"/>
                  </a:lnTo>
                  <a:lnTo>
                    <a:pt x="5463369" y="2492504"/>
                  </a:lnTo>
                  <a:lnTo>
                    <a:pt x="0" y="249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00" y="7980"/>
              <a:ext cx="18218" cy="40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lang="vi-VN" sz="4800" b="1" dirty="0"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charset="0"/>
                  <a:cs typeface="Times New Roman" panose="02020603050405020304" charset="0"/>
                </a:rPr>
                <a:t>THIẾT KẾ MỘT SỐ BÀI DẠY GIÁO </a:t>
              </a:r>
            </a:p>
            <a:p>
              <a:pPr algn="ctr">
                <a:lnSpc>
                  <a:spcPct val="140000"/>
                </a:lnSpc>
              </a:pPr>
              <a:r>
                <a:rPr lang="vi-VN" sz="4800" b="1" dirty="0"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charset="0"/>
                  <a:cs typeface="Times New Roman" panose="02020603050405020304" charset="0"/>
                </a:rPr>
                <a:t>DỤC STEM VỀ HÌNH HỌC LỚP 3</a:t>
              </a:r>
              <a:endParaRPr lang="en-US" sz="48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2569825" y="2726055"/>
            <a:ext cx="5795010" cy="6804660"/>
            <a:chOff x="19675" y="5253"/>
            <a:chExt cx="9514" cy="11287"/>
          </a:xfrm>
        </p:grpSpPr>
        <p:sp>
          <p:nvSpPr>
            <p:cNvPr id="9" name="Freeform 9"/>
            <p:cNvSpPr/>
            <p:nvPr/>
          </p:nvSpPr>
          <p:spPr>
            <a:xfrm>
              <a:off x="20363" y="5253"/>
              <a:ext cx="8827" cy="10947"/>
            </a:xfrm>
            <a:custGeom>
              <a:avLst/>
              <a:gdLst/>
              <a:ahLst/>
              <a:cxnLst/>
              <a:rect l="l" t="t" r="r" b="b"/>
              <a:pathLst>
                <a:path w="6643260" h="8238835">
                  <a:moveTo>
                    <a:pt x="0" y="0"/>
                  </a:moveTo>
                  <a:lnTo>
                    <a:pt x="6643260" y="0"/>
                  </a:lnTo>
                  <a:lnTo>
                    <a:pt x="6643260" y="8238835"/>
                  </a:lnTo>
                  <a:lnTo>
                    <a:pt x="0" y="8238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0" b="99632" l="0" r="100000">
                          <a14:foregroundMark x1="6295" y1="6748" x2="84979" y2="85767"/>
                          <a14:foregroundMark x1="26753" y1="97791" x2="95994" y2="24540"/>
                          <a14:foregroundMark x1="82833" y1="7485" x2="13019" y2="80245"/>
                          <a14:foregroundMark x1="1288" y1="49939" x2="63376" y2="95215"/>
                          <a14:foregroundMark x1="61803" y1="94724" x2="13019" y2="84540"/>
                          <a14:foregroundMark x1="19456" y1="88957" x2="5866" y2="63558"/>
                          <a14:foregroundMark x1="39056" y1="20368" x2="8441" y2="33742"/>
                          <a14:foregroundMark x1="17883" y1="15092" x2="10157" y2="27975"/>
                          <a14:foregroundMark x1="9871" y1="22699" x2="90558" y2="16564"/>
                          <a14:foregroundMark x1="89986" y1="16564" x2="12303" y2="22454"/>
                          <a14:foregroundMark x1="8727" y1="33497" x2="2718" y2="61718"/>
                          <a14:foregroundMark x1="1860" y1="62454" x2="74678" y2="78896"/>
                          <a14:foregroundMark x1="74678" y1="78896" x2="62375" y2="86258"/>
                          <a14:foregroundMark x1="51359" y1="83681" x2="90415" y2="65031"/>
                          <a14:foregroundMark x1="66953" y1="75215" x2="98140" y2="39018"/>
                          <a14:foregroundMark x1="73677" y1="5890" x2="97854" y2="30552"/>
                          <a14:foregroundMark x1="19027" y1="13006" x2="89986" y2="14969"/>
                          <a14:foregroundMark x1="86838" y1="11534" x2="33476" y2="3926"/>
                          <a14:foregroundMark x1="56652" y1="736" x2="60515" y2="1227"/>
                          <a14:foregroundMark x1="61087" y1="1227" x2="98856" y2="35092"/>
                          <a14:foregroundMark x1="83119" y1="81718" x2="98283" y2="43926"/>
                          <a14:foregroundMark x1="95994" y1="56810" x2="73677" y2="3558"/>
                          <a14:foregroundMark x1="66953" y1="1963" x2="98283" y2="32883"/>
                          <a14:foregroundMark x1="97425" y1="32025" x2="94134" y2="21350"/>
                          <a14:foregroundMark x1="93848" y1="20982" x2="98856" y2="33620"/>
                          <a14:foregroundMark x1="98999" y1="32638" x2="64950" y2="1472"/>
                          <a14:foregroundMark x1="64950" y1="1472" x2="89127" y2="12883"/>
                          <a14:foregroundMark x1="93276" y1="20736" x2="69099" y2="2577"/>
                          <a14:foregroundMark x1="77539" y1="5399" x2="92275" y2="18282"/>
                          <a14:foregroundMark x1="92275" y1="18037" x2="38054" y2="12025"/>
                          <a14:foregroundMark x1="45207" y1="35215" x2="42203" y2="43681"/>
                          <a14:foregroundMark x1="62375" y1="35337" x2="69242" y2="38650"/>
                          <a14:backgroundMark x1="47210" y1="35828" x2="65379" y2="46626"/>
                          <a14:backgroundMark x1="65522" y1="47239" x2="48784" y2="37914"/>
                          <a14:backgroundMark x1="48069" y1="38282" x2="51788" y2="45153"/>
                          <a14:backgroundMark x1="58655" y1="44294" x2="50072" y2="39632"/>
                          <a14:backgroundMark x1="48212" y1="36687" x2="62947" y2="40368"/>
                          <a14:backgroundMark x1="50215" y1="33497" x2="52361" y2="43558"/>
                          <a14:backgroundMark x1="46924" y1="41595" x2="66094" y2="43558"/>
                          <a14:backgroundMark x1="66094" y1="43558" x2="48212" y2="42699"/>
                          <a14:backgroundMark x1="52217" y1="45521" x2="48784" y2="39632"/>
                          <a14:backgroundMark x1="45923" y1="37055" x2="61373" y2="37055"/>
                          <a14:backgroundMark x1="49213" y1="33988" x2="51502" y2="42331"/>
                          <a14:backgroundMark x1="48355" y1="41718" x2="65236" y2="43926"/>
                          <a14:backgroundMark x1="60944" y1="42699" x2="46352" y2="39755"/>
                          <a14:backgroundMark x1="46924" y1="35215" x2="51788" y2="39755"/>
                          <a14:backgroundMark x1="50644" y1="39755" x2="65522" y2="40123"/>
                          <a14:backgroundMark x1="65236" y1="40368" x2="45780" y2="42454"/>
                          <a14:backgroundMark x1="54649" y1="42331" x2="49213" y2="41104"/>
                          <a14:backgroundMark x1="48927" y1="40736" x2="62518" y2="4282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75" y="5940"/>
              <a:ext cx="8383" cy="10601"/>
            </a:xfrm>
            <a:prstGeom prst="rect">
              <a:avLst/>
            </a:prstGeom>
          </p:spPr>
        </p:pic>
      </p:grpSp>
      <p:sp>
        <p:nvSpPr>
          <p:cNvPr id="28" name="TextBox 28"/>
          <p:cNvSpPr txBox="1"/>
          <p:nvPr>
            <p:custDataLst>
              <p:tags r:id="rId3"/>
            </p:custDataLst>
          </p:nvPr>
        </p:nvSpPr>
        <p:spPr>
          <a:xfrm>
            <a:off x="1876425" y="735965"/>
            <a:ext cx="3244850" cy="394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ĐẠI HỌC QUY NHƠN</a:t>
            </a:r>
          </a:p>
        </p:txBody>
      </p:sp>
      <p:pic>
        <p:nvPicPr>
          <p:cNvPr id="36" name="Picture 3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571500"/>
            <a:ext cx="734060" cy="733425"/>
          </a:xfrm>
          <a:prstGeom prst="rect">
            <a:avLst/>
          </a:prstGeom>
        </p:spPr>
      </p:pic>
      <p:sp>
        <p:nvSpPr>
          <p:cNvPr id="16" name="TextBox 28"/>
          <p:cNvSpPr txBox="1"/>
          <p:nvPr/>
        </p:nvSpPr>
        <p:spPr>
          <a:xfrm>
            <a:off x="3429000" y="4076700"/>
            <a:ext cx="6048375" cy="5353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66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CHƯƠNG 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reeform 10"/>
          <p:cNvSpPr/>
          <p:nvPr>
            <p:custDataLst>
              <p:tags r:id="rId1"/>
            </p:custDataLst>
          </p:nvPr>
        </p:nvSpPr>
        <p:spPr>
          <a:xfrm flipH="1">
            <a:off x="13030200" y="7658100"/>
            <a:ext cx="7001510" cy="4114800"/>
          </a:xfrm>
          <a:custGeom>
            <a:avLst/>
            <a:gdLst/>
            <a:ahLst/>
            <a:cxnLst/>
            <a:rect l="l" t="t" r="r" b="b"/>
            <a:pathLst>
              <a:path w="5863057" h="4114800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3" name="Freeform 2"/>
          <p:cNvSpPr/>
          <p:nvPr>
            <p:custDataLst>
              <p:tags r:id="rId2"/>
            </p:custDataLst>
          </p:nvPr>
        </p:nvSpPr>
        <p:spPr>
          <a:xfrm>
            <a:off x="7204710" y="4639310"/>
            <a:ext cx="4110355" cy="3768725"/>
          </a:xfrm>
          <a:custGeom>
            <a:avLst/>
            <a:gdLst/>
            <a:ahLst/>
            <a:cxnLst/>
            <a:rect l="l" t="t" r="r" b="b"/>
            <a:pathLst>
              <a:path w="3704826" h="3759510">
                <a:moveTo>
                  <a:pt x="0" y="0"/>
                </a:moveTo>
                <a:lnTo>
                  <a:pt x="3704826" y="0"/>
                </a:lnTo>
                <a:lnTo>
                  <a:pt x="3704826" y="3759510"/>
                </a:lnTo>
                <a:lnTo>
                  <a:pt x="0" y="3759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5486400" y="-419100"/>
            <a:ext cx="12801600" cy="1905000"/>
            <a:chOff x="9120" y="-660"/>
            <a:chExt cx="20160" cy="3000"/>
          </a:xfrm>
        </p:grpSpPr>
        <p:cxnSp>
          <p:nvCxnSpPr>
            <p:cNvPr id="4" name="Google Shape;117;p3"/>
            <p:cNvCxnSpPr/>
            <p:nvPr>
              <p:custDataLst>
                <p:tags r:id="rId39"/>
              </p:custDataLst>
            </p:nvPr>
          </p:nvCxnSpPr>
          <p:spPr>
            <a:xfrm>
              <a:off x="9120" y="222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" name="Google Shape;117;p3"/>
            <p:cNvCxnSpPr/>
            <p:nvPr>
              <p:custDataLst>
                <p:tags r:id="rId40"/>
              </p:custDataLst>
            </p:nvPr>
          </p:nvCxnSpPr>
          <p:spPr>
            <a:xfrm flipV="1">
              <a:off x="912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9" name="Text Box 68"/>
          <p:cNvSpPr txBox="1"/>
          <p:nvPr>
            <p:custDataLst>
              <p:tags r:id="rId3"/>
            </p:custDataLst>
          </p:nvPr>
        </p:nvSpPr>
        <p:spPr>
          <a:xfrm>
            <a:off x="9579610" y="2667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endParaRPr lang="en-US" sz="7200" b="1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28600" y="114935"/>
            <a:ext cx="5485765" cy="1286510"/>
            <a:chOff x="27600" y="432"/>
            <a:chExt cx="8639" cy="2026"/>
          </a:xfrm>
        </p:grpSpPr>
        <p:sp>
          <p:nvSpPr>
            <p:cNvPr id="18" name="Freeform 61"/>
            <p:cNvSpPr/>
            <p:nvPr>
              <p:custDataLst>
                <p:tags r:id="rId37"/>
              </p:custDataLst>
            </p:nvPr>
          </p:nvSpPr>
          <p:spPr>
            <a:xfrm rot="10800000">
              <a:off x="27600" y="432"/>
              <a:ext cx="8639" cy="2026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 Box 18"/>
            <p:cNvSpPr txBox="1"/>
            <p:nvPr>
              <p:custDataLst>
                <p:tags r:id="rId38"/>
              </p:custDataLst>
            </p:nvPr>
          </p:nvSpPr>
          <p:spPr>
            <a:xfrm>
              <a:off x="27960" y="67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20" name="Picture 1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4" cstate="print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65" y="200025"/>
            <a:ext cx="1133475" cy="11334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457371" y="3055695"/>
            <a:ext cx="9249228" cy="7994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266700">
              <a:lnSpc>
                <a:spcPct val="114000"/>
              </a:lnSpc>
              <a:spcAft>
                <a:spcPct val="0"/>
              </a:spcAft>
            </a:pPr>
            <a:r>
              <a:rPr lang="vi-VN" sz="4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/>
                <a:ea typeface="SimSun" panose="02010600030101010101" pitchFamily="2" charset="-122"/>
              </a:rPr>
              <a:t>2.1.1 NGUYÊN TẮC THIẾT KẾ</a:t>
            </a:r>
            <a:endParaRPr lang="en-US" sz="4500" b="1" dirty="0">
              <a:solidFill>
                <a:schemeClr val="accent1">
                  <a:lumMod val="75000"/>
                </a:schemeClr>
              </a:solidFill>
              <a:latin typeface="Times New Roman" panose="02020603050405020304"/>
              <a:ea typeface="SimSun" panose="02010600030101010101" pitchFamily="2" charset="-122"/>
            </a:endParaRPr>
          </a:p>
        </p:txBody>
      </p:sp>
      <p:grpSp>
        <p:nvGrpSpPr>
          <p:cNvPr id="143" name="Group 142"/>
          <p:cNvGrpSpPr/>
          <p:nvPr/>
        </p:nvGrpSpPr>
        <p:grpSpPr>
          <a:xfrm>
            <a:off x="-9906000" y="1548130"/>
            <a:ext cx="7138670" cy="880110"/>
            <a:chOff x="1680" y="2918"/>
            <a:chExt cx="11242" cy="1386"/>
          </a:xfrm>
        </p:grpSpPr>
        <p:sp>
          <p:nvSpPr>
            <p:cNvPr id="144" name="Freeform 13"/>
            <p:cNvSpPr/>
            <p:nvPr>
              <p:custDataLst>
                <p:tags r:id="rId35"/>
              </p:custDataLst>
            </p:nvPr>
          </p:nvSpPr>
          <p:spPr>
            <a:xfrm>
              <a:off x="1680" y="3180"/>
              <a:ext cx="1085" cy="853"/>
            </a:xfrm>
            <a:custGeom>
              <a:avLst/>
              <a:gdLst/>
              <a:ahLst/>
              <a:cxnLst/>
              <a:rect l="l" t="t" r="r" b="b"/>
              <a:pathLst>
                <a:path w="919202" h="745910">
                  <a:moveTo>
                    <a:pt x="0" y="0"/>
                  </a:moveTo>
                  <a:lnTo>
                    <a:pt x="919201" y="0"/>
                  </a:lnTo>
                  <a:lnTo>
                    <a:pt x="919201" y="745910"/>
                  </a:lnTo>
                  <a:lnTo>
                    <a:pt x="0" y="74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Text Box 144"/>
            <p:cNvSpPr txBox="1"/>
            <p:nvPr>
              <p:custDataLst>
                <p:tags r:id="rId36"/>
              </p:custDataLst>
            </p:nvPr>
          </p:nvSpPr>
          <p:spPr>
            <a:xfrm>
              <a:off x="2960" y="2918"/>
              <a:ext cx="9962" cy="138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defTabSz="266700">
                <a:lnSpc>
                  <a:spcPct val="114000"/>
                </a:lnSpc>
                <a:spcAft>
                  <a:spcPct val="0"/>
                </a:spcAft>
              </a:pPr>
              <a:r>
                <a:rPr lang="en-US" sz="4000">
                  <a:latin typeface="Times New Roman" panose="02020603050405020304"/>
                  <a:ea typeface="SimSun" panose="02010600030101010101" pitchFamily="2" charset="-122"/>
                </a:rPr>
                <a:t>3.1. Mục đích thực nghiệm</a:t>
              </a:r>
            </a:p>
          </p:txBody>
        </p:sp>
      </p:grpSp>
      <p:cxnSp>
        <p:nvCxnSpPr>
          <p:cNvPr id="146" name="Google Shape;117;p3"/>
          <p:cNvCxnSpPr/>
          <p:nvPr>
            <p:custDataLst>
              <p:tags r:id="rId5"/>
            </p:custDataLst>
          </p:nvPr>
        </p:nvCxnSpPr>
        <p:spPr>
          <a:xfrm>
            <a:off x="-9525000" y="1866900"/>
            <a:ext cx="0" cy="4800600"/>
          </a:xfrm>
          <a:prstGeom prst="straightConnector1">
            <a:avLst/>
          </a:prstGeom>
          <a:noFill/>
          <a:ln w="38100" cap="flat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50" name="Group 149"/>
          <p:cNvGrpSpPr/>
          <p:nvPr/>
        </p:nvGrpSpPr>
        <p:grpSpPr>
          <a:xfrm>
            <a:off x="-9753600" y="3693795"/>
            <a:ext cx="7366000" cy="792480"/>
            <a:chOff x="1640" y="6728"/>
            <a:chExt cx="11600" cy="1248"/>
          </a:xfrm>
        </p:grpSpPr>
        <p:sp>
          <p:nvSpPr>
            <p:cNvPr id="151" name="Freeform 13"/>
            <p:cNvSpPr/>
            <p:nvPr>
              <p:custDataLst>
                <p:tags r:id="rId33"/>
              </p:custDataLst>
            </p:nvPr>
          </p:nvSpPr>
          <p:spPr>
            <a:xfrm>
              <a:off x="1640" y="6860"/>
              <a:ext cx="1085" cy="853"/>
            </a:xfrm>
            <a:custGeom>
              <a:avLst/>
              <a:gdLst/>
              <a:ahLst/>
              <a:cxnLst/>
              <a:rect l="l" t="t" r="r" b="b"/>
              <a:pathLst>
                <a:path w="919202" h="745910">
                  <a:moveTo>
                    <a:pt x="0" y="0"/>
                  </a:moveTo>
                  <a:lnTo>
                    <a:pt x="919201" y="0"/>
                  </a:lnTo>
                  <a:lnTo>
                    <a:pt x="919201" y="745910"/>
                  </a:lnTo>
                  <a:lnTo>
                    <a:pt x="0" y="74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Text Box 151"/>
            <p:cNvSpPr txBox="1"/>
            <p:nvPr>
              <p:custDataLst>
                <p:tags r:id="rId34"/>
              </p:custDataLst>
            </p:nvPr>
          </p:nvSpPr>
          <p:spPr>
            <a:xfrm>
              <a:off x="2840" y="6728"/>
              <a:ext cx="10400" cy="12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66700">
                <a:lnSpc>
                  <a:spcPct val="114000"/>
                </a:lnSpc>
                <a:spcAft>
                  <a:spcPct val="0"/>
                </a:spcAft>
              </a:pPr>
              <a:r>
                <a:rPr sz="4000">
                  <a:latin typeface="Times New Roman" panose="02020603050405020304"/>
                  <a:ea typeface="SimSun" panose="02010600030101010101" pitchFamily="2" charset="-122"/>
                </a:rPr>
                <a:t>3.3. Nội dung thực nghiệm</a:t>
              </a:r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-9754235" y="5028565"/>
            <a:ext cx="9420860" cy="792480"/>
            <a:chOff x="1640" y="6728"/>
            <a:chExt cx="14883" cy="1305"/>
          </a:xfrm>
        </p:grpSpPr>
        <p:sp>
          <p:nvSpPr>
            <p:cNvPr id="154" name="Freeform 13"/>
            <p:cNvSpPr/>
            <p:nvPr>
              <p:custDataLst>
                <p:tags r:id="rId31"/>
              </p:custDataLst>
            </p:nvPr>
          </p:nvSpPr>
          <p:spPr>
            <a:xfrm>
              <a:off x="1640" y="6860"/>
              <a:ext cx="1085" cy="853"/>
            </a:xfrm>
            <a:custGeom>
              <a:avLst/>
              <a:gdLst/>
              <a:ahLst/>
              <a:cxnLst/>
              <a:rect l="l" t="t" r="r" b="b"/>
              <a:pathLst>
                <a:path w="919202" h="745910">
                  <a:moveTo>
                    <a:pt x="0" y="0"/>
                  </a:moveTo>
                  <a:lnTo>
                    <a:pt x="919201" y="0"/>
                  </a:lnTo>
                  <a:lnTo>
                    <a:pt x="919201" y="745910"/>
                  </a:lnTo>
                  <a:lnTo>
                    <a:pt x="0" y="74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Text Box 154"/>
            <p:cNvSpPr txBox="1"/>
            <p:nvPr>
              <p:custDataLst>
                <p:tags r:id="rId32"/>
              </p:custDataLst>
            </p:nvPr>
          </p:nvSpPr>
          <p:spPr>
            <a:xfrm>
              <a:off x="2840" y="6728"/>
              <a:ext cx="13683" cy="13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66700">
                <a:lnSpc>
                  <a:spcPct val="114000"/>
                </a:lnSpc>
                <a:spcAft>
                  <a:spcPct val="0"/>
                </a:spcAft>
              </a:pPr>
              <a:r>
                <a:rPr sz="4000">
                  <a:latin typeface="Times New Roman" panose="02020603050405020304"/>
                  <a:ea typeface="SimSun" panose="02010600030101010101" pitchFamily="2" charset="-122"/>
                </a:rPr>
                <a:t>3.4. Các tiêu chí đánh giá thực nghiệm</a:t>
              </a:r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-9779000" y="2748280"/>
            <a:ext cx="6744335" cy="792480"/>
            <a:chOff x="1640" y="6728"/>
            <a:chExt cx="10621" cy="1248"/>
          </a:xfrm>
        </p:grpSpPr>
        <p:sp>
          <p:nvSpPr>
            <p:cNvPr id="157" name="Freeform 13"/>
            <p:cNvSpPr/>
            <p:nvPr>
              <p:custDataLst>
                <p:tags r:id="rId29"/>
              </p:custDataLst>
            </p:nvPr>
          </p:nvSpPr>
          <p:spPr>
            <a:xfrm>
              <a:off x="1640" y="6860"/>
              <a:ext cx="1085" cy="853"/>
            </a:xfrm>
            <a:custGeom>
              <a:avLst/>
              <a:gdLst/>
              <a:ahLst/>
              <a:cxnLst/>
              <a:rect l="l" t="t" r="r" b="b"/>
              <a:pathLst>
                <a:path w="919202" h="745910">
                  <a:moveTo>
                    <a:pt x="0" y="0"/>
                  </a:moveTo>
                  <a:lnTo>
                    <a:pt x="919201" y="0"/>
                  </a:lnTo>
                  <a:lnTo>
                    <a:pt x="919201" y="745910"/>
                  </a:lnTo>
                  <a:lnTo>
                    <a:pt x="0" y="74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Text Box 157"/>
            <p:cNvSpPr txBox="1"/>
            <p:nvPr>
              <p:custDataLst>
                <p:tags r:id="rId30"/>
              </p:custDataLst>
            </p:nvPr>
          </p:nvSpPr>
          <p:spPr>
            <a:xfrm>
              <a:off x="2840" y="6728"/>
              <a:ext cx="9421" cy="12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66700">
                <a:lnSpc>
                  <a:spcPct val="114000"/>
                </a:lnSpc>
                <a:spcAft>
                  <a:spcPct val="0"/>
                </a:spcAft>
              </a:pPr>
              <a:r>
                <a:rPr sz="4000">
                  <a:latin typeface="Times New Roman" panose="02020603050405020304"/>
                  <a:ea typeface="SimSun" panose="02010600030101010101" pitchFamily="2" charset="-122"/>
                </a:rPr>
                <a:t>3.2. Giả thiết thực nghiệm</a:t>
              </a:r>
            </a:p>
          </p:txBody>
        </p:sp>
      </p:grpSp>
      <p:grpSp>
        <p:nvGrpSpPr>
          <p:cNvPr id="174" name="Group 173"/>
          <p:cNvGrpSpPr/>
          <p:nvPr/>
        </p:nvGrpSpPr>
        <p:grpSpPr>
          <a:xfrm>
            <a:off x="461010" y="4027805"/>
            <a:ext cx="8588375" cy="2465070"/>
            <a:chOff x="726" y="5541"/>
            <a:chExt cx="13525" cy="3882"/>
          </a:xfrm>
        </p:grpSpPr>
        <p:sp>
          <p:nvSpPr>
            <p:cNvPr id="52" name="Freeform 20"/>
            <p:cNvSpPr/>
            <p:nvPr>
              <p:custDataLst>
                <p:tags r:id="rId23"/>
              </p:custDataLst>
            </p:nvPr>
          </p:nvSpPr>
          <p:spPr>
            <a:xfrm flipH="1">
              <a:off x="10499" y="5978"/>
              <a:ext cx="3752" cy="3445"/>
            </a:xfrm>
            <a:custGeom>
              <a:avLst/>
              <a:gdLst/>
              <a:ahLst/>
              <a:cxnLst/>
              <a:rect l="l" t="t" r="r" b="b"/>
              <a:pathLst>
                <a:path w="2382415" h="2187490">
                  <a:moveTo>
                    <a:pt x="2382415" y="0"/>
                  </a:moveTo>
                  <a:lnTo>
                    <a:pt x="0" y="0"/>
                  </a:lnTo>
                  <a:lnTo>
                    <a:pt x="0" y="2187490"/>
                  </a:lnTo>
                  <a:lnTo>
                    <a:pt x="2382415" y="2187490"/>
                  </a:lnTo>
                  <a:lnTo>
                    <a:pt x="238241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9" name="Group 118"/>
            <p:cNvGrpSpPr/>
            <p:nvPr/>
          </p:nvGrpSpPr>
          <p:grpSpPr>
            <a:xfrm>
              <a:off x="726" y="5541"/>
              <a:ext cx="9621" cy="3401"/>
              <a:chOff x="-977" y="5059"/>
              <a:chExt cx="11200" cy="4181"/>
            </a:xfrm>
          </p:grpSpPr>
          <p:grpSp>
            <p:nvGrpSpPr>
              <p:cNvPr id="108" name="Group 6"/>
              <p:cNvGrpSpPr/>
              <p:nvPr/>
            </p:nvGrpSpPr>
            <p:grpSpPr>
              <a:xfrm>
                <a:off x="-977" y="5059"/>
                <a:ext cx="10972" cy="3954"/>
                <a:chOff x="0" y="0"/>
                <a:chExt cx="1933666" cy="696897"/>
              </a:xfrm>
            </p:grpSpPr>
            <p:sp>
              <p:nvSpPr>
                <p:cNvPr id="109" name="Freeform 7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0" y="0"/>
                  <a:ext cx="1933666" cy="696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666" h="696897">
                      <a:moveTo>
                        <a:pt x="37780" y="0"/>
                      </a:moveTo>
                      <a:lnTo>
                        <a:pt x="1895886" y="0"/>
                      </a:lnTo>
                      <a:cubicBezTo>
                        <a:pt x="1916751" y="0"/>
                        <a:pt x="1933666" y="16915"/>
                        <a:pt x="1933666" y="37780"/>
                      </a:cubicBezTo>
                      <a:lnTo>
                        <a:pt x="1933666" y="659117"/>
                      </a:lnTo>
                      <a:cubicBezTo>
                        <a:pt x="1933666" y="669137"/>
                        <a:pt x="1929685" y="678747"/>
                        <a:pt x="1922600" y="685832"/>
                      </a:cubicBezTo>
                      <a:cubicBezTo>
                        <a:pt x="1915515" y="692917"/>
                        <a:pt x="1905906" y="696897"/>
                        <a:pt x="1895886" y="696897"/>
                      </a:cubicBezTo>
                      <a:lnTo>
                        <a:pt x="37780" y="696897"/>
                      </a:lnTo>
                      <a:cubicBezTo>
                        <a:pt x="16915" y="696897"/>
                        <a:pt x="0" y="679983"/>
                        <a:pt x="0" y="659117"/>
                      </a:cubicBezTo>
                      <a:lnTo>
                        <a:pt x="0" y="37780"/>
                      </a:lnTo>
                      <a:cubicBezTo>
                        <a:pt x="0" y="27760"/>
                        <a:pt x="3980" y="18151"/>
                        <a:pt x="11065" y="11065"/>
                      </a:cubicBezTo>
                      <a:cubicBezTo>
                        <a:pt x="18151" y="3980"/>
                        <a:pt x="27760" y="0"/>
                        <a:pt x="37780" y="0"/>
                      </a:cubicBezTo>
                      <a:close/>
                    </a:path>
                  </a:pathLst>
                </a:custGeom>
                <a:solidFill>
                  <a:srgbClr val="8EE5F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TextBox 8"/>
                <p:cNvSpPr txBox="1"/>
                <p:nvPr>
                  <p:custDataLst>
                    <p:tags r:id="rId28"/>
                  </p:custDataLst>
                </p:nvPr>
              </p:nvSpPr>
              <p:spPr>
                <a:xfrm>
                  <a:off x="0" y="-28575"/>
                  <a:ext cx="1933666" cy="725472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/>
                </a:p>
              </p:txBody>
            </p:sp>
          </p:grpSp>
          <p:grpSp>
            <p:nvGrpSpPr>
              <p:cNvPr id="111" name="Group 9"/>
              <p:cNvGrpSpPr/>
              <p:nvPr/>
            </p:nvGrpSpPr>
            <p:grpSpPr>
              <a:xfrm>
                <a:off x="-749" y="5286"/>
                <a:ext cx="10972" cy="3954"/>
                <a:chOff x="0" y="0"/>
                <a:chExt cx="1933666" cy="696897"/>
              </a:xfrm>
            </p:grpSpPr>
            <p:sp>
              <p:nvSpPr>
                <p:cNvPr id="112" name="Freeform 10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0" y="0"/>
                  <a:ext cx="1933666" cy="696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666" h="696897">
                      <a:moveTo>
                        <a:pt x="37780" y="0"/>
                      </a:moveTo>
                      <a:lnTo>
                        <a:pt x="1895886" y="0"/>
                      </a:lnTo>
                      <a:cubicBezTo>
                        <a:pt x="1916751" y="0"/>
                        <a:pt x="1933666" y="16915"/>
                        <a:pt x="1933666" y="37780"/>
                      </a:cubicBezTo>
                      <a:lnTo>
                        <a:pt x="1933666" y="659117"/>
                      </a:lnTo>
                      <a:cubicBezTo>
                        <a:pt x="1933666" y="669137"/>
                        <a:pt x="1929685" y="678747"/>
                        <a:pt x="1922600" y="685832"/>
                      </a:cubicBezTo>
                      <a:cubicBezTo>
                        <a:pt x="1915515" y="692917"/>
                        <a:pt x="1905906" y="696897"/>
                        <a:pt x="1895886" y="696897"/>
                      </a:cubicBezTo>
                      <a:lnTo>
                        <a:pt x="37780" y="696897"/>
                      </a:lnTo>
                      <a:cubicBezTo>
                        <a:pt x="16915" y="696897"/>
                        <a:pt x="0" y="679983"/>
                        <a:pt x="0" y="659117"/>
                      </a:cubicBezTo>
                      <a:lnTo>
                        <a:pt x="0" y="37780"/>
                      </a:lnTo>
                      <a:cubicBezTo>
                        <a:pt x="0" y="27760"/>
                        <a:pt x="3980" y="18151"/>
                        <a:pt x="11065" y="11065"/>
                      </a:cubicBezTo>
                      <a:cubicBezTo>
                        <a:pt x="18151" y="3980"/>
                        <a:pt x="27760" y="0"/>
                        <a:pt x="3778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rnd">
                  <a:solidFill>
                    <a:srgbClr val="03459D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" name="TextBox 11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0" y="-28575"/>
                  <a:ext cx="1933666" cy="725472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/>
                </a:p>
              </p:txBody>
            </p:sp>
          </p:grpSp>
          <p:sp>
            <p:nvSpPr>
              <p:cNvPr id="118" name="TextBox 49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-644" y="5411"/>
                <a:ext cx="10480" cy="71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ct val="100000"/>
                  </a:lnSpc>
                </a:pPr>
                <a:endParaRPr lang="en-US" sz="2400">
                  <a:solidFill>
                    <a:srgbClr val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  <p:grpSp>
        <p:nvGrpSpPr>
          <p:cNvPr id="175" name="Group 174"/>
          <p:cNvGrpSpPr/>
          <p:nvPr/>
        </p:nvGrpSpPr>
        <p:grpSpPr>
          <a:xfrm>
            <a:off x="460375" y="6678295"/>
            <a:ext cx="8589010" cy="2826385"/>
            <a:chOff x="725" y="9715"/>
            <a:chExt cx="13526" cy="4451"/>
          </a:xfrm>
        </p:grpSpPr>
        <p:sp>
          <p:nvSpPr>
            <p:cNvPr id="53" name="Freeform 21"/>
            <p:cNvSpPr/>
            <p:nvPr>
              <p:custDataLst>
                <p:tags r:id="rId18"/>
              </p:custDataLst>
            </p:nvPr>
          </p:nvSpPr>
          <p:spPr>
            <a:xfrm flipH="1" flipV="1">
              <a:off x="10499" y="9715"/>
              <a:ext cx="3752" cy="3445"/>
            </a:xfrm>
            <a:custGeom>
              <a:avLst/>
              <a:gdLst/>
              <a:ahLst/>
              <a:cxnLst/>
              <a:rect l="l" t="t" r="r" b="b"/>
              <a:pathLst>
                <a:path w="2382415" h="2187490">
                  <a:moveTo>
                    <a:pt x="2382415" y="2187490"/>
                  </a:moveTo>
                  <a:lnTo>
                    <a:pt x="0" y="2187490"/>
                  </a:lnTo>
                  <a:lnTo>
                    <a:pt x="0" y="0"/>
                  </a:lnTo>
                  <a:lnTo>
                    <a:pt x="2382415" y="0"/>
                  </a:lnTo>
                  <a:lnTo>
                    <a:pt x="2382415" y="218749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7" name="Group 126"/>
            <p:cNvGrpSpPr/>
            <p:nvPr/>
          </p:nvGrpSpPr>
          <p:grpSpPr>
            <a:xfrm>
              <a:off x="725" y="10518"/>
              <a:ext cx="9727" cy="3649"/>
              <a:chOff x="2743" y="10398"/>
              <a:chExt cx="11200" cy="4182"/>
            </a:xfrm>
          </p:grpSpPr>
          <p:grpSp>
            <p:nvGrpSpPr>
              <p:cNvPr id="120" name="Group 15"/>
              <p:cNvGrpSpPr/>
              <p:nvPr/>
            </p:nvGrpSpPr>
            <p:grpSpPr>
              <a:xfrm>
                <a:off x="2743" y="10398"/>
                <a:ext cx="10972" cy="3954"/>
                <a:chOff x="0" y="0"/>
                <a:chExt cx="1933666" cy="696897"/>
              </a:xfrm>
            </p:grpSpPr>
            <p:sp>
              <p:nvSpPr>
                <p:cNvPr id="121" name="Freeform 16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0" y="0"/>
                  <a:ext cx="1933666" cy="696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666" h="696897">
                      <a:moveTo>
                        <a:pt x="37780" y="0"/>
                      </a:moveTo>
                      <a:lnTo>
                        <a:pt x="1895886" y="0"/>
                      </a:lnTo>
                      <a:cubicBezTo>
                        <a:pt x="1916751" y="0"/>
                        <a:pt x="1933666" y="16915"/>
                        <a:pt x="1933666" y="37780"/>
                      </a:cubicBezTo>
                      <a:lnTo>
                        <a:pt x="1933666" y="659117"/>
                      </a:lnTo>
                      <a:cubicBezTo>
                        <a:pt x="1933666" y="669137"/>
                        <a:pt x="1929685" y="678747"/>
                        <a:pt x="1922600" y="685832"/>
                      </a:cubicBezTo>
                      <a:cubicBezTo>
                        <a:pt x="1915515" y="692917"/>
                        <a:pt x="1905906" y="696897"/>
                        <a:pt x="1895886" y="696897"/>
                      </a:cubicBezTo>
                      <a:lnTo>
                        <a:pt x="37780" y="696897"/>
                      </a:lnTo>
                      <a:cubicBezTo>
                        <a:pt x="16915" y="696897"/>
                        <a:pt x="0" y="679983"/>
                        <a:pt x="0" y="659117"/>
                      </a:cubicBezTo>
                      <a:lnTo>
                        <a:pt x="0" y="37780"/>
                      </a:lnTo>
                      <a:cubicBezTo>
                        <a:pt x="0" y="27760"/>
                        <a:pt x="3980" y="18151"/>
                        <a:pt x="11065" y="11065"/>
                      </a:cubicBezTo>
                      <a:cubicBezTo>
                        <a:pt x="18151" y="3980"/>
                        <a:pt x="27760" y="0"/>
                        <a:pt x="37780" y="0"/>
                      </a:cubicBezTo>
                      <a:close/>
                    </a:path>
                  </a:pathLst>
                </a:custGeom>
                <a:solidFill>
                  <a:srgbClr val="8EE5F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TextBox 17"/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0" y="-28575"/>
                  <a:ext cx="1933666" cy="725472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/>
                </a:p>
              </p:txBody>
            </p:sp>
          </p:grpSp>
          <p:grpSp>
            <p:nvGrpSpPr>
              <p:cNvPr id="123" name="Group 18"/>
              <p:cNvGrpSpPr/>
              <p:nvPr/>
            </p:nvGrpSpPr>
            <p:grpSpPr>
              <a:xfrm>
                <a:off x="2971" y="10626"/>
                <a:ext cx="10972" cy="3954"/>
                <a:chOff x="0" y="0"/>
                <a:chExt cx="1933666" cy="696897"/>
              </a:xfrm>
            </p:grpSpPr>
            <p:sp>
              <p:nvSpPr>
                <p:cNvPr id="124" name="Freeform 19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0" y="0"/>
                  <a:ext cx="1933666" cy="696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666" h="696897">
                      <a:moveTo>
                        <a:pt x="37780" y="0"/>
                      </a:moveTo>
                      <a:lnTo>
                        <a:pt x="1895886" y="0"/>
                      </a:lnTo>
                      <a:cubicBezTo>
                        <a:pt x="1916751" y="0"/>
                        <a:pt x="1933666" y="16915"/>
                        <a:pt x="1933666" y="37780"/>
                      </a:cubicBezTo>
                      <a:lnTo>
                        <a:pt x="1933666" y="659117"/>
                      </a:lnTo>
                      <a:cubicBezTo>
                        <a:pt x="1933666" y="669137"/>
                        <a:pt x="1929685" y="678747"/>
                        <a:pt x="1922600" y="685832"/>
                      </a:cubicBezTo>
                      <a:cubicBezTo>
                        <a:pt x="1915515" y="692917"/>
                        <a:pt x="1905906" y="696897"/>
                        <a:pt x="1895886" y="696897"/>
                      </a:cubicBezTo>
                      <a:lnTo>
                        <a:pt x="37780" y="696897"/>
                      </a:lnTo>
                      <a:cubicBezTo>
                        <a:pt x="16915" y="696897"/>
                        <a:pt x="0" y="679983"/>
                        <a:pt x="0" y="659117"/>
                      </a:cubicBezTo>
                      <a:lnTo>
                        <a:pt x="0" y="37780"/>
                      </a:lnTo>
                      <a:cubicBezTo>
                        <a:pt x="0" y="27760"/>
                        <a:pt x="3980" y="18151"/>
                        <a:pt x="11065" y="11065"/>
                      </a:cubicBezTo>
                      <a:cubicBezTo>
                        <a:pt x="18151" y="3980"/>
                        <a:pt x="27760" y="0"/>
                        <a:pt x="3778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rnd">
                  <a:solidFill>
                    <a:srgbClr val="03459D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TextBox 20"/>
                <p:cNvSpPr txBox="1"/>
                <p:nvPr>
                  <p:custDataLst>
                    <p:tags r:id="rId20"/>
                  </p:custDataLst>
                </p:nvPr>
              </p:nvSpPr>
              <p:spPr>
                <a:xfrm>
                  <a:off x="0" y="-28575"/>
                  <a:ext cx="1933666" cy="725472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/>
                </a:p>
              </p:txBody>
            </p:sp>
          </p:grpSp>
        </p:grpSp>
      </p:grpSp>
      <p:grpSp>
        <p:nvGrpSpPr>
          <p:cNvPr id="178" name="Group 177"/>
          <p:cNvGrpSpPr/>
          <p:nvPr/>
        </p:nvGrpSpPr>
        <p:grpSpPr>
          <a:xfrm>
            <a:off x="9238615" y="4026535"/>
            <a:ext cx="8789670" cy="2466340"/>
            <a:chOff x="14549" y="5539"/>
            <a:chExt cx="13842" cy="3884"/>
          </a:xfrm>
        </p:grpSpPr>
        <p:sp>
          <p:nvSpPr>
            <p:cNvPr id="50" name="Freeform 18"/>
            <p:cNvSpPr/>
            <p:nvPr>
              <p:custDataLst>
                <p:tags r:id="rId13"/>
              </p:custDataLst>
            </p:nvPr>
          </p:nvSpPr>
          <p:spPr>
            <a:xfrm>
              <a:off x="14549" y="5978"/>
              <a:ext cx="3752" cy="3445"/>
            </a:xfrm>
            <a:custGeom>
              <a:avLst/>
              <a:gdLst/>
              <a:ahLst/>
              <a:cxnLst/>
              <a:rect l="l" t="t" r="r" b="b"/>
              <a:pathLst>
                <a:path w="2382415" h="2187490">
                  <a:moveTo>
                    <a:pt x="0" y="0"/>
                  </a:moveTo>
                  <a:lnTo>
                    <a:pt x="2382415" y="0"/>
                  </a:lnTo>
                  <a:lnTo>
                    <a:pt x="2382415" y="2187490"/>
                  </a:lnTo>
                  <a:lnTo>
                    <a:pt x="0" y="2187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8" name="Group 127"/>
            <p:cNvGrpSpPr/>
            <p:nvPr/>
          </p:nvGrpSpPr>
          <p:grpSpPr>
            <a:xfrm>
              <a:off x="18567" y="5539"/>
              <a:ext cx="9824" cy="3598"/>
              <a:chOff x="15447" y="5059"/>
              <a:chExt cx="11200" cy="4181"/>
            </a:xfrm>
          </p:grpSpPr>
          <p:grpSp>
            <p:nvGrpSpPr>
              <p:cNvPr id="129" name="Group 24"/>
              <p:cNvGrpSpPr/>
              <p:nvPr/>
            </p:nvGrpSpPr>
            <p:grpSpPr>
              <a:xfrm>
                <a:off x="15447" y="5059"/>
                <a:ext cx="10972" cy="3954"/>
                <a:chOff x="0" y="0"/>
                <a:chExt cx="1933666" cy="696897"/>
              </a:xfrm>
            </p:grpSpPr>
            <p:sp>
              <p:nvSpPr>
                <p:cNvPr id="130" name="Freeform 25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0" y="0"/>
                  <a:ext cx="1933666" cy="696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666" h="696897">
                      <a:moveTo>
                        <a:pt x="37780" y="0"/>
                      </a:moveTo>
                      <a:lnTo>
                        <a:pt x="1895886" y="0"/>
                      </a:lnTo>
                      <a:cubicBezTo>
                        <a:pt x="1916751" y="0"/>
                        <a:pt x="1933666" y="16915"/>
                        <a:pt x="1933666" y="37780"/>
                      </a:cubicBezTo>
                      <a:lnTo>
                        <a:pt x="1933666" y="659117"/>
                      </a:lnTo>
                      <a:cubicBezTo>
                        <a:pt x="1933666" y="669137"/>
                        <a:pt x="1929685" y="678747"/>
                        <a:pt x="1922600" y="685832"/>
                      </a:cubicBezTo>
                      <a:cubicBezTo>
                        <a:pt x="1915515" y="692917"/>
                        <a:pt x="1905906" y="696897"/>
                        <a:pt x="1895886" y="696897"/>
                      </a:cubicBezTo>
                      <a:lnTo>
                        <a:pt x="37780" y="696897"/>
                      </a:lnTo>
                      <a:cubicBezTo>
                        <a:pt x="16915" y="696897"/>
                        <a:pt x="0" y="679983"/>
                        <a:pt x="0" y="659117"/>
                      </a:cubicBezTo>
                      <a:lnTo>
                        <a:pt x="0" y="37780"/>
                      </a:lnTo>
                      <a:cubicBezTo>
                        <a:pt x="0" y="27760"/>
                        <a:pt x="3980" y="18151"/>
                        <a:pt x="11065" y="11065"/>
                      </a:cubicBezTo>
                      <a:cubicBezTo>
                        <a:pt x="18151" y="3980"/>
                        <a:pt x="27760" y="0"/>
                        <a:pt x="37780" y="0"/>
                      </a:cubicBezTo>
                      <a:close/>
                    </a:path>
                  </a:pathLst>
                </a:custGeom>
                <a:solidFill>
                  <a:srgbClr val="8EE5F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TextBox 26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0" y="-28575"/>
                  <a:ext cx="1933666" cy="725472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/>
                </a:p>
              </p:txBody>
            </p:sp>
          </p:grpSp>
          <p:grpSp>
            <p:nvGrpSpPr>
              <p:cNvPr id="132" name="Group 27"/>
              <p:cNvGrpSpPr/>
              <p:nvPr/>
            </p:nvGrpSpPr>
            <p:grpSpPr>
              <a:xfrm>
                <a:off x="15675" y="5286"/>
                <a:ext cx="10972" cy="3954"/>
                <a:chOff x="0" y="0"/>
                <a:chExt cx="1933666" cy="696897"/>
              </a:xfrm>
            </p:grpSpPr>
            <p:sp>
              <p:nvSpPr>
                <p:cNvPr id="133" name="Freeform 2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0" y="0"/>
                  <a:ext cx="1933666" cy="696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666" h="696897">
                      <a:moveTo>
                        <a:pt x="37780" y="0"/>
                      </a:moveTo>
                      <a:lnTo>
                        <a:pt x="1895886" y="0"/>
                      </a:lnTo>
                      <a:cubicBezTo>
                        <a:pt x="1916751" y="0"/>
                        <a:pt x="1933666" y="16915"/>
                        <a:pt x="1933666" y="37780"/>
                      </a:cubicBezTo>
                      <a:lnTo>
                        <a:pt x="1933666" y="659117"/>
                      </a:lnTo>
                      <a:cubicBezTo>
                        <a:pt x="1933666" y="669137"/>
                        <a:pt x="1929685" y="678747"/>
                        <a:pt x="1922600" y="685832"/>
                      </a:cubicBezTo>
                      <a:cubicBezTo>
                        <a:pt x="1915515" y="692917"/>
                        <a:pt x="1905906" y="696897"/>
                        <a:pt x="1895886" y="696897"/>
                      </a:cubicBezTo>
                      <a:lnTo>
                        <a:pt x="37780" y="696897"/>
                      </a:lnTo>
                      <a:cubicBezTo>
                        <a:pt x="16915" y="696897"/>
                        <a:pt x="0" y="679983"/>
                        <a:pt x="0" y="659117"/>
                      </a:cubicBezTo>
                      <a:lnTo>
                        <a:pt x="0" y="37780"/>
                      </a:lnTo>
                      <a:cubicBezTo>
                        <a:pt x="0" y="27760"/>
                        <a:pt x="3980" y="18151"/>
                        <a:pt x="11065" y="11065"/>
                      </a:cubicBezTo>
                      <a:cubicBezTo>
                        <a:pt x="18151" y="3980"/>
                        <a:pt x="27760" y="0"/>
                        <a:pt x="3778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rnd">
                  <a:solidFill>
                    <a:srgbClr val="03459D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TextBox 29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0" y="-28575"/>
                  <a:ext cx="1933666" cy="725472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/>
                </a:p>
              </p:txBody>
            </p:sp>
          </p:grpSp>
        </p:grpSp>
      </p:grpSp>
      <p:grpSp>
        <p:nvGrpSpPr>
          <p:cNvPr id="176" name="Group 175"/>
          <p:cNvGrpSpPr/>
          <p:nvPr/>
        </p:nvGrpSpPr>
        <p:grpSpPr>
          <a:xfrm>
            <a:off x="9238615" y="6678295"/>
            <a:ext cx="8811895" cy="2745740"/>
            <a:chOff x="14549" y="9715"/>
            <a:chExt cx="13877" cy="4324"/>
          </a:xfrm>
        </p:grpSpPr>
        <p:sp>
          <p:nvSpPr>
            <p:cNvPr id="51" name="Freeform 19"/>
            <p:cNvSpPr/>
            <p:nvPr>
              <p:custDataLst>
                <p:tags r:id="rId8"/>
              </p:custDataLst>
            </p:nvPr>
          </p:nvSpPr>
          <p:spPr>
            <a:xfrm flipV="1">
              <a:off x="14549" y="9715"/>
              <a:ext cx="3752" cy="3445"/>
            </a:xfrm>
            <a:custGeom>
              <a:avLst/>
              <a:gdLst/>
              <a:ahLst/>
              <a:cxnLst/>
              <a:rect l="l" t="t" r="r" b="b"/>
              <a:pathLst>
                <a:path w="2382415" h="2187490">
                  <a:moveTo>
                    <a:pt x="0" y="2187490"/>
                  </a:moveTo>
                  <a:lnTo>
                    <a:pt x="2382415" y="2187490"/>
                  </a:lnTo>
                  <a:lnTo>
                    <a:pt x="2382415" y="0"/>
                  </a:lnTo>
                  <a:lnTo>
                    <a:pt x="0" y="0"/>
                  </a:lnTo>
                  <a:lnTo>
                    <a:pt x="0" y="218749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6" name="Group 135"/>
            <p:cNvGrpSpPr/>
            <p:nvPr/>
          </p:nvGrpSpPr>
          <p:grpSpPr>
            <a:xfrm>
              <a:off x="18600" y="10221"/>
              <a:ext cx="9827" cy="3818"/>
              <a:chOff x="15447" y="10058"/>
              <a:chExt cx="11200" cy="4182"/>
            </a:xfrm>
          </p:grpSpPr>
          <p:grpSp>
            <p:nvGrpSpPr>
              <p:cNvPr id="137" name="Group 34"/>
              <p:cNvGrpSpPr/>
              <p:nvPr/>
            </p:nvGrpSpPr>
            <p:grpSpPr>
              <a:xfrm>
                <a:off x="15447" y="10058"/>
                <a:ext cx="10972" cy="3954"/>
                <a:chOff x="0" y="0"/>
                <a:chExt cx="1933666" cy="696897"/>
              </a:xfrm>
            </p:grpSpPr>
            <p:sp>
              <p:nvSpPr>
                <p:cNvPr id="138" name="Freeform 35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0" y="0"/>
                  <a:ext cx="1933666" cy="696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666" h="696897">
                      <a:moveTo>
                        <a:pt x="37780" y="0"/>
                      </a:moveTo>
                      <a:lnTo>
                        <a:pt x="1895886" y="0"/>
                      </a:lnTo>
                      <a:cubicBezTo>
                        <a:pt x="1916751" y="0"/>
                        <a:pt x="1933666" y="16915"/>
                        <a:pt x="1933666" y="37780"/>
                      </a:cubicBezTo>
                      <a:lnTo>
                        <a:pt x="1933666" y="659117"/>
                      </a:lnTo>
                      <a:cubicBezTo>
                        <a:pt x="1933666" y="669137"/>
                        <a:pt x="1929685" y="678747"/>
                        <a:pt x="1922600" y="685832"/>
                      </a:cubicBezTo>
                      <a:cubicBezTo>
                        <a:pt x="1915515" y="692917"/>
                        <a:pt x="1905906" y="696897"/>
                        <a:pt x="1895886" y="696897"/>
                      </a:cubicBezTo>
                      <a:lnTo>
                        <a:pt x="37780" y="696897"/>
                      </a:lnTo>
                      <a:cubicBezTo>
                        <a:pt x="16915" y="696897"/>
                        <a:pt x="0" y="679983"/>
                        <a:pt x="0" y="659117"/>
                      </a:cubicBezTo>
                      <a:lnTo>
                        <a:pt x="0" y="37780"/>
                      </a:lnTo>
                      <a:cubicBezTo>
                        <a:pt x="0" y="27760"/>
                        <a:pt x="3980" y="18151"/>
                        <a:pt x="11065" y="11065"/>
                      </a:cubicBezTo>
                      <a:cubicBezTo>
                        <a:pt x="18151" y="3980"/>
                        <a:pt x="27760" y="0"/>
                        <a:pt x="37780" y="0"/>
                      </a:cubicBezTo>
                      <a:close/>
                    </a:path>
                  </a:pathLst>
                </a:custGeom>
                <a:solidFill>
                  <a:srgbClr val="8EE5F5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TextBox 36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0" y="-28575"/>
                  <a:ext cx="1933666" cy="725472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/>
                </a:p>
              </p:txBody>
            </p:sp>
          </p:grpSp>
          <p:grpSp>
            <p:nvGrpSpPr>
              <p:cNvPr id="160" name="Group 37"/>
              <p:cNvGrpSpPr/>
              <p:nvPr/>
            </p:nvGrpSpPr>
            <p:grpSpPr>
              <a:xfrm>
                <a:off x="15675" y="10286"/>
                <a:ext cx="10972" cy="3954"/>
                <a:chOff x="0" y="0"/>
                <a:chExt cx="1933666" cy="696897"/>
              </a:xfrm>
            </p:grpSpPr>
            <p:sp>
              <p:nvSpPr>
                <p:cNvPr id="161" name="Freeform 3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0" y="0"/>
                  <a:ext cx="1933666" cy="696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666" h="696897">
                      <a:moveTo>
                        <a:pt x="37780" y="0"/>
                      </a:moveTo>
                      <a:lnTo>
                        <a:pt x="1895886" y="0"/>
                      </a:lnTo>
                      <a:cubicBezTo>
                        <a:pt x="1916751" y="0"/>
                        <a:pt x="1933666" y="16915"/>
                        <a:pt x="1933666" y="37780"/>
                      </a:cubicBezTo>
                      <a:lnTo>
                        <a:pt x="1933666" y="659117"/>
                      </a:lnTo>
                      <a:cubicBezTo>
                        <a:pt x="1933666" y="669137"/>
                        <a:pt x="1929685" y="678747"/>
                        <a:pt x="1922600" y="685832"/>
                      </a:cubicBezTo>
                      <a:cubicBezTo>
                        <a:pt x="1915515" y="692917"/>
                        <a:pt x="1905906" y="696897"/>
                        <a:pt x="1895886" y="696897"/>
                      </a:cubicBezTo>
                      <a:lnTo>
                        <a:pt x="37780" y="696897"/>
                      </a:lnTo>
                      <a:cubicBezTo>
                        <a:pt x="16915" y="696897"/>
                        <a:pt x="0" y="679983"/>
                        <a:pt x="0" y="659117"/>
                      </a:cubicBezTo>
                      <a:lnTo>
                        <a:pt x="0" y="37780"/>
                      </a:lnTo>
                      <a:cubicBezTo>
                        <a:pt x="0" y="27760"/>
                        <a:pt x="3980" y="18151"/>
                        <a:pt x="11065" y="11065"/>
                      </a:cubicBezTo>
                      <a:cubicBezTo>
                        <a:pt x="18151" y="3980"/>
                        <a:pt x="27760" y="0"/>
                        <a:pt x="3778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38100" cap="rnd">
                  <a:solidFill>
                    <a:srgbClr val="03459D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TextBox 39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0" y="-28575"/>
                  <a:ext cx="1933666" cy="725472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60"/>
                    </a:lnSpc>
                  </a:pPr>
                  <a:endParaRPr/>
                </a:p>
              </p:txBody>
            </p:sp>
          </p:grpSp>
        </p:grpSp>
      </p:grpSp>
      <p:sp>
        <p:nvSpPr>
          <p:cNvPr id="6" name="Text Box 5"/>
          <p:cNvSpPr txBox="1"/>
          <p:nvPr>
            <p:custDataLst>
              <p:tags r:id="rId6"/>
            </p:custDataLst>
          </p:nvPr>
        </p:nvSpPr>
        <p:spPr>
          <a:xfrm>
            <a:off x="5678487" y="52705"/>
            <a:ext cx="1226502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vi-VN" sz="36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THIẾT KẾ MỘT SỐ BÀI DẠY GIÁO </a:t>
            </a:r>
          </a:p>
          <a:p>
            <a:pPr algn="ctr"/>
            <a:r>
              <a:rPr lang="vi-VN" sz="36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DỤC STEM VỀ HÌNH HỌC LỚP 3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83032" y="1879830"/>
            <a:ext cx="13326745" cy="739140"/>
            <a:chOff x="1640" y="6872"/>
            <a:chExt cx="20987" cy="1164"/>
          </a:xfrm>
        </p:grpSpPr>
        <p:sp>
          <p:nvSpPr>
            <p:cNvPr id="16" name="Freeform 13"/>
            <p:cNvSpPr/>
            <p:nvPr>
              <p:custDataLst>
                <p:tags r:id="rId7"/>
              </p:custDataLst>
            </p:nvPr>
          </p:nvSpPr>
          <p:spPr>
            <a:xfrm>
              <a:off x="1640" y="7110"/>
              <a:ext cx="1085" cy="853"/>
            </a:xfrm>
            <a:custGeom>
              <a:avLst/>
              <a:gdLst/>
              <a:ahLst/>
              <a:cxnLst/>
              <a:rect l="l" t="t" r="r" b="b"/>
              <a:pathLst>
                <a:path w="919202" h="745910">
                  <a:moveTo>
                    <a:pt x="0" y="0"/>
                  </a:moveTo>
                  <a:lnTo>
                    <a:pt x="919201" y="0"/>
                  </a:lnTo>
                  <a:lnTo>
                    <a:pt x="919201" y="745910"/>
                  </a:lnTo>
                  <a:lnTo>
                    <a:pt x="0" y="74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Box 16"/>
            <p:cNvSpPr txBox="1"/>
            <p:nvPr/>
          </p:nvSpPr>
          <p:spPr>
            <a:xfrm>
              <a:off x="2840" y="6872"/>
              <a:ext cx="19787" cy="1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66700">
                <a:lnSpc>
                  <a:spcPct val="114000"/>
                </a:lnSpc>
                <a:spcAft>
                  <a:spcPct val="0"/>
                </a:spcAft>
              </a:pPr>
              <a:endParaRPr lang="en-US" sz="4000" dirty="0">
                <a:latin typeface="Times New Roman" panose="02020603050405020304"/>
                <a:ea typeface="SimSun" panose="02010600030101010101" pitchFamily="2" charset="-122"/>
              </a:endParaRPr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533400" y="4357599"/>
            <a:ext cx="5927090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vi-VN" sz="3600" b="1" dirty="0">
                <a:latin typeface="+mj-lt"/>
              </a:rPr>
              <a:t> Nguyên tắc phù hợp với Chương trình Giáo dục phổ thông 2018</a:t>
            </a:r>
            <a:endParaRPr lang="en-US" altLang="en-US" sz="6000" b="1" dirty="0">
              <a:solidFill>
                <a:schemeClr val="tx1"/>
              </a:solidFill>
              <a:effectLst/>
              <a:latin typeface="+mj-lt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2109760" y="4451399"/>
            <a:ext cx="5725802" cy="1523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vi-VN" sz="3600" b="1" dirty="0">
                <a:latin typeface="+mj-lt"/>
              </a:rPr>
              <a:t>Nguyên tắc phù hợp với đặc điểm tâm sinh lý và nhận thức của học sinh lớp 3</a:t>
            </a:r>
            <a:endParaRPr lang="en-US" altLang="en-US" sz="6000" b="1" dirty="0">
              <a:solidFill>
                <a:schemeClr val="tx1"/>
              </a:solidFill>
              <a:effectLst/>
              <a:latin typeface="+mj-lt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33400" y="7951470"/>
            <a:ext cx="5928995" cy="1851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vi-VN" sz="3600" b="1" dirty="0">
                <a:latin typeface="+mj-lt"/>
              </a:rPr>
              <a:t>Nguyên tắc tích hợp liên môn</a:t>
            </a:r>
            <a:endParaRPr lang="en-US" altLang="en-US" sz="6000" b="1" dirty="0">
              <a:solidFill>
                <a:schemeClr val="tx1"/>
              </a:solidFill>
              <a:effectLst/>
              <a:latin typeface="+mj-lt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2262492" y="7474946"/>
            <a:ext cx="5638800" cy="1511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vi-VN" sz="3600" b="1" dirty="0">
                <a:latin typeface="+mj-lt"/>
              </a:rPr>
              <a:t>Nguyên tắc đảm bảo tính khả thi và phù hợp với điều kiện thực tiễn</a:t>
            </a:r>
            <a:endParaRPr lang="en-US" sz="3600" b="1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285E77-F58D-B44D-E025-FE059F689909}"/>
              </a:ext>
            </a:extLst>
          </p:cNvPr>
          <p:cNvSpPr txBox="1"/>
          <p:nvPr/>
        </p:nvSpPr>
        <p:spPr>
          <a:xfrm>
            <a:off x="1447800" y="1687711"/>
            <a:ext cx="15968073" cy="91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200"/>
              </a:spcBef>
              <a:spcAft>
                <a:spcPts val="600"/>
              </a:spcAft>
              <a:buNone/>
            </a:pPr>
            <a:r>
              <a:rPr lang="vi-VN" sz="40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DokChampa" panose="020B0604020202020204" pitchFamily="34" charset="-34"/>
              </a:rPr>
              <a:t>2.1. Quy trình thiết kế bài dạy theo hướng giáo dục STEM ở tiểu học</a:t>
            </a:r>
            <a:endParaRPr lang="en-US" sz="4000" b="1" kern="100" dirty="0">
              <a:solidFill>
                <a:srgbClr val="FF0000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DokChampa" panose="020B0604020202020204" pitchFamily="34" charset="-3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32EC045-96BD-8E67-1214-A0C501527F1F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3383" t="62005" r="-3383" b="-1918"/>
          <a:stretch>
            <a:fillRect/>
          </a:stretch>
        </p:blipFill>
        <p:spPr>
          <a:xfrm rot="19718117">
            <a:off x="8587435" y="7294694"/>
            <a:ext cx="2382776" cy="1084902"/>
          </a:xfrm>
          <a:prstGeom prst="rect">
            <a:avLst/>
          </a:prstGeom>
        </p:spPr>
      </p:pic>
      <p:sp>
        <p:nvSpPr>
          <p:cNvPr id="28" name="AutoShape 2"/>
          <p:cNvSpPr/>
          <p:nvPr>
            <p:custDataLst>
              <p:tags r:id="rId1"/>
            </p:custDataLst>
          </p:nvPr>
        </p:nvSpPr>
        <p:spPr>
          <a:xfrm rot="-1753206">
            <a:off x="7710021" y="5188111"/>
            <a:ext cx="25783492" cy="9586163"/>
          </a:xfrm>
          <a:prstGeom prst="rect">
            <a:avLst/>
          </a:prstGeom>
          <a:solidFill>
            <a:srgbClr val="545454">
              <a:alpha val="4706"/>
            </a:srgbClr>
          </a:solidFill>
        </p:spPr>
        <p:txBody>
          <a:bodyPr/>
          <a:lstStyle/>
          <a:p>
            <a:endParaRPr lang="en-US"/>
          </a:p>
        </p:txBody>
      </p:sp>
      <p:cxnSp>
        <p:nvCxnSpPr>
          <p:cNvPr id="41" name="Google Shape;117;p3"/>
          <p:cNvCxnSpPr/>
          <p:nvPr>
            <p:custDataLst>
              <p:tags r:id="rId2"/>
            </p:custDataLst>
          </p:nvPr>
        </p:nvCxnSpPr>
        <p:spPr>
          <a:xfrm>
            <a:off x="-19050000" y="2857500"/>
            <a:ext cx="0" cy="5715000"/>
          </a:xfrm>
          <a:prstGeom prst="straightConnector1">
            <a:avLst/>
          </a:prstGeom>
          <a:noFill/>
          <a:ln w="38100" cap="flat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7" name="Group 36"/>
          <p:cNvGrpSpPr/>
          <p:nvPr/>
        </p:nvGrpSpPr>
        <p:grpSpPr>
          <a:xfrm>
            <a:off x="-19304000" y="3510280"/>
            <a:ext cx="11771630" cy="792480"/>
            <a:chOff x="1640" y="6728"/>
            <a:chExt cx="18538" cy="1248"/>
          </a:xfrm>
        </p:grpSpPr>
        <p:sp>
          <p:nvSpPr>
            <p:cNvPr id="38" name="Freeform 13"/>
            <p:cNvSpPr/>
            <p:nvPr>
              <p:custDataLst>
                <p:tags r:id="rId23"/>
              </p:custDataLst>
            </p:nvPr>
          </p:nvSpPr>
          <p:spPr>
            <a:xfrm>
              <a:off x="1640" y="6860"/>
              <a:ext cx="1085" cy="853"/>
            </a:xfrm>
            <a:custGeom>
              <a:avLst/>
              <a:gdLst/>
              <a:ahLst/>
              <a:cxnLst/>
              <a:rect l="l" t="t" r="r" b="b"/>
              <a:pathLst>
                <a:path w="919202" h="745910">
                  <a:moveTo>
                    <a:pt x="0" y="0"/>
                  </a:moveTo>
                  <a:lnTo>
                    <a:pt x="919201" y="0"/>
                  </a:lnTo>
                  <a:lnTo>
                    <a:pt x="919201" y="745910"/>
                  </a:lnTo>
                  <a:lnTo>
                    <a:pt x="0" y="74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Box 38"/>
            <p:cNvSpPr txBox="1"/>
            <p:nvPr>
              <p:custDataLst>
                <p:tags r:id="rId24"/>
              </p:custDataLst>
            </p:nvPr>
          </p:nvSpPr>
          <p:spPr>
            <a:xfrm>
              <a:off x="2840" y="6728"/>
              <a:ext cx="17338" cy="12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66700">
                <a:lnSpc>
                  <a:spcPct val="114000"/>
                </a:lnSpc>
                <a:spcAft>
                  <a:spcPct val="0"/>
                </a:spcAft>
              </a:pPr>
              <a:r>
                <a:rPr sz="4000">
                  <a:latin typeface="Times New Roman" panose="02020603050405020304"/>
                  <a:ea typeface="SimSun" panose="02010600030101010101" pitchFamily="2" charset="-122"/>
                </a:rPr>
                <a:t>2.2. Chuẩn kiến thức và kĩ năng môn Tiếng Việt 5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-19329400" y="7929245"/>
            <a:ext cx="16999585" cy="1330960"/>
            <a:chOff x="1600" y="10927"/>
            <a:chExt cx="26771" cy="2096"/>
          </a:xfrm>
        </p:grpSpPr>
        <p:sp>
          <p:nvSpPr>
            <p:cNvPr id="43" name="Freeform 13"/>
            <p:cNvSpPr/>
            <p:nvPr>
              <p:custDataLst>
                <p:tags r:id="rId21"/>
              </p:custDataLst>
            </p:nvPr>
          </p:nvSpPr>
          <p:spPr>
            <a:xfrm>
              <a:off x="1600" y="11140"/>
              <a:ext cx="1085" cy="853"/>
            </a:xfrm>
            <a:custGeom>
              <a:avLst/>
              <a:gdLst/>
              <a:ahLst/>
              <a:cxnLst/>
              <a:rect l="l" t="t" r="r" b="b"/>
              <a:pathLst>
                <a:path w="919202" h="745910">
                  <a:moveTo>
                    <a:pt x="0" y="0"/>
                  </a:moveTo>
                  <a:lnTo>
                    <a:pt x="919201" y="0"/>
                  </a:lnTo>
                  <a:lnTo>
                    <a:pt x="919201" y="745910"/>
                  </a:lnTo>
                  <a:lnTo>
                    <a:pt x="0" y="74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Box 43"/>
            <p:cNvSpPr txBox="1"/>
            <p:nvPr>
              <p:custDataLst>
                <p:tags r:id="rId22"/>
              </p:custDataLst>
            </p:nvPr>
          </p:nvSpPr>
          <p:spPr>
            <a:xfrm>
              <a:off x="2794" y="10927"/>
              <a:ext cx="25577" cy="20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4000">
                  <a:latin typeface="Times New Roman" panose="02020603050405020304" charset="0"/>
                  <a:cs typeface="Times New Roman" panose="02020603050405020304" charset="0"/>
                </a:rPr>
                <a:t>2.5. Minh họa quy trình tổ chức dạy học môn Tiếng Việt dựa trên sự đa dạng về trí tuệ của học sinh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-19278600" y="4684395"/>
            <a:ext cx="16826865" cy="1494155"/>
            <a:chOff x="1640" y="6728"/>
            <a:chExt cx="26499" cy="2353"/>
          </a:xfrm>
        </p:grpSpPr>
        <p:sp>
          <p:nvSpPr>
            <p:cNvPr id="51" name="Freeform 13"/>
            <p:cNvSpPr/>
            <p:nvPr>
              <p:custDataLst>
                <p:tags r:id="rId19"/>
              </p:custDataLst>
            </p:nvPr>
          </p:nvSpPr>
          <p:spPr>
            <a:xfrm>
              <a:off x="1640" y="6860"/>
              <a:ext cx="1085" cy="853"/>
            </a:xfrm>
            <a:custGeom>
              <a:avLst/>
              <a:gdLst/>
              <a:ahLst/>
              <a:cxnLst/>
              <a:rect l="l" t="t" r="r" b="b"/>
              <a:pathLst>
                <a:path w="919202" h="745910">
                  <a:moveTo>
                    <a:pt x="0" y="0"/>
                  </a:moveTo>
                  <a:lnTo>
                    <a:pt x="919201" y="0"/>
                  </a:lnTo>
                  <a:lnTo>
                    <a:pt x="919201" y="745910"/>
                  </a:lnTo>
                  <a:lnTo>
                    <a:pt x="0" y="74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Box 51"/>
            <p:cNvSpPr txBox="1"/>
            <p:nvPr>
              <p:custDataLst>
                <p:tags r:id="rId20"/>
              </p:custDataLst>
            </p:nvPr>
          </p:nvSpPr>
          <p:spPr>
            <a:xfrm>
              <a:off x="2840" y="6728"/>
              <a:ext cx="25299" cy="23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66700">
                <a:lnSpc>
                  <a:spcPct val="114000"/>
                </a:lnSpc>
                <a:spcAft>
                  <a:spcPct val="0"/>
                </a:spcAft>
              </a:pPr>
              <a:r>
                <a:rPr sz="4000">
                  <a:latin typeface="Times New Roman" panose="02020603050405020304"/>
                  <a:ea typeface="SimSun" panose="02010600030101010101" pitchFamily="2" charset="-122"/>
                </a:rPr>
                <a:t>2.3. Yêu cầu khi vận dụng thuyết đa trí tuệ trong dạy học phân hóa Tiếng Việt ở trường Tiểu học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-19309080" y="6247765"/>
            <a:ext cx="16826865" cy="1494155"/>
            <a:chOff x="1640" y="6728"/>
            <a:chExt cx="26499" cy="2460"/>
          </a:xfrm>
        </p:grpSpPr>
        <p:sp>
          <p:nvSpPr>
            <p:cNvPr id="57" name="Freeform 13"/>
            <p:cNvSpPr/>
            <p:nvPr>
              <p:custDataLst>
                <p:tags r:id="rId17"/>
              </p:custDataLst>
            </p:nvPr>
          </p:nvSpPr>
          <p:spPr>
            <a:xfrm>
              <a:off x="1640" y="6860"/>
              <a:ext cx="1085" cy="853"/>
            </a:xfrm>
            <a:custGeom>
              <a:avLst/>
              <a:gdLst/>
              <a:ahLst/>
              <a:cxnLst/>
              <a:rect l="l" t="t" r="r" b="b"/>
              <a:pathLst>
                <a:path w="919202" h="745910">
                  <a:moveTo>
                    <a:pt x="0" y="0"/>
                  </a:moveTo>
                  <a:lnTo>
                    <a:pt x="919201" y="0"/>
                  </a:lnTo>
                  <a:lnTo>
                    <a:pt x="919201" y="745910"/>
                  </a:lnTo>
                  <a:lnTo>
                    <a:pt x="0" y="745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Box 57"/>
            <p:cNvSpPr txBox="1"/>
            <p:nvPr>
              <p:custDataLst>
                <p:tags r:id="rId18"/>
              </p:custDataLst>
            </p:nvPr>
          </p:nvSpPr>
          <p:spPr>
            <a:xfrm>
              <a:off x="2840" y="6728"/>
              <a:ext cx="25299" cy="24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66700">
                <a:lnSpc>
                  <a:spcPct val="114000"/>
                </a:lnSpc>
                <a:spcAft>
                  <a:spcPct val="0"/>
                </a:spcAft>
              </a:pPr>
              <a:r>
                <a:rPr sz="4000">
                  <a:latin typeface="Times New Roman" panose="02020603050405020304"/>
                  <a:ea typeface="SimSun" panose="02010600030101010101" pitchFamily="2" charset="-122"/>
                </a:rPr>
                <a:t>2.4. Quy trình vận dụng thuyết đa trí tuệ trong dạy học phân hóa Tiếng Việt ở trường Tiểu học.</a:t>
              </a:r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5486400" y="-419100"/>
            <a:ext cx="12801600" cy="1905000"/>
            <a:chOff x="9120" y="-660"/>
            <a:chExt cx="20160" cy="3000"/>
          </a:xfrm>
        </p:grpSpPr>
        <p:cxnSp>
          <p:nvCxnSpPr>
            <p:cNvPr id="117" name="Google Shape;117;p3"/>
            <p:cNvCxnSpPr/>
            <p:nvPr>
              <p:custDataLst>
                <p:tags r:id="rId15"/>
              </p:custDataLst>
            </p:nvPr>
          </p:nvCxnSpPr>
          <p:spPr>
            <a:xfrm>
              <a:off x="9120" y="222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17;p3"/>
            <p:cNvCxnSpPr/>
            <p:nvPr>
              <p:custDataLst>
                <p:tags r:id="rId16"/>
              </p:custDataLst>
            </p:nvPr>
          </p:nvCxnSpPr>
          <p:spPr>
            <a:xfrm flipV="1">
              <a:off x="912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9" name="Text Box 68"/>
          <p:cNvSpPr txBox="1"/>
          <p:nvPr>
            <p:custDataLst>
              <p:tags r:id="rId3"/>
            </p:custDataLst>
          </p:nvPr>
        </p:nvSpPr>
        <p:spPr>
          <a:xfrm>
            <a:off x="9579610" y="2667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endParaRPr lang="en-US" sz="7200" b="1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>
            <p:custDataLst>
              <p:tags r:id="rId4"/>
            </p:custDataLst>
          </p:nvPr>
        </p:nvSpPr>
        <p:spPr>
          <a:xfrm>
            <a:off x="6162040" y="-1814"/>
            <a:ext cx="1226502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vi-VN" sz="48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THIẾT KẾ MỘT SỐ BÀI DẠY GIÁO </a:t>
            </a:r>
          </a:p>
          <a:p>
            <a:pPr algn="ctr"/>
            <a:r>
              <a:rPr lang="vi-VN" sz="48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DỤC STEM VỀ HÌNH HỌC LỚP 3</a:t>
            </a:r>
          </a:p>
          <a:p>
            <a:pPr algn="ctr"/>
            <a:endParaRPr lang="vi-VN" sz="45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21" name="Group 120"/>
          <p:cNvGrpSpPr/>
          <p:nvPr/>
        </p:nvGrpSpPr>
        <p:grpSpPr>
          <a:xfrm>
            <a:off x="228600" y="114935"/>
            <a:ext cx="5485765" cy="1286510"/>
            <a:chOff x="27600" y="432"/>
            <a:chExt cx="8639" cy="2026"/>
          </a:xfrm>
        </p:grpSpPr>
        <p:sp>
          <p:nvSpPr>
            <p:cNvPr id="103" name="Freeform 61"/>
            <p:cNvSpPr/>
            <p:nvPr>
              <p:custDataLst>
                <p:tags r:id="rId13"/>
              </p:custDataLst>
            </p:nvPr>
          </p:nvSpPr>
          <p:spPr>
            <a:xfrm rot="10800000">
              <a:off x="27600" y="432"/>
              <a:ext cx="8639" cy="2026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 Box 1"/>
            <p:cNvSpPr txBox="1"/>
            <p:nvPr>
              <p:custDataLst>
                <p:tags r:id="rId14"/>
              </p:custDataLst>
            </p:nvPr>
          </p:nvSpPr>
          <p:spPr>
            <a:xfrm>
              <a:off x="27960" y="67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36" name="Picture 3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8" cstate="print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65" y="200025"/>
            <a:ext cx="1133475" cy="1133475"/>
          </a:xfrm>
          <a:prstGeom prst="rect">
            <a:avLst/>
          </a:prstGeom>
        </p:spPr>
      </p:pic>
      <p:grpSp>
        <p:nvGrpSpPr>
          <p:cNvPr id="78" name="Group 14"/>
          <p:cNvGrpSpPr/>
          <p:nvPr/>
        </p:nvGrpSpPr>
        <p:grpSpPr>
          <a:xfrm>
            <a:off x="-304542" y="9014056"/>
            <a:ext cx="2545888" cy="2545888"/>
            <a:chOff x="0" y="0"/>
            <a:chExt cx="812800" cy="812800"/>
          </a:xfrm>
        </p:grpSpPr>
        <p:sp>
          <p:nvSpPr>
            <p:cNvPr id="81" name="Freeform 15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838200" y="1779905"/>
            <a:ext cx="17230725" cy="738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 defTabSz="266700">
              <a:lnSpc>
                <a:spcPct val="114000"/>
              </a:lnSpc>
              <a:spcAft>
                <a:spcPts val="1000"/>
              </a:spcAft>
            </a:pPr>
            <a:r>
              <a:rPr lang="vi-VN" sz="4000" dirty="0">
                <a:solidFill>
                  <a:srgbClr val="FF0000"/>
                </a:solidFill>
                <a:latin typeface="Times New Roman" panose="02020603050405020304"/>
                <a:ea typeface="Calibri" panose="020F0502020204030204"/>
              </a:rPr>
              <a:t>2.1.2 Q</a:t>
            </a:r>
            <a:r>
              <a:rPr lang="vi-VN" sz="4000" dirty="0">
                <a:solidFill>
                  <a:srgbClr val="FF0000"/>
                </a:solidFill>
                <a:effectLst/>
                <a:latin typeface="Times New Roman" panose="02020603050405020304"/>
                <a:ea typeface="Calibri" panose="020F0502020204030204"/>
              </a:rPr>
              <a:t>uy trình xây dựng kế hoạch bài dạy theo hướng giáo dục STEM</a:t>
            </a:r>
            <a:endParaRPr lang="en-US" sz="4000" dirty="0">
              <a:solidFill>
                <a:srgbClr val="FF0000"/>
              </a:solidFill>
              <a:effectLst/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1449" name="Google Shape;1449;p65"/>
          <p:cNvSpPr/>
          <p:nvPr/>
        </p:nvSpPr>
        <p:spPr>
          <a:xfrm rot="-1015300">
            <a:off x="30203" y="3834407"/>
            <a:ext cx="1902460" cy="279527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9537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0" name="Google Shape;1450;p65"/>
          <p:cNvSpPr/>
          <p:nvPr/>
        </p:nvSpPr>
        <p:spPr>
          <a:xfrm rot="-1675300">
            <a:off x="623868" y="6474791"/>
            <a:ext cx="2026285" cy="3000375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5F497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1" name="Google Shape;1451;p65"/>
          <p:cNvSpPr/>
          <p:nvPr/>
        </p:nvSpPr>
        <p:spPr>
          <a:xfrm>
            <a:off x="1808222" y="5039042"/>
            <a:ext cx="7522209" cy="1762847"/>
          </a:xfrm>
          <a:prstGeom prst="flowChartProcess">
            <a:avLst/>
          </a:prstGeom>
          <a:solidFill>
            <a:srgbClr val="92CC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2" name="Google Shape;1452;p65"/>
          <p:cNvSpPr/>
          <p:nvPr/>
        </p:nvSpPr>
        <p:spPr>
          <a:xfrm>
            <a:off x="616900" y="2797436"/>
            <a:ext cx="7571107" cy="1762847"/>
          </a:xfrm>
          <a:prstGeom prst="flowChartProcess">
            <a:avLst/>
          </a:prstGeom>
          <a:solidFill>
            <a:srgbClr val="DAEE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3" name="Google Shape;1453;p65"/>
          <p:cNvSpPr txBox="1"/>
          <p:nvPr/>
        </p:nvSpPr>
        <p:spPr>
          <a:xfrm>
            <a:off x="673236" y="3034070"/>
            <a:ext cx="7493000" cy="79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vi-VN" sz="4000" u="sng" dirty="0">
                <a:latin typeface="+mj-lt"/>
              </a:rPr>
              <a:t>Bước 1</a:t>
            </a:r>
            <a:r>
              <a:rPr lang="vi-VN" sz="4000" dirty="0">
                <a:latin typeface="+mj-lt"/>
              </a:rPr>
              <a:t>: Lựa chọn nội dung bài học và xác định vấn đề cần giải quyết</a:t>
            </a:r>
            <a:endParaRPr lang="en-US" sz="4000" dirty="0">
              <a:latin typeface="+mj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7200" u="sng" dirty="0">
                <a:solidFill>
                  <a:schemeClr val="dk1"/>
                </a:solidFill>
                <a:latin typeface="+mj-lt"/>
                <a:ea typeface="Nunito Sans"/>
                <a:cs typeface="Times New Roman" panose="02020603050405020304" charset="0"/>
                <a:sym typeface="Nunito Sans"/>
              </a:rPr>
              <a:t> </a:t>
            </a:r>
            <a:endParaRPr lang="en-US" sz="6000" dirty="0">
              <a:solidFill>
                <a:schemeClr val="dk1"/>
              </a:solidFill>
              <a:latin typeface="+mj-lt"/>
              <a:ea typeface="Nunito Sans"/>
              <a:cs typeface="Nunito Sans"/>
              <a:sym typeface="Nunito Sans"/>
            </a:endParaRPr>
          </a:p>
        </p:txBody>
      </p:sp>
      <p:sp>
        <p:nvSpPr>
          <p:cNvPr id="1454" name="Google Shape;1454;p65"/>
          <p:cNvSpPr txBox="1"/>
          <p:nvPr/>
        </p:nvSpPr>
        <p:spPr>
          <a:xfrm>
            <a:off x="1436778" y="5173657"/>
            <a:ext cx="8153400" cy="882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vi-VN" sz="4000" u="sng" dirty="0">
                <a:solidFill>
                  <a:schemeClr val="dk1"/>
                </a:solidFill>
                <a:latin typeface="Times New Roman" panose="02020603050405020304" charset="0"/>
                <a:ea typeface="Nunito Sans"/>
                <a:cs typeface="Times New Roman" panose="02020603050405020304" charset="0"/>
                <a:sym typeface="Nunito Sans"/>
              </a:rPr>
              <a:t>Bước 2</a:t>
            </a:r>
            <a:r>
              <a:rPr lang="vi-VN" sz="4000" dirty="0">
                <a:solidFill>
                  <a:schemeClr val="dk1"/>
                </a:solidFill>
                <a:latin typeface="Times New Roman" panose="02020603050405020304" charset="0"/>
                <a:ea typeface="Nunito Sans"/>
                <a:cs typeface="Times New Roman" panose="02020603050405020304" charset="0"/>
                <a:sym typeface="Nunito Sans"/>
              </a:rPr>
              <a:t>: Xây dựng tiêu chí của sản phẩm/giải pháp giải quyết vấn đề</a:t>
            </a:r>
            <a:endParaRPr lang="en-US" sz="4000" dirty="0">
              <a:solidFill>
                <a:schemeClr val="dk1"/>
              </a:solidFill>
              <a:latin typeface="Times New Roman" panose="02020603050405020304" charset="0"/>
              <a:ea typeface="Nunito Sans"/>
              <a:cs typeface="Times New Roman" panose="02020603050405020304" charset="0"/>
              <a:sym typeface="Nunito Sans"/>
            </a:endParaRPr>
          </a:p>
        </p:txBody>
      </p:sp>
      <p:sp>
        <p:nvSpPr>
          <p:cNvPr id="1455" name="Google Shape;1455;p65"/>
          <p:cNvSpPr/>
          <p:nvPr/>
        </p:nvSpPr>
        <p:spPr>
          <a:xfrm>
            <a:off x="2438246" y="7771901"/>
            <a:ext cx="7683262" cy="1645648"/>
          </a:xfrm>
          <a:prstGeom prst="rect">
            <a:avLst/>
          </a:prstGeom>
          <a:solidFill>
            <a:srgbClr val="8CB3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20439" y="7939548"/>
            <a:ext cx="75222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000" u="sng" dirty="0">
                <a:latin typeface="Times New Roman" panose="02020603050405020304" charset="0"/>
                <a:cs typeface="Times New Roman" panose="02020603050405020304" charset="0"/>
              </a:rPr>
              <a:t>Bước 3: </a:t>
            </a:r>
            <a:r>
              <a:rPr lang="vi-VN" sz="4000" dirty="0">
                <a:latin typeface="Times New Roman" panose="02020603050405020304" charset="0"/>
                <a:cs typeface="Times New Roman" panose="02020603050405020304" charset="0"/>
              </a:rPr>
              <a:t>Thiết kế tiến trình tổ chức hoạt động dạy học</a:t>
            </a:r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" name="Google Shape;117;p3">
            <a:extLst>
              <a:ext uri="{FF2B5EF4-FFF2-40B4-BE49-F238E27FC236}">
                <a16:creationId xmlns:a16="http://schemas.microsoft.com/office/drawing/2014/main" id="{894577B0-C726-F9D5-39DB-24DB929097D1}"/>
              </a:ext>
            </a:extLst>
          </p:cNvPr>
          <p:cNvCxnSpPr>
            <a:cxnSpLocks/>
          </p:cNvCxnSpPr>
          <p:nvPr/>
        </p:nvCxnSpPr>
        <p:spPr>
          <a:xfrm>
            <a:off x="10972800" y="5039042"/>
            <a:ext cx="0" cy="4486121"/>
          </a:xfrm>
          <a:prstGeom prst="straightConnector1">
            <a:avLst/>
          </a:prstGeom>
          <a:noFill/>
          <a:ln w="38100" cap="flat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Freeform 13">
            <a:extLst>
              <a:ext uri="{FF2B5EF4-FFF2-40B4-BE49-F238E27FC236}">
                <a16:creationId xmlns:a16="http://schemas.microsoft.com/office/drawing/2014/main" id="{60DAF24C-8AA7-9851-F4C7-A15D02E702B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0754840" y="5091380"/>
            <a:ext cx="688975" cy="541655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4891F7CE-AB2B-7FAC-F94C-3383AD22241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0734494" y="6176937"/>
            <a:ext cx="688975" cy="541655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26A1989-CC1F-F353-402A-31FD5473313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759084" y="9099032"/>
            <a:ext cx="688975" cy="541655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ED32DBA-17DB-9AA0-3F43-2EF10540C6AE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740891" y="7974978"/>
            <a:ext cx="688975" cy="541655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9C519B36-C2C8-CA21-4CDE-145640F2BD8E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740892" y="7145805"/>
            <a:ext cx="688975" cy="541655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F19F3F7F-38D3-ADC7-9CF1-6234610726C7}"/>
              </a:ext>
            </a:extLst>
          </p:cNvPr>
          <p:cNvSpPr txBox="1"/>
          <p:nvPr/>
        </p:nvSpPr>
        <p:spPr>
          <a:xfrm>
            <a:off x="9453562" y="4944068"/>
            <a:ext cx="11736070" cy="7092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defTabSz="266700">
              <a:lnSpc>
                <a:spcPct val="114000"/>
              </a:lnSpc>
              <a:spcAft>
                <a:spcPct val="0"/>
              </a:spcAft>
            </a:pPr>
            <a:endParaRPr lang="en-US" sz="4000" dirty="0">
              <a:latin typeface="Times New Roman" panose="02020603050405020304"/>
              <a:ea typeface="SimSun" panose="02010600030101010101" pitchFamily="2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A10D12-A20A-57BE-3EF7-3CE43DF2F3D3}"/>
              </a:ext>
            </a:extLst>
          </p:cNvPr>
          <p:cNvSpPr txBox="1"/>
          <p:nvPr/>
        </p:nvSpPr>
        <p:spPr>
          <a:xfrm>
            <a:off x="11443815" y="5831968"/>
            <a:ext cx="69488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600" dirty="0">
                <a:latin typeface="+mj-lt"/>
              </a:rPr>
              <a:t>HĐ 2: Nghiên cứu kiến thức mới (nền) và đề xuất giải pháp </a:t>
            </a:r>
            <a:endParaRPr lang="en-US" sz="5400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8411BF-E674-326E-434F-2BCE8D95A496}"/>
              </a:ext>
            </a:extLst>
          </p:cNvPr>
          <p:cNvSpPr txBox="1"/>
          <p:nvPr/>
        </p:nvSpPr>
        <p:spPr>
          <a:xfrm>
            <a:off x="11547050" y="5039042"/>
            <a:ext cx="5105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latin typeface="+mj-lt"/>
              </a:rPr>
              <a:t>HĐ 1: Xác định vấn đề </a:t>
            </a:r>
            <a:endParaRPr lang="en-US" sz="3600" dirty="0">
              <a:latin typeface="+mj-lt"/>
            </a:endParaRPr>
          </a:p>
          <a:p>
            <a:endParaRPr lang="en-US" sz="3600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26CACB-2C0F-95A0-3857-69B62BB94019}"/>
              </a:ext>
            </a:extLst>
          </p:cNvPr>
          <p:cNvSpPr txBox="1"/>
          <p:nvPr/>
        </p:nvSpPr>
        <p:spPr>
          <a:xfrm>
            <a:off x="11504130" y="7145805"/>
            <a:ext cx="56411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latin typeface="+mj-lt"/>
              </a:rPr>
              <a:t>HĐ 3: Lựa chọn giải pháp </a:t>
            </a:r>
            <a:endParaRPr lang="en-US" sz="3600" dirty="0">
              <a:latin typeface="+mj-lt"/>
            </a:endParaRPr>
          </a:p>
          <a:p>
            <a:endParaRPr lang="en-US" sz="3600" dirty="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A19E00-9851-20C5-8E41-68141915B416}"/>
              </a:ext>
            </a:extLst>
          </p:cNvPr>
          <p:cNvSpPr txBox="1"/>
          <p:nvPr/>
        </p:nvSpPr>
        <p:spPr>
          <a:xfrm>
            <a:off x="11547049" y="7917347"/>
            <a:ext cx="6701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latin typeface="+mj-lt"/>
              </a:rPr>
              <a:t>HĐ 4: Chế tạo mẫu, thử nghiệm và đánh giá </a:t>
            </a:r>
            <a:endParaRPr lang="en-US" sz="3600" dirty="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29214E-996D-DF1B-7AE0-0A6464C0BD51}"/>
              </a:ext>
            </a:extLst>
          </p:cNvPr>
          <p:cNvSpPr txBox="1"/>
          <p:nvPr/>
        </p:nvSpPr>
        <p:spPr>
          <a:xfrm>
            <a:off x="11389030" y="9133395"/>
            <a:ext cx="7003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latin typeface="+mj-lt"/>
              </a:rPr>
              <a:t>HĐ 5: Chia sẻ, thảo luận, điều chỉnh </a:t>
            </a:r>
            <a:endParaRPr lang="en-US" sz="3600" dirty="0">
              <a:latin typeface="+mj-lt"/>
            </a:endParaRPr>
          </a:p>
          <a:p>
            <a:endParaRPr lang="en-US" sz="36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CEF62-B89A-74FB-50F4-09B34970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59E7BE82-439F-A687-E81C-F382F7FF6DB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ACCCA68-8011-B305-F8A0-DB044D1B7FC3}"/>
              </a:ext>
            </a:extLst>
          </p:cNvPr>
          <p:cNvGrpSpPr/>
          <p:nvPr/>
        </p:nvGrpSpPr>
        <p:grpSpPr>
          <a:xfrm>
            <a:off x="5486400" y="-419100"/>
            <a:ext cx="12801600" cy="1905000"/>
            <a:chOff x="9120" y="-660"/>
            <a:chExt cx="20160" cy="3000"/>
          </a:xfrm>
        </p:grpSpPr>
        <p:cxnSp>
          <p:nvCxnSpPr>
            <p:cNvPr id="117" name="Google Shape;117;p3">
              <a:extLst>
                <a:ext uri="{FF2B5EF4-FFF2-40B4-BE49-F238E27FC236}">
                  <a16:creationId xmlns:a16="http://schemas.microsoft.com/office/drawing/2014/main" id="{F4BF2B64-C0FA-EB5D-9289-BB16BD3D5191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9120" y="222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17;p3">
              <a:extLst>
                <a:ext uri="{FF2B5EF4-FFF2-40B4-BE49-F238E27FC236}">
                  <a16:creationId xmlns:a16="http://schemas.microsoft.com/office/drawing/2014/main" id="{39CAE157-F829-8366-149C-B45C1DBB3090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 flipV="1">
              <a:off x="912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0DC21B5-BE59-ED8D-925D-913D1BBD5780}"/>
              </a:ext>
            </a:extLst>
          </p:cNvPr>
          <p:cNvGrpSpPr/>
          <p:nvPr/>
        </p:nvGrpSpPr>
        <p:grpSpPr>
          <a:xfrm>
            <a:off x="228600" y="114935"/>
            <a:ext cx="5485765" cy="1286510"/>
            <a:chOff x="27600" y="432"/>
            <a:chExt cx="8639" cy="2026"/>
          </a:xfrm>
        </p:grpSpPr>
        <p:sp>
          <p:nvSpPr>
            <p:cNvPr id="103" name="Freeform 61">
              <a:extLst>
                <a:ext uri="{FF2B5EF4-FFF2-40B4-BE49-F238E27FC236}">
                  <a16:creationId xmlns:a16="http://schemas.microsoft.com/office/drawing/2014/main" id="{6135967D-F862-5BF4-64E0-8545B35FC3F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27600" y="432"/>
              <a:ext cx="8639" cy="2026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 Box 1">
              <a:extLst>
                <a:ext uri="{FF2B5EF4-FFF2-40B4-BE49-F238E27FC236}">
                  <a16:creationId xmlns:a16="http://schemas.microsoft.com/office/drawing/2014/main" id="{139E2EEF-D3F2-DC61-BEBC-E6563251614C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27960" y="67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EEC18091-86AD-4687-A089-37D82A00001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65" y="200025"/>
            <a:ext cx="1133475" cy="1133475"/>
          </a:xfrm>
          <a:prstGeom prst="rect">
            <a:avLst/>
          </a:prstGeom>
        </p:spPr>
      </p:pic>
      <p:sp>
        <p:nvSpPr>
          <p:cNvPr id="69" name="Text Box 68">
            <a:extLst>
              <a:ext uri="{FF2B5EF4-FFF2-40B4-BE49-F238E27FC236}">
                <a16:creationId xmlns:a16="http://schemas.microsoft.com/office/drawing/2014/main" id="{4F4337FC-F4CE-3444-C4C7-3D88314FD66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579610" y="2667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endParaRPr lang="en-US" sz="7200" b="1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232EB52-B4EF-15EC-0CA1-053165A199C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022975" y="335396"/>
            <a:ext cx="1226502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vi-VN" sz="4500" b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Bài 21: Khối hộp lập phương, khối hộp chữ nhật </a:t>
            </a:r>
            <a:endParaRPr lang="en-US" sz="45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C09FBB85-6748-B418-81FE-867DC5C014A8}"/>
              </a:ext>
            </a:extLst>
          </p:cNvPr>
          <p:cNvSpPr txBox="1"/>
          <p:nvPr/>
        </p:nvSpPr>
        <p:spPr>
          <a:xfrm>
            <a:off x="535940" y="1714500"/>
            <a:ext cx="17230725" cy="738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l" defTabSz="266700">
              <a:lnSpc>
                <a:spcPct val="114000"/>
              </a:lnSpc>
              <a:spcAft>
                <a:spcPts val="1000"/>
              </a:spcAft>
            </a:pPr>
            <a:r>
              <a:rPr lang="en-US" sz="40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Times New Roman" panose="02020603050405020304"/>
                <a:ea typeface="Calibri" panose="020F0502020204030204"/>
              </a:rPr>
              <a:t>2.</a:t>
            </a:r>
            <a:r>
              <a:rPr lang="vi-VN" sz="40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Times New Roman" panose="02020603050405020304"/>
                <a:ea typeface="Calibri" panose="020F0502020204030204"/>
              </a:rPr>
              <a:t>2 Một số bài dạy STEM hình học lớp 3, bộ sách kết nối tri thức với cuộc sống</a:t>
            </a:r>
            <a:endParaRPr lang="en-US" sz="40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D482F3ED-F068-E67D-8AB6-4615302913E6}"/>
              </a:ext>
            </a:extLst>
          </p:cNvPr>
          <p:cNvSpPr txBox="1"/>
          <p:nvPr/>
        </p:nvSpPr>
        <p:spPr>
          <a:xfrm>
            <a:off x="838200" y="2260872"/>
            <a:ext cx="15497175" cy="6450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0000"/>
              </a:lnSpc>
            </a:pPr>
            <a:r>
              <a:rPr lang="vi-VN" altLang="en-US" sz="3200" dirty="0">
                <a:latin typeface="Times New Roman" panose="02020603050405020304" charset="0"/>
                <a:cs typeface="Times New Roman" panose="02020603050405020304" charset="0"/>
              </a:rPr>
              <a:t>2.2.1 </a:t>
            </a:r>
            <a:r>
              <a:rPr lang="vi-VN" altLang="en-US" sz="32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Bài 21: Khối hộp lập phương, khối hộp chữ nhật </a:t>
            </a:r>
            <a:r>
              <a:rPr lang="vi-VN" altLang="en-US" sz="3200" dirty="0">
                <a:latin typeface="Times New Roman" panose="02020603050405020304" charset="0"/>
                <a:cs typeface="Times New Roman" panose="02020603050405020304" charset="0"/>
              </a:rPr>
              <a:t>( Tiết 1) ( Tập 1/SGK Toán 3 - bộ Kết nối tri thức với cuộc sống)</a:t>
            </a:r>
          </a:p>
          <a:p>
            <a:pPr algn="ctr">
              <a:lnSpc>
                <a:spcPct val="140000"/>
              </a:lnSpc>
            </a:pPr>
            <a:r>
              <a:rPr lang="vi-VN" altLang="en-US" sz="3600" dirty="0">
                <a:latin typeface="Times New Roman" panose="02020603050405020304" charset="0"/>
                <a:cs typeface="Times New Roman" panose="02020603050405020304" charset="0"/>
              </a:rPr>
              <a:t>TÊN BÀI HỌC STEM: </a:t>
            </a:r>
            <a:r>
              <a:rPr lang="vi-VN" altLang="en-US" sz="3600" b="1" dirty="0">
                <a:latin typeface="Times New Roman" panose="02020603050405020304" charset="0"/>
                <a:cs typeface="Times New Roman" panose="02020603050405020304" charset="0"/>
              </a:rPr>
              <a:t>THIẾT KẾ, CHẾ TẠO LỒNG ĐÈN</a:t>
            </a:r>
          </a:p>
          <a:p>
            <a:pPr algn="ctr">
              <a:lnSpc>
                <a:spcPct val="140000"/>
              </a:lnSpc>
            </a:pPr>
            <a:endParaRPr lang="vi-VN" altLang="en-US" sz="45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82815F-D458-8DE6-3C75-812B310233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8597" y="4473056"/>
            <a:ext cx="17526000" cy="561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777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/>
          <p:cNvSpPr/>
          <p:nvPr>
            <p:custDataLst>
              <p:tags r:id="rId1"/>
            </p:custDataLst>
          </p:nvPr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22" name="Group 121"/>
          <p:cNvGrpSpPr/>
          <p:nvPr/>
        </p:nvGrpSpPr>
        <p:grpSpPr>
          <a:xfrm>
            <a:off x="5486400" y="-419100"/>
            <a:ext cx="12801600" cy="1905000"/>
            <a:chOff x="9120" y="-660"/>
            <a:chExt cx="20160" cy="3000"/>
          </a:xfrm>
        </p:grpSpPr>
        <p:cxnSp>
          <p:nvCxnSpPr>
            <p:cNvPr id="117" name="Google Shape;117;p3"/>
            <p:cNvCxnSpPr/>
            <p:nvPr>
              <p:custDataLst>
                <p:tags r:id="rId7"/>
              </p:custDataLst>
            </p:nvPr>
          </p:nvCxnSpPr>
          <p:spPr>
            <a:xfrm>
              <a:off x="9120" y="222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17;p3"/>
            <p:cNvCxnSpPr/>
            <p:nvPr>
              <p:custDataLst>
                <p:tags r:id="rId8"/>
              </p:custDataLst>
            </p:nvPr>
          </p:nvCxnSpPr>
          <p:spPr>
            <a:xfrm flipV="1">
              <a:off x="912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" name="Group 120"/>
          <p:cNvGrpSpPr/>
          <p:nvPr/>
        </p:nvGrpSpPr>
        <p:grpSpPr>
          <a:xfrm>
            <a:off x="228600" y="114935"/>
            <a:ext cx="5485765" cy="1286510"/>
            <a:chOff x="27600" y="432"/>
            <a:chExt cx="8639" cy="2026"/>
          </a:xfrm>
        </p:grpSpPr>
        <p:sp>
          <p:nvSpPr>
            <p:cNvPr id="103" name="Freeform 61"/>
            <p:cNvSpPr/>
            <p:nvPr>
              <p:custDataLst>
                <p:tags r:id="rId5"/>
              </p:custDataLst>
            </p:nvPr>
          </p:nvSpPr>
          <p:spPr>
            <a:xfrm rot="10800000">
              <a:off x="27600" y="432"/>
              <a:ext cx="8639" cy="2026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 Box 1"/>
            <p:cNvSpPr txBox="1"/>
            <p:nvPr>
              <p:custDataLst>
                <p:tags r:id="rId6"/>
              </p:custDataLst>
            </p:nvPr>
          </p:nvSpPr>
          <p:spPr>
            <a:xfrm>
              <a:off x="27960" y="67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36" name="Picture 3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65" y="200025"/>
            <a:ext cx="1133475" cy="1133475"/>
          </a:xfrm>
          <a:prstGeom prst="rect">
            <a:avLst/>
          </a:prstGeom>
        </p:spPr>
      </p:pic>
      <p:sp>
        <p:nvSpPr>
          <p:cNvPr id="69" name="Text Box 68"/>
          <p:cNvSpPr txBox="1"/>
          <p:nvPr>
            <p:custDataLst>
              <p:tags r:id="rId3"/>
            </p:custDataLst>
          </p:nvPr>
        </p:nvSpPr>
        <p:spPr>
          <a:xfrm>
            <a:off x="9579610" y="2667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endParaRPr lang="en-US" sz="7200" b="1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>
            <p:custDataLst>
              <p:tags r:id="rId4"/>
            </p:custDataLst>
          </p:nvPr>
        </p:nvSpPr>
        <p:spPr>
          <a:xfrm>
            <a:off x="6022975" y="335396"/>
            <a:ext cx="1226502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vi-VN" sz="4500" b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Bài 21: Khối hộp lập phương, khối hộp chữ nhật </a:t>
            </a:r>
            <a:endParaRPr lang="en-US" sz="45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535940" y="1714500"/>
            <a:ext cx="17230725" cy="738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l" defTabSz="266700">
              <a:lnSpc>
                <a:spcPct val="114000"/>
              </a:lnSpc>
              <a:spcAft>
                <a:spcPts val="1000"/>
              </a:spcAft>
            </a:pPr>
            <a:r>
              <a:rPr lang="en-US" sz="40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Times New Roman" panose="02020603050405020304"/>
                <a:ea typeface="Calibri" panose="020F0502020204030204"/>
              </a:rPr>
              <a:t>2.</a:t>
            </a:r>
            <a:r>
              <a:rPr lang="vi-VN" sz="40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Times New Roman" panose="02020603050405020304"/>
                <a:ea typeface="Calibri" panose="020F0502020204030204"/>
              </a:rPr>
              <a:t>2 Một số bài dạy STEM hình học lớp 3, bộ sách kết nối tri thức với cuộc sống</a:t>
            </a:r>
            <a:endParaRPr lang="en-US" sz="40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90600" y="2560139"/>
            <a:ext cx="15497175" cy="6450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0000"/>
              </a:lnSpc>
            </a:pPr>
            <a:r>
              <a:rPr lang="vi-VN" altLang="en-US" sz="3200" dirty="0">
                <a:latin typeface="Times New Roman" panose="02020603050405020304" charset="0"/>
                <a:cs typeface="Times New Roman" panose="02020603050405020304" charset="0"/>
              </a:rPr>
              <a:t>2.2.1 </a:t>
            </a:r>
            <a:r>
              <a:rPr lang="vi-VN" altLang="en-US" sz="32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Bài 21: Khối hộp lập phương, khối hộp chữ nhật </a:t>
            </a:r>
            <a:r>
              <a:rPr lang="vi-VN" altLang="en-US" sz="3200" dirty="0">
                <a:latin typeface="Times New Roman" panose="02020603050405020304" charset="0"/>
                <a:cs typeface="Times New Roman" panose="02020603050405020304" charset="0"/>
              </a:rPr>
              <a:t>( Tiết 1) ( Tập 1/SGK Toán 3 - bộ Kết nối tri thức với cuộc sống)</a:t>
            </a:r>
          </a:p>
          <a:p>
            <a:pPr algn="ctr">
              <a:lnSpc>
                <a:spcPct val="140000"/>
              </a:lnSpc>
            </a:pPr>
            <a:r>
              <a:rPr lang="vi-VN" altLang="en-US" sz="3600" dirty="0">
                <a:latin typeface="Times New Roman" panose="02020603050405020304" charset="0"/>
                <a:cs typeface="Times New Roman" panose="02020603050405020304" charset="0"/>
              </a:rPr>
              <a:t>TÊN BÀI HỌC STEM: </a:t>
            </a:r>
            <a:r>
              <a:rPr lang="vi-VN" altLang="en-US" sz="3600" b="1" dirty="0">
                <a:latin typeface="Times New Roman" panose="02020603050405020304" charset="0"/>
                <a:cs typeface="Times New Roman" panose="02020603050405020304" charset="0"/>
              </a:rPr>
              <a:t>THIẾT KẾ, CHẾ TẠO LỒNG ĐÈN</a:t>
            </a:r>
          </a:p>
          <a:p>
            <a:pPr>
              <a:lnSpc>
                <a:spcPct val="140000"/>
              </a:lnSpc>
            </a:pPr>
            <a:r>
              <a:rPr lang="vi-VN" altLang="en-US" sz="3600" b="1" dirty="0">
                <a:latin typeface="Times New Roman" panose="02020603050405020304" charset="0"/>
                <a:cs typeface="Times New Roman" panose="02020603050405020304" charset="0"/>
              </a:rPr>
              <a:t>Sản phẩm minh họa</a:t>
            </a:r>
          </a:p>
          <a:p>
            <a:pPr algn="ctr">
              <a:lnSpc>
                <a:spcPct val="140000"/>
              </a:lnSpc>
            </a:pPr>
            <a:endParaRPr lang="vi-VN" altLang="en-US" sz="45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84FDC1-47D9-0C0A-FCFA-29E3C0C60313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6" r="10730" b="17736"/>
          <a:stretch>
            <a:fillRect/>
          </a:stretch>
        </p:blipFill>
        <p:spPr bwMode="auto">
          <a:xfrm>
            <a:off x="6476682" y="4689283"/>
            <a:ext cx="5334635" cy="526232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D43B5-4389-7D9C-B2C1-419670F2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1EE58DCA-4C74-83C4-CDAB-7C4F1F05D68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23B9A74-6135-40FB-3215-F7744E543301}"/>
              </a:ext>
            </a:extLst>
          </p:cNvPr>
          <p:cNvGrpSpPr/>
          <p:nvPr/>
        </p:nvGrpSpPr>
        <p:grpSpPr>
          <a:xfrm>
            <a:off x="5486400" y="-419100"/>
            <a:ext cx="12801600" cy="1905000"/>
            <a:chOff x="9120" y="-660"/>
            <a:chExt cx="20160" cy="3000"/>
          </a:xfrm>
        </p:grpSpPr>
        <p:cxnSp>
          <p:nvCxnSpPr>
            <p:cNvPr id="117" name="Google Shape;117;p3">
              <a:extLst>
                <a:ext uri="{FF2B5EF4-FFF2-40B4-BE49-F238E27FC236}">
                  <a16:creationId xmlns:a16="http://schemas.microsoft.com/office/drawing/2014/main" id="{86E0C098-4B81-F167-9D0A-2B3BC8E33D64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9120" y="222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17;p3">
              <a:extLst>
                <a:ext uri="{FF2B5EF4-FFF2-40B4-BE49-F238E27FC236}">
                  <a16:creationId xmlns:a16="http://schemas.microsoft.com/office/drawing/2014/main" id="{3CBB654A-2D24-772E-06F3-7FB4567F95F3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 flipV="1">
              <a:off x="912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15E7FB4-892D-EE43-2192-FB9713A9AC6F}"/>
              </a:ext>
            </a:extLst>
          </p:cNvPr>
          <p:cNvGrpSpPr/>
          <p:nvPr/>
        </p:nvGrpSpPr>
        <p:grpSpPr>
          <a:xfrm>
            <a:off x="228600" y="114935"/>
            <a:ext cx="5485765" cy="1286510"/>
            <a:chOff x="27600" y="432"/>
            <a:chExt cx="8639" cy="2026"/>
          </a:xfrm>
        </p:grpSpPr>
        <p:sp>
          <p:nvSpPr>
            <p:cNvPr id="103" name="Freeform 61">
              <a:extLst>
                <a:ext uri="{FF2B5EF4-FFF2-40B4-BE49-F238E27FC236}">
                  <a16:creationId xmlns:a16="http://schemas.microsoft.com/office/drawing/2014/main" id="{1BADC8B7-10D9-182C-EC38-D7D2BE537F3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27600" y="432"/>
              <a:ext cx="8639" cy="2026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 Box 1">
              <a:extLst>
                <a:ext uri="{FF2B5EF4-FFF2-40B4-BE49-F238E27FC236}">
                  <a16:creationId xmlns:a16="http://schemas.microsoft.com/office/drawing/2014/main" id="{2D809CA1-396F-62CB-0F21-4283DE8D5875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27960" y="67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196CDAC8-B471-C53A-EE65-B06AD2FC4D5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65" y="200025"/>
            <a:ext cx="1133475" cy="1133475"/>
          </a:xfrm>
          <a:prstGeom prst="rect">
            <a:avLst/>
          </a:prstGeom>
        </p:spPr>
      </p:pic>
      <p:sp>
        <p:nvSpPr>
          <p:cNvPr id="69" name="Text Box 68">
            <a:extLst>
              <a:ext uri="{FF2B5EF4-FFF2-40B4-BE49-F238E27FC236}">
                <a16:creationId xmlns:a16="http://schemas.microsoft.com/office/drawing/2014/main" id="{12ACC4B3-9664-6A4F-726A-4856A236738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579610" y="2667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endParaRPr lang="en-US" sz="7200" b="1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50712A1-0C6D-CA1D-875A-1D1759BE852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926888" y="47388"/>
            <a:ext cx="1226502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Bài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52: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Diện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tích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hình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chữ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nhật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,  </a:t>
            </a:r>
            <a:endParaRPr lang="vi-VN" sz="45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diện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tích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hình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vuông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AC76759D-E7EB-B8B0-1C85-B549A2280314}"/>
              </a:ext>
            </a:extLst>
          </p:cNvPr>
          <p:cNvSpPr txBox="1"/>
          <p:nvPr/>
        </p:nvSpPr>
        <p:spPr>
          <a:xfrm>
            <a:off x="528637" y="1540112"/>
            <a:ext cx="17230725" cy="738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l" defTabSz="266700">
              <a:lnSpc>
                <a:spcPct val="114000"/>
              </a:lnSpc>
              <a:spcAft>
                <a:spcPts val="1000"/>
              </a:spcAft>
            </a:pPr>
            <a:r>
              <a:rPr lang="en-US" sz="40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Times New Roman" panose="02020603050405020304"/>
                <a:ea typeface="Calibri" panose="020F0502020204030204"/>
              </a:rPr>
              <a:t>2.</a:t>
            </a:r>
            <a:r>
              <a:rPr lang="vi-VN" sz="40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Times New Roman" panose="02020603050405020304"/>
                <a:ea typeface="Calibri" panose="020F0502020204030204"/>
              </a:rPr>
              <a:t>2 Một số bài dạy STEM hình học lớp 3, bộ sách kết nối tri thức với cuộc sống</a:t>
            </a:r>
            <a:endParaRPr lang="en-US" sz="40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D45F8151-DBBD-7E03-58C0-74D85A0CE143}"/>
              </a:ext>
            </a:extLst>
          </p:cNvPr>
          <p:cNvSpPr txBox="1"/>
          <p:nvPr/>
        </p:nvSpPr>
        <p:spPr>
          <a:xfrm>
            <a:off x="243114" y="2096628"/>
            <a:ext cx="18288000" cy="6450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0000"/>
              </a:lnSpc>
            </a:pPr>
            <a:r>
              <a:rPr lang="vi-VN" altLang="en-US" sz="3200" dirty="0">
                <a:latin typeface="Times New Roman" panose="02020603050405020304" charset="0"/>
                <a:cs typeface="Times New Roman" panose="02020603050405020304" charset="0"/>
              </a:rPr>
              <a:t>2.2.2 </a:t>
            </a:r>
            <a:r>
              <a:rPr lang="vi-VN" altLang="en-US" sz="32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Bài 52: Diện tích hình chữ nhật,  diện tích hình vuông </a:t>
            </a:r>
            <a:r>
              <a:rPr lang="vi-VN" altLang="en-US" sz="3200" dirty="0">
                <a:latin typeface="Times New Roman" panose="02020603050405020304" charset="0"/>
                <a:cs typeface="Times New Roman" panose="02020603050405020304" charset="0"/>
              </a:rPr>
              <a:t>(Tiết 1) (Tập 2/ SGK Toán 3 - bộ Kết nối tri thức với cuộc sống )</a:t>
            </a:r>
          </a:p>
          <a:p>
            <a:pPr algn="ctr">
              <a:lnSpc>
                <a:spcPct val="140000"/>
              </a:lnSpc>
            </a:pPr>
            <a:r>
              <a:rPr lang="vi-VN" altLang="en-US" sz="3600" dirty="0">
                <a:latin typeface="Times New Roman" panose="02020603050405020304" charset="0"/>
                <a:cs typeface="Times New Roman" panose="02020603050405020304" charset="0"/>
              </a:rPr>
              <a:t>TÊN BÀI HỌC STEM: </a:t>
            </a:r>
            <a:r>
              <a:rPr lang="vi-VN" altLang="en-US" sz="3600" b="1" dirty="0">
                <a:latin typeface="Times New Roman" panose="02020603050405020304" charset="0"/>
                <a:cs typeface="Times New Roman" panose="02020603050405020304" charset="0"/>
              </a:rPr>
              <a:t>THIẾT KẾ VƯỜN CÂY MINI CHO KHU VƯỜN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5A8BC6-D0B3-D913-4C0F-2D94288F93E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33292" y="4168351"/>
            <a:ext cx="17607008" cy="585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56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72A5-BB6C-92D5-68D5-9B3C6053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7E458224-0DD1-C0CA-53DA-944763216E8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2980C89-1313-E738-D27C-DA6904ADF315}"/>
              </a:ext>
            </a:extLst>
          </p:cNvPr>
          <p:cNvGrpSpPr/>
          <p:nvPr/>
        </p:nvGrpSpPr>
        <p:grpSpPr>
          <a:xfrm>
            <a:off x="5486400" y="-419100"/>
            <a:ext cx="12801600" cy="1905000"/>
            <a:chOff x="9120" y="-660"/>
            <a:chExt cx="20160" cy="3000"/>
          </a:xfrm>
        </p:grpSpPr>
        <p:cxnSp>
          <p:nvCxnSpPr>
            <p:cNvPr id="117" name="Google Shape;117;p3">
              <a:extLst>
                <a:ext uri="{FF2B5EF4-FFF2-40B4-BE49-F238E27FC236}">
                  <a16:creationId xmlns:a16="http://schemas.microsoft.com/office/drawing/2014/main" id="{6907A588-CC8B-5C14-83FC-969A5D7AC1D8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9120" y="2220"/>
              <a:ext cx="20160" cy="120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17;p3">
              <a:extLst>
                <a:ext uri="{FF2B5EF4-FFF2-40B4-BE49-F238E27FC236}">
                  <a16:creationId xmlns:a16="http://schemas.microsoft.com/office/drawing/2014/main" id="{BF714600-BAFA-7970-6A97-F4584E0DEF71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 flipV="1">
              <a:off x="9120" y="-660"/>
              <a:ext cx="1080" cy="2895"/>
            </a:xfrm>
            <a:prstGeom prst="straightConnector1">
              <a:avLst/>
            </a:prstGeom>
            <a:noFill/>
            <a:ln w="38100" cap="flat" cmpd="sng">
              <a:solidFill>
                <a:srgbClr val="004AA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D09D031-921B-C45C-76E7-0DD0593636E9}"/>
              </a:ext>
            </a:extLst>
          </p:cNvPr>
          <p:cNvGrpSpPr/>
          <p:nvPr/>
        </p:nvGrpSpPr>
        <p:grpSpPr>
          <a:xfrm>
            <a:off x="228600" y="114935"/>
            <a:ext cx="5485765" cy="1286510"/>
            <a:chOff x="27600" y="432"/>
            <a:chExt cx="8639" cy="2026"/>
          </a:xfrm>
        </p:grpSpPr>
        <p:sp>
          <p:nvSpPr>
            <p:cNvPr id="103" name="Freeform 61">
              <a:extLst>
                <a:ext uri="{FF2B5EF4-FFF2-40B4-BE49-F238E27FC236}">
                  <a16:creationId xmlns:a16="http://schemas.microsoft.com/office/drawing/2014/main" id="{087D2294-5D73-54EB-6A11-3B496A12413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27600" y="432"/>
              <a:ext cx="8639" cy="2026"/>
            </a:xfrm>
            <a:custGeom>
              <a:avLst/>
              <a:gdLst>
                <a:gd name="connsiteX0" fmla="*/ 814208 w 9089767"/>
                <a:gd name="connsiteY0" fmla="*/ 0 h 1100840"/>
                <a:gd name="connsiteX1" fmla="*/ 9089767 w 9089767"/>
                <a:gd name="connsiteY1" fmla="*/ 0 h 1100840"/>
                <a:gd name="connsiteX2" fmla="*/ 9089767 w 9089767"/>
                <a:gd name="connsiteY2" fmla="*/ 1100840 h 1100840"/>
                <a:gd name="connsiteX3" fmla="*/ 0 w 9089767"/>
                <a:gd name="connsiteY3" fmla="*/ 1100840 h 110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89767" h="1100840">
                  <a:moveTo>
                    <a:pt x="814208" y="0"/>
                  </a:moveTo>
                  <a:lnTo>
                    <a:pt x="9089767" y="0"/>
                  </a:lnTo>
                  <a:lnTo>
                    <a:pt x="9089767" y="1100840"/>
                  </a:lnTo>
                  <a:lnTo>
                    <a:pt x="0" y="1100840"/>
                  </a:lnTo>
                  <a:close/>
                </a:path>
              </a:pathLst>
            </a:custGeom>
            <a:solidFill>
              <a:srgbClr val="0082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 Box 1">
              <a:extLst>
                <a:ext uri="{FF2B5EF4-FFF2-40B4-BE49-F238E27FC236}">
                  <a16:creationId xmlns:a16="http://schemas.microsoft.com/office/drawing/2014/main" id="{2F8940D1-96B5-7D74-A82A-A39E34A5745E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27960" y="671"/>
              <a:ext cx="7180" cy="129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BỘ GIÁO DỤC VÀ ĐÀO TẠO</a:t>
              </a:r>
            </a:p>
            <a:p>
              <a:pPr algn="ctr">
                <a:lnSpc>
                  <a:spcPct val="150000"/>
                </a:lnSpc>
              </a:pPr>
              <a:r>
                <a:rPr lang="en-US" sz="2000" b="1">
                  <a:ln w="15875"/>
                  <a:solidFill>
                    <a:schemeClr val="bg1"/>
                  </a:solidFill>
                  <a:effectLst/>
                  <a:latin typeface="Times New Roman" panose="02020603050405020304" charset="0"/>
                  <a:cs typeface="Times New Roman" panose="02020603050405020304" charset="0"/>
                </a:rPr>
                <a:t>TRƯỜNG ĐẠI HỌC QUY NHƠN</a:t>
              </a: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38D0767C-E2AF-35A2-B20E-59B788A45C8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46" b="100000" l="0" r="100000">
                        <a14:foregroundMark x1="38323" y1="8269" x2="4387" y2="62403"/>
                        <a14:foregroundMark x1="11871" y1="24160" x2="94452" y2="37468"/>
                        <a14:foregroundMark x1="85290" y1="18605" x2="32387" y2="6848"/>
                        <a14:foregroundMark x1="15355" y1="21059" x2="31871" y2="91602"/>
                        <a14:foregroundMark x1="32387" y1="91602" x2="97032" y2="52067"/>
                        <a14:foregroundMark x1="96129" y1="51938" x2="51613" y2="93928"/>
                        <a14:foregroundMark x1="52258" y1="93928" x2="77806" y2="87984"/>
                        <a14:foregroundMark x1="80774" y1="76744" x2="89419" y2="27519"/>
                        <a14:foregroundMark x1="32774" y1="7752" x2="9161" y2="74677"/>
                        <a14:foregroundMark x1="8903" y1="66537" x2="50710" y2="97416"/>
                        <a14:foregroundMark x1="11742" y1="51163" x2="25677" y2="12403"/>
                        <a14:foregroundMark x1="21548" y1="12403" x2="5032" y2="45866"/>
                        <a14:backgroundMark x1="5548" y1="9819" x2="16774" y2="5943"/>
                        <a14:backgroundMark x1="15097" y1="7106" x2="645" y2="16279"/>
                        <a14:backgroundMark x1="85548" y1="6202" x2="99742" y2="16925"/>
                        <a14:backgroundMark x1="98194" y1="13566" x2="97548" y2="77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965" y="200025"/>
            <a:ext cx="1133475" cy="1133475"/>
          </a:xfrm>
          <a:prstGeom prst="rect">
            <a:avLst/>
          </a:prstGeom>
        </p:spPr>
      </p:pic>
      <p:sp>
        <p:nvSpPr>
          <p:cNvPr id="69" name="Text Box 68">
            <a:extLst>
              <a:ext uri="{FF2B5EF4-FFF2-40B4-BE49-F238E27FC236}">
                <a16:creationId xmlns:a16="http://schemas.microsoft.com/office/drawing/2014/main" id="{0EFF2AE0-C755-3876-DEE2-047937A4B1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579610" y="266700"/>
            <a:ext cx="453580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endParaRPr lang="en-US" sz="7200" b="1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3614A60F-D559-3B8F-1B88-F44A450FD60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926888" y="47388"/>
            <a:ext cx="12265025" cy="9499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Bài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52: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Diện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tích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hình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chữ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nhật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,  </a:t>
            </a:r>
            <a:endParaRPr lang="vi-VN" sz="4500" b="1" dirty="0">
              <a:ln w="15875"/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diện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tích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hình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4500" b="1" dirty="0" err="1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vuông</a:t>
            </a:r>
            <a:r>
              <a:rPr lang="en-US" sz="4500" b="1" dirty="0">
                <a:ln w="15875"/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73CE1DE3-BDE0-C800-C9E4-BC7B617FD253}"/>
              </a:ext>
            </a:extLst>
          </p:cNvPr>
          <p:cNvSpPr txBox="1"/>
          <p:nvPr/>
        </p:nvSpPr>
        <p:spPr>
          <a:xfrm>
            <a:off x="535940" y="1714500"/>
            <a:ext cx="17230725" cy="738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l" defTabSz="266700">
              <a:lnSpc>
                <a:spcPct val="114000"/>
              </a:lnSpc>
              <a:spcAft>
                <a:spcPts val="1000"/>
              </a:spcAft>
            </a:pPr>
            <a:r>
              <a:rPr lang="en-US" sz="40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Times New Roman" panose="02020603050405020304"/>
                <a:ea typeface="Calibri" panose="020F0502020204030204"/>
              </a:rPr>
              <a:t>2.</a:t>
            </a:r>
            <a:r>
              <a:rPr lang="vi-VN" sz="40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/>
                <a:latin typeface="Times New Roman" panose="02020603050405020304"/>
                <a:ea typeface="Calibri" panose="020F0502020204030204"/>
              </a:rPr>
              <a:t>2 Một số bài dạy STEM hình học lớp 3, bộ sách kết nối tri thức với cuộc sống</a:t>
            </a:r>
            <a:endParaRPr lang="en-US" sz="40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ffectLst/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20C1CB45-DB98-6613-EAA2-983C62F51B4C}"/>
              </a:ext>
            </a:extLst>
          </p:cNvPr>
          <p:cNvSpPr txBox="1"/>
          <p:nvPr/>
        </p:nvSpPr>
        <p:spPr>
          <a:xfrm>
            <a:off x="254000" y="2401605"/>
            <a:ext cx="18288000" cy="6450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40000"/>
              </a:lnSpc>
            </a:pPr>
            <a:r>
              <a:rPr lang="vi-VN" altLang="en-US" sz="3200" dirty="0">
                <a:latin typeface="Times New Roman" panose="02020603050405020304" charset="0"/>
                <a:cs typeface="Times New Roman" panose="02020603050405020304" charset="0"/>
              </a:rPr>
              <a:t>2.2.2 </a:t>
            </a:r>
            <a:r>
              <a:rPr lang="vi-VN" altLang="en-US" sz="32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Bài 52: Diện tích hình chữ nhật,  diện tích hình vuông </a:t>
            </a:r>
            <a:r>
              <a:rPr lang="vi-VN" altLang="en-US" sz="3200" dirty="0">
                <a:latin typeface="Times New Roman" panose="02020603050405020304" charset="0"/>
                <a:cs typeface="Times New Roman" panose="02020603050405020304" charset="0"/>
              </a:rPr>
              <a:t>(Tiết 1) (Tập 2/ SGK Toán 3 - bộ Kết nối tri thức với cuộc sống )</a:t>
            </a:r>
          </a:p>
          <a:p>
            <a:pPr algn="ctr">
              <a:lnSpc>
                <a:spcPct val="140000"/>
              </a:lnSpc>
            </a:pPr>
            <a:r>
              <a:rPr lang="vi-VN" altLang="en-US" sz="3600" dirty="0">
                <a:latin typeface="Times New Roman" panose="02020603050405020304" charset="0"/>
                <a:cs typeface="Times New Roman" panose="02020603050405020304" charset="0"/>
              </a:rPr>
              <a:t>TÊN BÀI HỌC STEM: </a:t>
            </a:r>
            <a:r>
              <a:rPr lang="vi-VN" altLang="en-US" sz="3600" b="1" dirty="0">
                <a:latin typeface="Times New Roman" panose="02020603050405020304" charset="0"/>
                <a:cs typeface="Times New Roman" panose="02020603050405020304" charset="0"/>
              </a:rPr>
              <a:t>THIẾT KẾ VƯỜN CÂY MINI CHO KHU VƯỜN</a:t>
            </a:r>
          </a:p>
          <a:p>
            <a:pPr>
              <a:lnSpc>
                <a:spcPct val="140000"/>
              </a:lnSpc>
            </a:pPr>
            <a:r>
              <a:rPr lang="vi-VN" altLang="en-US" sz="3600" b="1" dirty="0">
                <a:latin typeface="Times New Roman" panose="02020603050405020304" charset="0"/>
                <a:cs typeface="Times New Roman" panose="02020603050405020304" charset="0"/>
              </a:rPr>
              <a:t>Sản phẩm minh họa:</a:t>
            </a:r>
            <a:endParaRPr lang="vi-VN" altLang="en-US" sz="45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8AB2A3-EA59-658C-5F62-7449473CDA47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" b="12582"/>
          <a:stretch>
            <a:fillRect/>
          </a:stretch>
        </p:blipFill>
        <p:spPr bwMode="auto">
          <a:xfrm>
            <a:off x="5486400" y="4723600"/>
            <a:ext cx="8534400" cy="55633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86588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85813" y="-158270"/>
            <a:ext cx="19659626" cy="6857990"/>
          </a:xfrm>
          <a:prstGeom prst="rect">
            <a:avLst/>
          </a:prstGeom>
          <a:solidFill>
            <a:srgbClr val="19598D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12772390" y="3027680"/>
            <a:ext cx="4027805" cy="5802630"/>
            <a:chOff x="14912" y="6337"/>
            <a:chExt cx="5891" cy="6918"/>
          </a:xfrm>
        </p:grpSpPr>
        <p:sp>
          <p:nvSpPr>
            <p:cNvPr id="3" name="AutoShape 3"/>
            <p:cNvSpPr/>
            <p:nvPr/>
          </p:nvSpPr>
          <p:spPr>
            <a:xfrm>
              <a:off x="15182" y="6592"/>
              <a:ext cx="5621" cy="6663"/>
            </a:xfrm>
            <a:prstGeom prst="rect">
              <a:avLst/>
            </a:prstGeom>
            <a:solidFill>
              <a:srgbClr val="000000">
                <a:alpha val="33725"/>
              </a:srgbClr>
            </a:solidFill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4912" y="6337"/>
              <a:ext cx="5621" cy="6646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86" y="6338"/>
              <a:ext cx="4874" cy="1062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US" sz="5400" b="1"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charset="0"/>
                  <a:cs typeface="Times New Roman" panose="02020603050405020304" charset="0"/>
                </a:rPr>
                <a:t>03</a:t>
              </a: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5286" y="7356"/>
              <a:ext cx="4874" cy="0"/>
            </a:xfrm>
            <a:prstGeom prst="line">
              <a:avLst/>
            </a:prstGeom>
            <a:ln w="1905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5" name="Freeform 25"/>
          <p:cNvSpPr/>
          <p:nvPr/>
        </p:nvSpPr>
        <p:spPr>
          <a:xfrm>
            <a:off x="14244077" y="923192"/>
            <a:ext cx="844062" cy="211015"/>
          </a:xfrm>
          <a:custGeom>
            <a:avLst/>
            <a:gdLst/>
            <a:ahLst/>
            <a:cxnLst/>
            <a:rect l="l" t="t" r="r" b="b"/>
            <a:pathLst>
              <a:path w="844062" h="211015">
                <a:moveTo>
                  <a:pt x="0" y="0"/>
                </a:moveTo>
                <a:lnTo>
                  <a:pt x="844062" y="0"/>
                </a:lnTo>
                <a:lnTo>
                  <a:pt x="844062" y="211016"/>
                </a:lnTo>
                <a:lnTo>
                  <a:pt x="0" y="211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 rot="-10800000">
            <a:off x="2247900" y="923192"/>
            <a:ext cx="844062" cy="211015"/>
          </a:xfrm>
          <a:custGeom>
            <a:avLst/>
            <a:gdLst/>
            <a:ahLst/>
            <a:cxnLst/>
            <a:rect l="l" t="t" r="r" b="b"/>
            <a:pathLst>
              <a:path w="844062" h="211015">
                <a:moveTo>
                  <a:pt x="0" y="0"/>
                </a:moveTo>
                <a:lnTo>
                  <a:pt x="844062" y="0"/>
                </a:lnTo>
                <a:lnTo>
                  <a:pt x="844062" y="211016"/>
                </a:lnTo>
                <a:lnTo>
                  <a:pt x="0" y="211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028700" y="9296400"/>
            <a:ext cx="5099376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2050">
                <a:solidFill>
                  <a:srgbClr val="D9D9D9"/>
                </a:solidFill>
                <a:latin typeface="Times New Roman" panose="02020603050405020304" charset="0"/>
                <a:cs typeface="Times New Roman" panose="02020603050405020304" charset="0"/>
              </a:rPr>
              <a:t>ĐẠI HỌC QUY NHƠN</a:t>
            </a:r>
          </a:p>
        </p:txBody>
      </p:sp>
      <p:sp>
        <p:nvSpPr>
          <p:cNvPr id="29" name="AutoShape 29"/>
          <p:cNvSpPr/>
          <p:nvPr/>
        </p:nvSpPr>
        <p:spPr>
          <a:xfrm rot="23662">
            <a:off x="11651344" y="1014412"/>
            <a:ext cx="2075766" cy="0"/>
          </a:xfrm>
          <a:prstGeom prst="line">
            <a:avLst/>
          </a:prstGeom>
          <a:ln w="28575" cap="rnd">
            <a:solidFill>
              <a:srgbClr val="FFFFFF">
                <a:alpha val="7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 rot="-10776337">
            <a:off x="3532729" y="1014413"/>
            <a:ext cx="2075766" cy="0"/>
          </a:xfrm>
          <a:prstGeom prst="line">
            <a:avLst/>
          </a:prstGeom>
          <a:ln w="28575" cap="rnd">
            <a:solidFill>
              <a:srgbClr val="FFFFFF">
                <a:alpha val="7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>
            <a:off x="-282420" y="9096375"/>
            <a:ext cx="18852841" cy="0"/>
          </a:xfrm>
          <a:prstGeom prst="line">
            <a:avLst/>
          </a:prstGeom>
          <a:ln w="28575" cap="rnd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13"/>
          <p:cNvSpPr txBox="1"/>
          <p:nvPr/>
        </p:nvSpPr>
        <p:spPr>
          <a:xfrm>
            <a:off x="6421120" y="-439420"/>
            <a:ext cx="4822825" cy="213550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6800"/>
              </a:lnSpc>
            </a:pPr>
            <a:r>
              <a:rPr lang="en-US" sz="6600" b="1" spc="47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KẾT LUẬN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769620" y="2936875"/>
            <a:ext cx="4223385" cy="5819140"/>
            <a:chOff x="1212" y="4625"/>
            <a:chExt cx="6651" cy="9164"/>
          </a:xfrm>
        </p:grpSpPr>
        <p:grpSp>
          <p:nvGrpSpPr>
            <p:cNvPr id="33" name="Group 32"/>
            <p:cNvGrpSpPr/>
            <p:nvPr/>
          </p:nvGrpSpPr>
          <p:grpSpPr>
            <a:xfrm>
              <a:off x="1212" y="4625"/>
              <a:ext cx="6651" cy="9164"/>
              <a:chOff x="1620" y="6337"/>
              <a:chExt cx="5891" cy="6918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1890" y="6592"/>
                <a:ext cx="5621" cy="6663"/>
              </a:xfrm>
              <a:prstGeom prst="rect">
                <a:avLst/>
              </a:prstGeom>
              <a:solidFill>
                <a:srgbClr val="000000">
                  <a:alpha val="33725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1620" y="6337"/>
                <a:ext cx="5621" cy="6646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94" y="6357"/>
                <a:ext cx="4874" cy="96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6300"/>
                  </a:lnSpc>
                </a:pPr>
                <a:r>
                  <a:rPr lang="en-US" sz="4500" b="1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scaled="0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charset="0"/>
                    <a:cs typeface="Times New Roman" panose="02020603050405020304" charset="0"/>
                  </a:rPr>
                  <a:t>01</a:t>
                </a:r>
              </a:p>
            </p:txBody>
          </p:sp>
          <p:sp>
            <p:nvSpPr>
              <p:cNvPr id="21" name="AutoShape 21"/>
              <p:cNvSpPr/>
              <p:nvPr/>
            </p:nvSpPr>
            <p:spPr>
              <a:xfrm>
                <a:off x="1994" y="7358"/>
                <a:ext cx="4874" cy="0"/>
              </a:xfrm>
              <a:prstGeom prst="line">
                <a:avLst/>
              </a:prstGeom>
              <a:ln w="19050" cap="rnd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1430" y="6393"/>
              <a:ext cx="6125" cy="8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endParaRPr lang="en-US" sz="3600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612138" y="3015615"/>
            <a:ext cx="4076700" cy="5789930"/>
            <a:chOff x="10413" y="4749"/>
            <a:chExt cx="6420" cy="9118"/>
          </a:xfrm>
        </p:grpSpPr>
        <p:grpSp>
          <p:nvGrpSpPr>
            <p:cNvPr id="34" name="Group 33"/>
            <p:cNvGrpSpPr/>
            <p:nvPr/>
          </p:nvGrpSpPr>
          <p:grpSpPr>
            <a:xfrm>
              <a:off x="10413" y="4749"/>
              <a:ext cx="6420" cy="9118"/>
              <a:chOff x="10313" y="6337"/>
              <a:chExt cx="5891" cy="6918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10583" y="6592"/>
                <a:ext cx="5621" cy="6663"/>
              </a:xfrm>
              <a:prstGeom prst="rect">
                <a:avLst/>
              </a:prstGeom>
              <a:solidFill>
                <a:srgbClr val="000000">
                  <a:alpha val="33725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10313" y="6337"/>
                <a:ext cx="5621" cy="6646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87" y="6352"/>
                <a:ext cx="4874" cy="96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6300"/>
                  </a:lnSpc>
                </a:pPr>
                <a:r>
                  <a:rPr lang="en-US" sz="4500" b="1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scaled="0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charset="0"/>
                    <a:cs typeface="Times New Roman" panose="02020603050405020304" charset="0"/>
                  </a:rPr>
                  <a:t>02</a:t>
                </a:r>
              </a:p>
            </p:txBody>
          </p:sp>
          <p:sp>
            <p:nvSpPr>
              <p:cNvPr id="22" name="AutoShape 22"/>
              <p:cNvSpPr/>
              <p:nvPr/>
            </p:nvSpPr>
            <p:spPr>
              <a:xfrm>
                <a:off x="10687" y="7353"/>
                <a:ext cx="4874" cy="0"/>
              </a:xfrm>
              <a:prstGeom prst="line">
                <a:avLst/>
              </a:prstGeom>
              <a:ln w="19050" cap="rnd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" name="TextBox 14"/>
            <p:cNvSpPr txBox="1"/>
            <p:nvPr>
              <p:custDataLst>
                <p:tags r:id="rId8"/>
              </p:custDataLst>
            </p:nvPr>
          </p:nvSpPr>
          <p:spPr>
            <a:xfrm>
              <a:off x="10521" y="6959"/>
              <a:ext cx="5842" cy="46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vi-VN" sz="3200" dirty="0">
                  <a:latin typeface="+mj-lt"/>
                </a:rPr>
                <a:t>Tìm hiểu về thực trạng dạy học môn toán lớp 3 theo hướng giáo dục STEM của trường Tiểu học Quang Trung.</a:t>
              </a:r>
              <a:endParaRPr lang="en-US" sz="3200" dirty="0">
                <a:latin typeface="+mj-lt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-18406110" y="855980"/>
            <a:ext cx="16294100" cy="2430780"/>
            <a:chOff x="-3306" y="1348"/>
            <a:chExt cx="25660" cy="3828"/>
          </a:xfrm>
        </p:grpSpPr>
        <p:grpSp>
          <p:nvGrpSpPr>
            <p:cNvPr id="14" name="Group 7"/>
            <p:cNvGrpSpPr/>
            <p:nvPr/>
          </p:nvGrpSpPr>
          <p:grpSpPr>
            <a:xfrm>
              <a:off x="-3306" y="1620"/>
              <a:ext cx="25661" cy="3556"/>
              <a:chOff x="0" y="0"/>
              <a:chExt cx="1579424" cy="218865"/>
            </a:xfrm>
          </p:grpSpPr>
          <p:sp>
            <p:nvSpPr>
              <p:cNvPr id="38" name="Freeform 8"/>
              <p:cNvSpPr/>
              <p:nvPr>
                <p:custDataLst>
                  <p:tags r:id="rId6"/>
                </p:custDataLst>
              </p:nvPr>
            </p:nvSpPr>
            <p:spPr>
              <a:xfrm>
                <a:off x="0" y="0"/>
                <a:ext cx="1579424" cy="218865"/>
              </a:xfrm>
              <a:custGeom>
                <a:avLst/>
                <a:gdLst/>
                <a:ahLst/>
                <a:cxnLst/>
                <a:rect l="l" t="t" r="r" b="b"/>
                <a:pathLst>
                  <a:path w="1579424" h="218865">
                    <a:moveTo>
                      <a:pt x="1376224" y="0"/>
                    </a:moveTo>
                    <a:lnTo>
                      <a:pt x="0" y="0"/>
                    </a:lnTo>
                    <a:lnTo>
                      <a:pt x="203200" y="218865"/>
                    </a:lnTo>
                    <a:lnTo>
                      <a:pt x="1579424" y="218865"/>
                    </a:lnTo>
                    <a:lnTo>
                      <a:pt x="1376224" y="0"/>
                    </a:lnTo>
                    <a:close/>
                  </a:path>
                </a:pathLst>
              </a:custGeom>
              <a:solidFill>
                <a:srgbClr val="002C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01600" y="-19050"/>
                <a:ext cx="1376224" cy="2379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420" y="1348"/>
              <a:ext cx="17189" cy="2790"/>
              <a:chOff x="-1500" y="988"/>
              <a:chExt cx="20221" cy="3363"/>
            </a:xfrm>
          </p:grpSpPr>
          <p:sp>
            <p:nvSpPr>
              <p:cNvPr id="41" name="Freeform 25"/>
              <p:cNvSpPr/>
              <p:nvPr>
                <p:custDataLst>
                  <p:tags r:id="rId1"/>
                </p:custDataLst>
              </p:nvPr>
            </p:nvSpPr>
            <p:spPr>
              <a:xfrm>
                <a:off x="17392" y="3134"/>
                <a:ext cx="1329" cy="332"/>
              </a:xfrm>
              <a:custGeom>
                <a:avLst/>
                <a:gdLst/>
                <a:ahLst/>
                <a:cxnLst/>
                <a:rect l="l" t="t" r="r" b="b"/>
                <a:pathLst>
                  <a:path w="844062" h="211015">
                    <a:moveTo>
                      <a:pt x="0" y="0"/>
                    </a:moveTo>
                    <a:lnTo>
                      <a:pt x="844062" y="0"/>
                    </a:lnTo>
                    <a:lnTo>
                      <a:pt x="844062" y="211016"/>
                    </a:lnTo>
                    <a:lnTo>
                      <a:pt x="0" y="21101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alphaModFix amt="75000"/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>
                <p:custDataLst>
                  <p:tags r:id="rId2"/>
                </p:custDataLst>
              </p:nvPr>
            </p:nvSpPr>
            <p:spPr>
              <a:xfrm rot="-10800000">
                <a:off x="-1500" y="3134"/>
                <a:ext cx="1329" cy="332"/>
              </a:xfrm>
              <a:custGeom>
                <a:avLst/>
                <a:gdLst/>
                <a:ahLst/>
                <a:cxnLst/>
                <a:rect l="l" t="t" r="r" b="b"/>
                <a:pathLst>
                  <a:path w="844062" h="211015">
                    <a:moveTo>
                      <a:pt x="0" y="0"/>
                    </a:moveTo>
                    <a:lnTo>
                      <a:pt x="844062" y="0"/>
                    </a:lnTo>
                    <a:lnTo>
                      <a:pt x="844062" y="211016"/>
                    </a:lnTo>
                    <a:lnTo>
                      <a:pt x="0" y="21101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alphaModFix amt="75000"/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AutoShape 29"/>
              <p:cNvSpPr/>
              <p:nvPr>
                <p:custDataLst>
                  <p:tags r:id="rId3"/>
                </p:custDataLst>
              </p:nvPr>
            </p:nvSpPr>
            <p:spPr>
              <a:xfrm rot="23662">
                <a:off x="13309" y="3277"/>
                <a:ext cx="3269" cy="0"/>
              </a:xfrm>
              <a:prstGeom prst="line">
                <a:avLst/>
              </a:prstGeom>
              <a:ln w="28575" cap="rnd">
                <a:solidFill>
                  <a:srgbClr val="FFFFFF">
                    <a:alpha val="74902"/>
                  </a:srgbClr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AutoShape 30"/>
              <p:cNvSpPr/>
              <p:nvPr>
                <p:custDataLst>
                  <p:tags r:id="rId4"/>
                </p:custDataLst>
              </p:nvPr>
            </p:nvSpPr>
            <p:spPr>
              <a:xfrm rot="-10776337">
                <a:off x="523" y="3278"/>
                <a:ext cx="3269" cy="0"/>
              </a:xfrm>
              <a:prstGeom prst="line">
                <a:avLst/>
              </a:prstGeom>
              <a:ln w="28575" cap="rnd">
                <a:solidFill>
                  <a:srgbClr val="FFFFFF">
                    <a:alpha val="74902"/>
                  </a:srgbClr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1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791" y="988"/>
                <a:ext cx="9156" cy="3363"/>
              </a:xfrm>
              <a:prstGeom prst="rect">
                <a:avLst/>
              </a:prstGeom>
            </p:spPr>
            <p:txBody>
              <a:bodyPr lIns="0" tIns="0" rIns="0" bIns="0" rtlCol="0" anchor="t">
                <a:noAutofit/>
              </a:bodyPr>
              <a:lstStyle/>
              <a:p>
                <a:pPr algn="l">
                  <a:lnSpc>
                    <a:spcPts val="16800"/>
                  </a:lnSpc>
                </a:pPr>
                <a:r>
                  <a:rPr lang="en-US" sz="6600" b="1" spc="47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KIẾN NGHỊ</a:t>
                </a:r>
              </a:p>
            </p:txBody>
          </p:sp>
        </p:grpSp>
      </p:grpSp>
      <p:sp>
        <p:nvSpPr>
          <p:cNvPr id="46" name="TextBox 16"/>
          <p:cNvSpPr txBox="1"/>
          <p:nvPr/>
        </p:nvSpPr>
        <p:spPr>
          <a:xfrm>
            <a:off x="13052555" y="4062268"/>
            <a:ext cx="3387099" cy="4292877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just"/>
            <a:r>
              <a:rPr lang="vi-VN" sz="3200" dirty="0">
                <a:latin typeface="+mj-lt"/>
              </a:rPr>
              <a:t>Thiết kế, thực hành làm sản phẩm STEM:</a:t>
            </a:r>
          </a:p>
          <a:p>
            <a:pPr algn="just"/>
            <a:r>
              <a:rPr lang="vi-VN" sz="3200" dirty="0">
                <a:latin typeface="+mj-lt"/>
              </a:rPr>
              <a:t>+ “</a:t>
            </a:r>
            <a:r>
              <a:rPr lang="vi-VN" sz="3200" b="1" dirty="0">
                <a:latin typeface="+mj-lt"/>
              </a:rPr>
              <a:t>Thiết kế, chế tạo lồng đèn</a:t>
            </a:r>
            <a:r>
              <a:rPr lang="vi-VN" sz="3200" dirty="0">
                <a:latin typeface="+mj-lt"/>
              </a:rPr>
              <a:t>” (Bài 21, tiết 1) </a:t>
            </a:r>
          </a:p>
          <a:p>
            <a:pPr algn="just"/>
            <a:r>
              <a:rPr lang="vi-VN" sz="3200" dirty="0">
                <a:latin typeface="+mj-lt"/>
              </a:rPr>
              <a:t> + “</a:t>
            </a:r>
            <a:r>
              <a:rPr lang="vi-VN" sz="3200" b="1" dirty="0">
                <a:latin typeface="+mj-lt"/>
              </a:rPr>
              <a:t>Thiết kế vườn cây </a:t>
            </a:r>
            <a:r>
              <a:rPr lang="vi-VN" sz="3200" b="1" dirty="0" err="1">
                <a:latin typeface="+mj-lt"/>
              </a:rPr>
              <a:t>mini</a:t>
            </a:r>
            <a:r>
              <a:rPr lang="vi-VN" sz="3200" dirty="0">
                <a:latin typeface="+mj-lt"/>
              </a:rPr>
              <a:t>” (Bài 52, tiết 1).</a:t>
            </a:r>
            <a:endParaRPr lang="en-US" sz="3200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C80582-4A65-2348-EDFE-0E0EC31462EE}"/>
              </a:ext>
            </a:extLst>
          </p:cNvPr>
          <p:cNvSpPr txBox="1"/>
          <p:nvPr/>
        </p:nvSpPr>
        <p:spPr>
          <a:xfrm rot="10800000" flipV="1">
            <a:off x="1117905" y="4069630"/>
            <a:ext cx="3394826" cy="3932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285750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vi-VN" sz="3400" kern="0" dirty="0">
                <a:effectLst/>
                <a:latin typeface="+mj-lt"/>
                <a:ea typeface="Times New Roman" panose="02020603050405020304" pitchFamily="18" charset="0"/>
                <a:cs typeface="DokChampa" panose="020B0604020202020204" pitchFamily="34" charset="-34"/>
              </a:rPr>
              <a:t>Tìm hiểu cơ sở lý luận dạy học hình học lớp 3 theo hướng giáo dục STEM.</a:t>
            </a:r>
            <a:endParaRPr lang="en-US" sz="3400" kern="100" dirty="0">
              <a:effectLst/>
              <a:latin typeface="+mj-lt"/>
              <a:ea typeface="Calibri" panose="020F0502020204030204" pitchFamily="34" charset="0"/>
              <a:cs typeface="DokChampa" panose="020B0604020202020204" pitchFamily="34" charset="-3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6" grpId="1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7"/>
          <p:cNvGrpSpPr/>
          <p:nvPr/>
        </p:nvGrpSpPr>
        <p:grpSpPr>
          <a:xfrm>
            <a:off x="0" y="6173411"/>
            <a:ext cx="10972800" cy="4113589"/>
            <a:chOff x="0" y="0"/>
            <a:chExt cx="5584829" cy="2093694"/>
          </a:xfrm>
          <a:solidFill>
            <a:schemeClr val="accent1">
              <a:lumMod val="75000"/>
            </a:schemeClr>
          </a:solidFill>
        </p:grpSpPr>
        <p:sp>
          <p:nvSpPr>
            <p:cNvPr id="20" name="Freeform 8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5584829" cy="2093694"/>
            </a:xfrm>
            <a:custGeom>
              <a:avLst/>
              <a:gdLst/>
              <a:ahLst/>
              <a:cxnLst/>
              <a:rect l="l" t="t" r="r" b="b"/>
              <a:pathLst>
                <a:path w="5584829" h="2093694">
                  <a:moveTo>
                    <a:pt x="0" y="0"/>
                  </a:moveTo>
                  <a:lnTo>
                    <a:pt x="5584829" y="0"/>
                  </a:lnTo>
                  <a:lnTo>
                    <a:pt x="5584829" y="2093694"/>
                  </a:lnTo>
                  <a:lnTo>
                    <a:pt x="0" y="2093694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0620375" y="1122680"/>
            <a:ext cx="7019290" cy="10556240"/>
            <a:chOff x="16125" y="1768"/>
            <a:chExt cx="11054" cy="16624"/>
          </a:xfrm>
        </p:grpSpPr>
        <p:grpSp>
          <p:nvGrpSpPr>
            <p:cNvPr id="5" name="Group 5"/>
            <p:cNvGrpSpPr/>
            <p:nvPr/>
          </p:nvGrpSpPr>
          <p:grpSpPr>
            <a:xfrm>
              <a:off x="16125" y="1768"/>
              <a:ext cx="11055" cy="16624"/>
              <a:chOff x="0" y="0"/>
              <a:chExt cx="660400" cy="99311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60400" cy="993118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993118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32507"/>
                    </a:cubicBezTo>
                    <a:lnTo>
                      <a:pt x="660400" y="993118"/>
                    </a:lnTo>
                    <a:lnTo>
                      <a:pt x="0" y="993118"/>
                    </a:lnTo>
                    <a:lnTo>
                      <a:pt x="0" y="332998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145DA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88900"/>
                <a:ext cx="660400" cy="9042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16715" y="2299"/>
              <a:ext cx="9874" cy="9874"/>
              <a:chOff x="0" y="0"/>
              <a:chExt cx="8916670" cy="891667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6350" y="6350"/>
                <a:ext cx="8903970" cy="8903970"/>
              </a:xfrm>
              <a:custGeom>
                <a:avLst/>
                <a:gdLst/>
                <a:ahLst/>
                <a:cxnLst/>
                <a:rect l="l" t="t" r="r" b="b"/>
                <a:pathLst>
                  <a:path w="8903970" h="8903970">
                    <a:moveTo>
                      <a:pt x="4451350" y="8903970"/>
                    </a:moveTo>
                    <a:cubicBezTo>
                      <a:pt x="1997710" y="8903970"/>
                      <a:pt x="0" y="6906260"/>
                      <a:pt x="0" y="4451350"/>
                    </a:cubicBezTo>
                    <a:cubicBezTo>
                      <a:pt x="0" y="1996440"/>
                      <a:pt x="1997710" y="0"/>
                      <a:pt x="4451350" y="0"/>
                    </a:cubicBezTo>
                    <a:cubicBezTo>
                      <a:pt x="6904990" y="0"/>
                      <a:pt x="8903970" y="1997710"/>
                      <a:pt x="8903970" y="4451350"/>
                    </a:cubicBezTo>
                    <a:cubicBezTo>
                      <a:pt x="8903970" y="6904990"/>
                      <a:pt x="6906260" y="8903970"/>
                      <a:pt x="4451350" y="8903970"/>
                    </a:cubicBezTo>
                    <a:close/>
                    <a:moveTo>
                      <a:pt x="4451350" y="19050"/>
                    </a:moveTo>
                    <a:cubicBezTo>
                      <a:pt x="2007870" y="19050"/>
                      <a:pt x="19050" y="2007870"/>
                      <a:pt x="19050" y="4451350"/>
                    </a:cubicBezTo>
                    <a:cubicBezTo>
                      <a:pt x="19050" y="6894830"/>
                      <a:pt x="2007870" y="8883650"/>
                      <a:pt x="4451350" y="8883650"/>
                    </a:cubicBezTo>
                    <a:cubicBezTo>
                      <a:pt x="6894830" y="8883650"/>
                      <a:pt x="8883650" y="6894830"/>
                      <a:pt x="8883650" y="4451350"/>
                    </a:cubicBezTo>
                    <a:cubicBezTo>
                      <a:pt x="8883650" y="2007870"/>
                      <a:pt x="6896100" y="19050"/>
                      <a:pt x="4451350" y="1905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54940" y="154940"/>
                <a:ext cx="8605520" cy="8605520"/>
              </a:xfrm>
              <a:custGeom>
                <a:avLst/>
                <a:gdLst/>
                <a:ahLst/>
                <a:cxnLst/>
                <a:rect l="l" t="t" r="r" b="b"/>
                <a:pathLst>
                  <a:path w="8605520" h="8605520">
                    <a:moveTo>
                      <a:pt x="8605520" y="4302760"/>
                    </a:moveTo>
                    <a:cubicBezTo>
                      <a:pt x="8605520" y="6678930"/>
                      <a:pt x="6678930" y="8605520"/>
                      <a:pt x="4302760" y="8605520"/>
                    </a:cubicBezTo>
                    <a:cubicBezTo>
                      <a:pt x="1926590" y="8605520"/>
                      <a:pt x="0" y="6680200"/>
                      <a:pt x="0" y="4302760"/>
                    </a:cubicBezTo>
                    <a:cubicBezTo>
                      <a:pt x="0" y="1925320"/>
                      <a:pt x="1926590" y="0"/>
                      <a:pt x="4302760" y="0"/>
                    </a:cubicBezTo>
                    <a:cubicBezTo>
                      <a:pt x="6678930" y="0"/>
                      <a:pt x="8605520" y="1926590"/>
                      <a:pt x="8605520" y="430276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19897" r="-19897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5" name="TextBox 9"/>
          <p:cNvSpPr txBox="1"/>
          <p:nvPr>
            <p:custDataLst>
              <p:tags r:id="rId1"/>
            </p:custDataLst>
          </p:nvPr>
        </p:nvSpPr>
        <p:spPr>
          <a:xfrm>
            <a:off x="973455" y="2952115"/>
            <a:ext cx="8433435" cy="2482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80"/>
              </a:lnSpc>
            </a:pPr>
            <a:r>
              <a:rPr lang="en-US" sz="8000">
                <a:solidFill>
                  <a:srgbClr val="1E3256"/>
                </a:solidFill>
                <a:latin typeface="Times New Roman" panose="02020603050405020304" charset="0"/>
                <a:cs typeface="Times New Roman" panose="02020603050405020304" charset="0"/>
              </a:rPr>
              <a:t>CẢM ƠN</a:t>
            </a:r>
          </a:p>
          <a:p>
            <a:pPr algn="ctr">
              <a:lnSpc>
                <a:spcPts val="9680"/>
              </a:lnSpc>
            </a:pPr>
            <a:r>
              <a:rPr lang="en-US" sz="4400">
                <a:solidFill>
                  <a:srgbClr val="1E3256"/>
                </a:solidFill>
                <a:latin typeface="Times New Roman" panose="02020603050405020304" charset="0"/>
                <a:cs typeface="Times New Roman" panose="02020603050405020304" charset="0"/>
              </a:rPr>
              <a:t>QUÝ HỘI ĐỒNG ĐÃ THEO DÕI !</a:t>
            </a:r>
          </a:p>
        </p:txBody>
      </p:sp>
      <p:sp>
        <p:nvSpPr>
          <p:cNvPr id="17" name="TextBox 3"/>
          <p:cNvSpPr txBox="1"/>
          <p:nvPr>
            <p:custDataLst>
              <p:tags r:id="rId2"/>
            </p:custDataLst>
          </p:nvPr>
        </p:nvSpPr>
        <p:spPr>
          <a:xfrm>
            <a:off x="4313555" y="545465"/>
            <a:ext cx="3244850" cy="32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E3256"/>
                </a:solidFill>
                <a:latin typeface="Times New Roman" panose="02020603050405020304" charset="0"/>
                <a:cs typeface="Times New Roman" panose="02020603050405020304" charset="0"/>
              </a:rPr>
              <a:t>ĐẠI HỌC QUY NHƠN</a:t>
            </a:r>
          </a:p>
        </p:txBody>
      </p:sp>
      <p:sp>
        <p:nvSpPr>
          <p:cNvPr id="18" name="Freeform 15"/>
          <p:cNvSpPr/>
          <p:nvPr>
            <p:custDataLst>
              <p:tags r:id="rId3"/>
            </p:custDataLst>
          </p:nvPr>
        </p:nvSpPr>
        <p:spPr>
          <a:xfrm>
            <a:off x="3124200" y="190500"/>
            <a:ext cx="1043305" cy="960755"/>
          </a:xfrm>
          <a:custGeom>
            <a:avLst/>
            <a:gdLst/>
            <a:ahLst/>
            <a:cxnLst/>
            <a:rect l="l" t="t" r="r" b="b"/>
            <a:pathLst>
              <a:path w="5039360" h="5039360">
                <a:moveTo>
                  <a:pt x="2519680" y="0"/>
                </a:moveTo>
                <a:cubicBezTo>
                  <a:pt x="1127760" y="0"/>
                  <a:pt x="0" y="1127760"/>
                  <a:pt x="0" y="2519680"/>
                </a:cubicBezTo>
                <a:cubicBezTo>
                  <a:pt x="0" y="3911600"/>
                  <a:pt x="1127760" y="5039360"/>
                  <a:pt x="2519680" y="5039360"/>
                </a:cubicBezTo>
                <a:cubicBezTo>
                  <a:pt x="3911600" y="5039360"/>
                  <a:pt x="5039360" y="3911600"/>
                  <a:pt x="5039360" y="2519680"/>
                </a:cubicBezTo>
                <a:cubicBezTo>
                  <a:pt x="5039360" y="1127760"/>
                  <a:pt x="3911600" y="0"/>
                  <a:pt x="2519680" y="0"/>
                </a:cubicBez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10"/>
          <p:cNvGrpSpPr/>
          <p:nvPr/>
        </p:nvGrpSpPr>
        <p:grpSpPr>
          <a:xfrm>
            <a:off x="982803" y="7274515"/>
            <a:ext cx="4000741" cy="786434"/>
            <a:chOff x="0" y="-28575"/>
            <a:chExt cx="5334321" cy="1048578"/>
          </a:xfrm>
        </p:grpSpPr>
        <p:sp>
          <p:nvSpPr>
            <p:cNvPr id="22" name="TextBox 11"/>
            <p:cNvSpPr txBox="1"/>
            <p:nvPr>
              <p:custDataLst>
                <p:tags r:id="rId5"/>
              </p:custDataLst>
            </p:nvPr>
          </p:nvSpPr>
          <p:spPr>
            <a:xfrm>
              <a:off x="0" y="-28575"/>
              <a:ext cx="5334321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EDECED"/>
                  </a:solidFill>
                  <a:latin typeface="Times New Roman" panose="02020603050405020304" charset="0"/>
                  <a:cs typeface="Times New Roman" panose="02020603050405020304" charset="0"/>
                </a:rPr>
                <a:t>Người thực hiện</a:t>
              </a:r>
            </a:p>
          </p:txBody>
        </p:sp>
        <p:sp>
          <p:nvSpPr>
            <p:cNvPr id="23" name="TextBox 12"/>
            <p:cNvSpPr txBox="1"/>
            <p:nvPr>
              <p:custDataLst>
                <p:tags r:id="rId6"/>
              </p:custDataLst>
            </p:nvPr>
          </p:nvSpPr>
          <p:spPr>
            <a:xfrm>
              <a:off x="0" y="589628"/>
              <a:ext cx="5334321" cy="430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0"/>
                </a:lnSpc>
                <a:spcBef>
                  <a:spcPct val="0"/>
                </a:spcBef>
              </a:pPr>
              <a:r>
                <a:rPr lang="en-US" sz="2100" dirty="0">
                  <a:solidFill>
                    <a:srgbClr val="EDECED"/>
                  </a:solidFill>
                  <a:latin typeface="Times New Roman" panose="02020603050405020304" charset="0"/>
                  <a:cs typeface="Times New Roman" panose="02020603050405020304" charset="0"/>
                </a:rPr>
                <a:t>Nguyễn</a:t>
              </a:r>
              <a:r>
                <a:rPr lang="vi-VN" sz="2100" dirty="0">
                  <a:solidFill>
                    <a:srgbClr val="EDECED"/>
                  </a:solidFill>
                  <a:latin typeface="Times New Roman" panose="02020603050405020304" charset="0"/>
                  <a:cs typeface="Times New Roman" panose="02020603050405020304" charset="0"/>
                </a:rPr>
                <a:t> Thị Hoài Trang</a:t>
              </a:r>
              <a:endParaRPr lang="en-US" sz="2100" dirty="0">
                <a:solidFill>
                  <a:srgbClr val="EDECED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4" name="TextBox 13"/>
          <p:cNvSpPr txBox="1"/>
          <p:nvPr>
            <p:custDataLst>
              <p:tags r:id="rId4"/>
            </p:custDataLst>
          </p:nvPr>
        </p:nvSpPr>
        <p:spPr>
          <a:xfrm>
            <a:off x="3258185" y="9224010"/>
            <a:ext cx="4455795" cy="5022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2730"/>
              </a:lnSpc>
              <a:spcBef>
                <a:spcPct val="0"/>
              </a:spcBef>
            </a:pPr>
            <a:r>
              <a:rPr lang="vi-VN" sz="2100" i="1" dirty="0">
                <a:solidFill>
                  <a:srgbClr val="EDECED"/>
                </a:solidFill>
                <a:latin typeface="Times New Roman" panose="02020603050405020304" charset="0"/>
                <a:cs typeface="Times New Roman" panose="02020603050405020304" charset="0"/>
              </a:rPr>
              <a:t>Gia Lai</a:t>
            </a:r>
            <a:r>
              <a:rPr lang="en-US" sz="2100" i="1" dirty="0">
                <a:solidFill>
                  <a:srgbClr val="EDECED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sz="2100" i="1" dirty="0" err="1">
                <a:solidFill>
                  <a:srgbClr val="EDECED"/>
                </a:solidFill>
                <a:latin typeface="Times New Roman" panose="02020603050405020304" charset="0"/>
                <a:cs typeface="Times New Roman" panose="02020603050405020304" charset="0"/>
              </a:rPr>
              <a:t>ngày</a:t>
            </a:r>
            <a:r>
              <a:rPr lang="en-US" sz="2100" i="1" dirty="0">
                <a:solidFill>
                  <a:srgbClr val="EDECED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sz="2100" i="1" dirty="0">
                <a:solidFill>
                  <a:srgbClr val="EDECED"/>
                </a:solidFill>
                <a:latin typeface="Times New Roman" panose="02020603050405020304" charset="0"/>
                <a:cs typeface="Times New Roman" panose="02020603050405020304" charset="0"/>
              </a:rPr>
              <a:t>08 </a:t>
            </a:r>
            <a:r>
              <a:rPr lang="en-US" sz="2100" i="1" dirty="0" err="1">
                <a:solidFill>
                  <a:srgbClr val="EDECED"/>
                </a:solidFill>
                <a:latin typeface="Times New Roman" panose="02020603050405020304" charset="0"/>
                <a:cs typeface="Times New Roman" panose="02020603050405020304" charset="0"/>
              </a:rPr>
              <a:t>tháng</a:t>
            </a:r>
            <a:r>
              <a:rPr lang="en-US" sz="2100" i="1" dirty="0">
                <a:solidFill>
                  <a:srgbClr val="EDECED"/>
                </a:solidFill>
                <a:latin typeface="Times New Roman" panose="02020603050405020304" charset="0"/>
                <a:cs typeface="Times New Roman" panose="02020603050405020304" charset="0"/>
              </a:rPr>
              <a:t> 06 </a:t>
            </a:r>
            <a:r>
              <a:rPr lang="en-US" sz="2100" i="1" dirty="0" err="1">
                <a:solidFill>
                  <a:srgbClr val="EDECED"/>
                </a:solidFill>
                <a:latin typeface="Times New Roman" panose="02020603050405020304" charset="0"/>
                <a:cs typeface="Times New Roman" panose="02020603050405020304" charset="0"/>
              </a:rPr>
              <a:t>năm</a:t>
            </a:r>
            <a:r>
              <a:rPr lang="en-US" sz="2100" i="1" dirty="0">
                <a:solidFill>
                  <a:srgbClr val="EDECED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sz="2100" i="1" dirty="0">
                <a:solidFill>
                  <a:srgbClr val="EDECED"/>
                </a:solidFill>
                <a:latin typeface="Times New Roman" panose="02020603050405020304" charset="0"/>
                <a:cs typeface="Times New Roman" panose="02020603050405020304" charset="0"/>
              </a:rPr>
              <a:t>2026</a:t>
            </a:r>
            <a:endParaRPr lang="en-US" sz="2100" i="1" dirty="0">
              <a:solidFill>
                <a:srgbClr val="EDECED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1853</Words>
  <Application>Microsoft Office PowerPoint</Application>
  <PresentationFormat>Custom</PresentationFormat>
  <Paragraphs>245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Nirmala UI</vt:lpstr>
      <vt:lpstr>Calibri Light</vt:lpstr>
      <vt:lpstr>Nunito Sans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Dark Professional Geometric Business Project Presentation</dc:title>
  <dc:creator>HP</dc:creator>
  <cp:lastModifiedBy>hoaitrang</cp:lastModifiedBy>
  <cp:revision>121</cp:revision>
  <dcterms:created xsi:type="dcterms:W3CDTF">2006-08-16T00:00:00Z</dcterms:created>
  <dcterms:modified xsi:type="dcterms:W3CDTF">2026-06-06T08:37:50Z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22D8F63684E1479980EF9CDABC158BD2_13</vt:lpwstr>
  </property>
  <property fmtid="{D5CDD505-2E9C-101B-9397-08002B2CF9AE}" pid="3" name="KSOProductBuildVer">
    <vt:lpwstr>1033-12.2.0.21179</vt:lpwstr>
  </property>
</Properties>
</file>